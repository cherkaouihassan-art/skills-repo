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3269.0</c:v>
                </c:pt>
                <c:pt idx="1">
                  <c:v>1513.0</c:v>
                </c:pt>
                <c:pt idx="2">
                  <c:v>1384.0</c:v>
                </c:pt>
                <c:pt idx="3">
                  <c:v>362.0</c:v>
                </c:pt>
                <c:pt idx="4">
                  <c:v>252.0</c:v>
                </c:pt>
                <c:pt idx="5">
                  <c:v>203.0</c:v>
                </c:pt>
                <c:pt idx="6">
                  <c:v>127.0</c:v>
                </c:pt>
                <c:pt idx="7">
                  <c:v>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260.0</c:v>
                </c:pt>
                <c:pt idx="1">
                  <c:v>24.0</c:v>
                </c:pt>
                <c:pt idx="2">
                  <c:v>1524.0</c:v>
                </c:pt>
                <c:pt idx="3">
                  <c:v>498.0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961.0</c:v>
                </c:pt>
                <c:pt idx="1">
                  <c:v>338.0</c:v>
                </c:pt>
                <c:pt idx="2">
                  <c:v>2237.0</c:v>
                </c:pt>
                <c:pt idx="3">
                  <c:v>1254.0</c:v>
                </c:pt>
                <c:pt idx="4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Relationship Id="rId4" Type="http://schemas.openxmlformats.org/officeDocument/2006/relationships/chart" Target="../charts/chart20.xml"/><Relationship Id="rId5" Type="http://schemas.openxmlformats.org/officeDocument/2006/relationships/chart" Target="../charts/char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Relationship Id="rId3" Type="http://schemas.openxmlformats.org/officeDocument/2006/relationships/chart" Target="../charts/chart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Relationship Id="rId5" Type="http://schemas.openxmlformats.org/officeDocument/2006/relationships/chart" Target="../charts/char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Relationship Id="rId3" Type="http://schemas.openxmlformats.org/officeDocument/2006/relationships/chart" Target="../charts/chart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Relationship Id="rId3" Type="http://schemas.openxmlformats.org/officeDocument/2006/relationships/chart" Target="../charts/chart37.xml"/><Relationship Id="rId4" Type="http://schemas.openxmlformats.org/officeDocument/2006/relationships/chart" Target="../charts/chart38.xml"/><Relationship Id="rId5" Type="http://schemas.openxmlformats.org/officeDocument/2006/relationships/chart" Target="../charts/chart3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Relationship Id="rId3" Type="http://schemas.openxmlformats.org/officeDocument/2006/relationships/chart" Target="../charts/chart4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2.xml"/><Relationship Id="rId3" Type="http://schemas.openxmlformats.org/officeDocument/2006/relationships/chart" Target="../charts/chart43.xml"/><Relationship Id="rId4" Type="http://schemas.openxmlformats.org/officeDocument/2006/relationships/chart" Target="../charts/chart44.xml"/><Relationship Id="rId5" Type="http://schemas.openxmlformats.org/officeDocument/2006/relationships/chart" Target="../charts/chart4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6.xml"/><Relationship Id="rId3" Type="http://schemas.openxmlformats.org/officeDocument/2006/relationships/chart" Target="../charts/chart4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8.xml"/><Relationship Id="rId3" Type="http://schemas.openxmlformats.org/officeDocument/2006/relationships/chart" Target="../charts/chart49.xml"/><Relationship Id="rId4" Type="http://schemas.openxmlformats.org/officeDocument/2006/relationships/chart" Target="../charts/chart50.xml"/><Relationship Id="rId5" Type="http://schemas.openxmlformats.org/officeDocument/2006/relationships/chart" Target="../charts/chart5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2.xml"/><Relationship Id="rId3" Type="http://schemas.openxmlformats.org/officeDocument/2006/relationships/chart" Target="../charts/chart5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4.xml"/><Relationship Id="rId3" Type="http://schemas.openxmlformats.org/officeDocument/2006/relationships/chart" Target="../charts/chart55.xml"/><Relationship Id="rId4" Type="http://schemas.openxmlformats.org/officeDocument/2006/relationships/chart" Target="../charts/chart56.xml"/><Relationship Id="rId5" Type="http://schemas.openxmlformats.org/officeDocument/2006/relationships/chart" Target="../charts/chart5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8.xml"/><Relationship Id="rId3" Type="http://schemas.openxmlformats.org/officeDocument/2006/relationships/chart" Target="../charts/chart5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0.xml"/><Relationship Id="rId3" Type="http://schemas.openxmlformats.org/officeDocument/2006/relationships/chart" Target="../charts/chart61.xml"/><Relationship Id="rId4" Type="http://schemas.openxmlformats.org/officeDocument/2006/relationships/chart" Target="../charts/chart62.xml"/><Relationship Id="rId5" Type="http://schemas.openxmlformats.org/officeDocument/2006/relationships/chart" Target="../charts/chart6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4.xml"/><Relationship Id="rId3" Type="http://schemas.openxmlformats.org/officeDocument/2006/relationships/chart" Target="../charts/chart6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6.xml"/><Relationship Id="rId3" Type="http://schemas.openxmlformats.org/officeDocument/2006/relationships/chart" Target="../charts/chart67.xml"/><Relationship Id="rId4" Type="http://schemas.openxmlformats.org/officeDocument/2006/relationships/chart" Target="../charts/chart68.xml"/><Relationship Id="rId5" Type="http://schemas.openxmlformats.org/officeDocument/2006/relationships/chart" Target="../charts/chart6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−332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−292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−257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Weekly review –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704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070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Headline position: AR, unrecognized revenue, collections, cash, payables and letters of credit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7373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874519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105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Accounts receivable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8470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Executive summary, movement vs last week and vs month start, position by business unit, unbilled and unpaid status, non-OCP clients, unbilled under JESA responsibility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774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4505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4871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Executed scope not yet booked as AR, by business unit and status; supplier PO book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01752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09067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Payments received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12724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Invoices paid in the month and year to date, by business unit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365760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73075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Cash position – 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76732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Cash in versus cash out by month and by business unit; paid, approved and pending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29768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708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4074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Supplier payables by business unit and due date; LC commitments and maturity schedule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9377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0109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Zoom by business unit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0474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Position, movement, projects and unrecognized revenue for each business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55778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6509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Backups &amp;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6875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LC and payables detail; sources and definitions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Total AR 12,397 MMAD: −292 vs 14 Oct, −456 vs 07 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5636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Unbilled 9,479 (−35 WoW), unpaid 2,370 (−257 WoW), advance 548 (0 WoW). Unbilled under JESA responsibility 720 MMAD (PSR 228 / Procurement 492); non-OCP receivables 252 MMAD.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00710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15341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08026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7,128 MMAD (−40 WoW, −424 vs 07 Oct); gross exposure 19,525 MMAD (−332 WoW)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0944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Executed supplier and equipment scope not yet booked as AR, including the 6% JESA cost + fee.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85292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99923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260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Invoices paid in October to 20 Oct: 241 MMAD (+24 vs 14 Oct); 8,082 MMAD year to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5526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Invoices deposited in October: 144 MMAD.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69874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84505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190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Procurement cash Jul–Oct: +150 MMAD on actuals, −107 after approved payments, −171 after pending payments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0108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Cash IN 2,104 MMAD vs cash OUT 1,954 MMAD paid to 15/10 gives +150 MMAD. Approved payments of 258 MMAD (incl. 156 of October LC maturities) bring the position to −107 MMAD; pending payments of 64 MMAD bring it to −171 MMAD.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54456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469087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6177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Supplier payables 2,144 MMAD, of which 1,415 MMAD past due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94690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Parked invoices 1,036, 4411 open items 810, downpayments 297 MMAD (2,803 open lines).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539038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5366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4635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Letters of credit 1,583 MMAD: 912 on opened LCs, 671 still to be opened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7927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156 MMAD matures in October; 630 MMAD in 2026 and 953 MMAD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DSO excl. advances, JESA Group: 285 days  ·  Receivables remain almost entirely concentrated with OCP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−35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−20, Fert. &amp; Chem. −14, Energy Ops −1, JESA Tech −1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+3, Energy Ops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+2, Advisory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−206,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2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0268"/>
                <a:gridCol w="855159"/>
                <a:gridCol w="855159"/>
                <a:gridCol w="855159"/>
                <a:gridCol w="720134"/>
                <a:gridCol w="810151"/>
                <a:gridCol w="810151"/>
                <a:gridCol w="720134"/>
                <a:gridCol w="765142"/>
                <a:gridCol w="720134"/>
                <a:gridCol w="720134"/>
                <a:gridCol w="810151"/>
                <a:gridCol w="855159"/>
                <a:gridCol w="630117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2515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12515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0711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0711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8907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8907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65760" y="2514600"/>
          <a:ext cx="5120638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82743"/>
                <a:gridCol w="744820"/>
                <a:gridCol w="744820"/>
                <a:gridCol w="744820"/>
                <a:gridCol w="558615"/>
                <a:gridCol w="7448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F2A37"/>
                </a:solidFill>
                <a:latin typeface="Arial"/>
              </a:rPr>
              <a:t>Non-OCP clients carry 252 MMAD, of which Global Mining (Ma'aden) accounts for 201 MMAD. Statuses: C-* pending with the client, J-* pending with JESA.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scope; Procurement = non-labor scope.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under JESA control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incl. markup (−40 vs last week): executed scope not yet booked as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 (INCL. JESA COST + FEE)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035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Supplier scope 7,100 + lines to be adjusted 28  ·  last week 7,168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88720"/>
            <a:ext cx="5715000" cy="105156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52728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SUPPLIER PO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5532120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21,831 MMAD contract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(SAP GR) 10,694  ·  unrecognized 4,485  ·  remaining to execute 6,653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By business unit – last week vs this week (MMAD)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274320" y="2606040"/>
          <a:ext cx="566928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17220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Unrecognized suppliers by status (MMAD)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80760" y="2606040"/>
          <a:ext cx="585216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72200" y="48006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Supplier PO book by business unit (MMAD)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2200" y="4983480"/>
          <a:ext cx="5715000" cy="1536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1097280"/>
                <a:gridCol w="1005840"/>
                <a:gridCol w="1005840"/>
                <a:gridCol w="960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Contract value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Remaining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10,177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3,739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2,036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4,401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5,717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4,266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3,056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1,443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1,173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Other BUs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Total (all BUs)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21,831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10,694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4,485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6,653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approved supplier lines by payment status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LCs; parked = invoices parked in SAP pending validation; 4411 = posted supplier open items; downpayments = advance invoices due to suppliers.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Due-date buckets follow the invoice due date; lines without a due date are not bucketed.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 / unpaid 70% / advance 0% · DSO 462 days (prior 415)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95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Sources &amp;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each figure comes from and how it is defined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2596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20640"/>
                <a:gridCol w="3291840"/>
                <a:gridCol w="30175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Figures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As 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Accounts receivable (advance, unbilled, unpaid), statuses, aging, non-OCP, JESA responsibility,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extract of the week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 Oct 2026; previous week 14 Oct 2026; month start 07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business unit and status, supplier PO book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 Oct 2026; previous week and month start from the earlier reviews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DSO excluding advances, group and by business unit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BU meeting report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 month: September)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position, October paid / approved / pending payments, priority list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flow analysis by business unit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 Oct 2026; collections to 19/10, payments to 15/10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payables by business unit, due date, tier and 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(4411, parked, downpayments)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 extract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Letters of credit: outstanding,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Bank LC situation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Total AR: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advance payments + unbilled + unpaid, amounts HT in MMAD.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Unbilled: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delivered scope not yet invoiced, excluding unearned amounts on lump-sum contracts; split by ownership of the next action (client / OCP, JESA, service sheets postponed, at risk).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Unpaid: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invoiced, not yet collected; split current / past due / rejected and by OCP processing phase.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Unrecognized revenue: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supplier and equipment scope executed but not yet booked as AR, including the 6% JESA cost + fee.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Gross exposure: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total AR + unrecognized revenue.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Week on week / vs month start: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position at 20-Oct compared with 14-Oct and with the first AR position of the month (07-Oct).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Payments received: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invoices paid by payment date, on the amount-invoiced basis used in the BU meeting report.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Cash position: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procurement (non-labor) cash in and out for the JESA Group including AM; PSR (labor) collections shown net of the AM ring-fence and the Water &amp; Environment reserve.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DSO: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days sales outstanding excluding advances, as reported in the BU meeting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