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5" r:id="rId16"/>
    <p:sldId id="264" r:id="rId15"/>
    <p:sldId id="266" r:id="rId17"/>
    <p:sldId id="267" r:id="rId18"/>
    <p:sldId id="268" r:id="rId19"/>
    <p:sldId id="269" r:id="rId2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60" r:id="rId11"/>
    <p:sldId id="261" r:id="rId12"/>
    <p:sldId id="262" r:id="rId13"/>
    <p:sldId id="263" r:id="rId14"/>
    <p:sldId id="270" r:id="rId21"/>
    <p:sldId id="271" r:id="rId22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_rels/chart7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1.xlsx"/></Relationships>
</file>

<file path=ppt/charts/_rels/chart7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2.xlsx"/></Relationships>
</file>

<file path=ppt/charts/_rels/chart7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last week (14-Oct)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last week (14-Oct)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7A8794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month start (07-Oct)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month start (07-Oct)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B5473A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Water &amp; Env.</c:v>
                </c:pt>
              </c:strCache>
            </c:strRef>
          </c:tx>
          <c:spPr>
            <a:ln w="25400">
              <a:solidFill>
                <a:srgbClr val="0F3B63"/>
              </a:solidFill>
            </a:ln>
          </c:spPr>
          <c:marker>
            <c:symbol val="circle"/>
            <c:size val="5"/>
            <c:spPr>
              <a:solidFill>
                <a:srgbClr val="0F3B63"/>
              </a:solidFill>
              <a:ln>
                <a:solidFill>
                  <a:srgbClr val="0F3B63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F3B63"/>
                        </a:solidFill>
                      </a:rPr>
                      <a:t>331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134.0</c:v>
                </c:pt>
                <c:pt idx="1">
                  <c:v>189.0</c:v>
                </c:pt>
                <c:pt idx="2">
                  <c:v>144.0</c:v>
                </c:pt>
                <c:pt idx="3">
                  <c:v>173.0</c:v>
                </c:pt>
                <c:pt idx="4">
                  <c:v>213.0</c:v>
                </c:pt>
                <c:pt idx="5">
                  <c:v>262.0</c:v>
                </c:pt>
                <c:pt idx="6">
                  <c:v>260.0</c:v>
                </c:pt>
                <c:pt idx="7">
                  <c:v>291.0</c:v>
                </c:pt>
                <c:pt idx="8">
                  <c:v>286.0</c:v>
                </c:pt>
                <c:pt idx="9">
                  <c:v>279.0</c:v>
                </c:pt>
                <c:pt idx="10">
                  <c:v>318.0</c:v>
                </c:pt>
                <c:pt idx="11">
                  <c:v>331.0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SP2M</c:v>
                </c:pt>
              </c:strCache>
            </c:strRef>
          </c:tx>
          <c:spPr>
            <a:ln w="25400">
              <a:solidFill>
                <a:srgbClr val="C8972B"/>
              </a:solidFill>
            </a:ln>
          </c:spPr>
          <c:marker>
            <c:symbol val="circle"/>
            <c:size val="5"/>
            <c:spPr>
              <a:solidFill>
                <a:srgbClr val="C8972B"/>
              </a:solidFill>
              <a:ln>
                <a:solidFill>
                  <a:srgbClr val="C897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C8972B"/>
                        </a:solidFill>
                      </a:rPr>
                      <a:t>294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138.0</c:v>
                </c:pt>
                <c:pt idx="1">
                  <c:v>139.0</c:v>
                </c:pt>
                <c:pt idx="2">
                  <c:v>134.0</c:v>
                </c:pt>
                <c:pt idx="3">
                  <c:v>134.0</c:v>
                </c:pt>
                <c:pt idx="4">
                  <c:v>156.0</c:v>
                </c:pt>
                <c:pt idx="5">
                  <c:v>224.0</c:v>
                </c:pt>
                <c:pt idx="6">
                  <c:v>221.0</c:v>
                </c:pt>
                <c:pt idx="7">
                  <c:v>240.0</c:v>
                </c:pt>
                <c:pt idx="8">
                  <c:v>259.0</c:v>
                </c:pt>
                <c:pt idx="9">
                  <c:v>272.0</c:v>
                </c:pt>
                <c:pt idx="10">
                  <c:v>266.0</c:v>
                </c:pt>
                <c:pt idx="11">
                  <c:v>294.0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Fert. &amp; Chem.</c:v>
                </c:pt>
              </c:strCache>
            </c:strRef>
          </c:tx>
          <c:spPr>
            <a:ln w="25400">
              <a:solidFill>
                <a:srgbClr val="3A9C8C"/>
              </a:solidFill>
            </a:ln>
          </c:spPr>
          <c:marker>
            <c:symbol val="circle"/>
            <c:size val="5"/>
            <c:spPr>
              <a:solidFill>
                <a:srgbClr val="3A9C8C"/>
              </a:solidFill>
              <a:ln>
                <a:solidFill>
                  <a:srgbClr val="3A9C8C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3A9C8C"/>
                        </a:solidFill>
                      </a:rPr>
                      <a:t>376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196.0</c:v>
                </c:pt>
                <c:pt idx="1">
                  <c:v>192.0</c:v>
                </c:pt>
                <c:pt idx="2">
                  <c:v>254.0</c:v>
                </c:pt>
                <c:pt idx="3">
                  <c:v>251.0</c:v>
                </c:pt>
                <c:pt idx="4">
                  <c:v>252.0</c:v>
                </c:pt>
                <c:pt idx="5">
                  <c:v>295.0</c:v>
                </c:pt>
                <c:pt idx="6">
                  <c:v>284.0</c:v>
                </c:pt>
                <c:pt idx="7">
                  <c:v>310.0</c:v>
                </c:pt>
                <c:pt idx="8">
                  <c:v>326.0</c:v>
                </c:pt>
                <c:pt idx="9">
                  <c:v>321.0</c:v>
                </c:pt>
                <c:pt idx="10">
                  <c:v>336.0</c:v>
                </c:pt>
                <c:pt idx="11">
                  <c:v>376.0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</c:v>
                </c:pt>
              </c:strCache>
            </c:strRef>
          </c:tx>
          <c:spPr>
            <a:ln w="25400">
              <a:solidFill>
                <a:srgbClr val="E08A2E"/>
              </a:solidFill>
            </a:ln>
          </c:spPr>
          <c:marker>
            <c:symbol val="circle"/>
            <c:size val="5"/>
            <c:spPr>
              <a:solidFill>
                <a:srgbClr val="E08A2E"/>
              </a:solidFill>
              <a:ln>
                <a:solidFill>
                  <a:srgbClr val="E08A2E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E08A2E"/>
                        </a:solidFill>
                      </a:rPr>
                      <a:t>134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95.0</c:v>
                </c:pt>
                <c:pt idx="1">
                  <c:v>101.0</c:v>
                </c:pt>
                <c:pt idx="2">
                  <c:v>98.0</c:v>
                </c:pt>
                <c:pt idx="3">
                  <c:v>97.0</c:v>
                </c:pt>
                <c:pt idx="4">
                  <c:v>120.0</c:v>
                </c:pt>
                <c:pt idx="5">
                  <c:v>144.0</c:v>
                </c:pt>
                <c:pt idx="6">
                  <c:v>121.0</c:v>
                </c:pt>
                <c:pt idx="7">
                  <c:v>125.0</c:v>
                </c:pt>
                <c:pt idx="8">
                  <c:v>123.0</c:v>
                </c:pt>
                <c:pt idx="9">
                  <c:v>132.0</c:v>
                </c:pt>
                <c:pt idx="10">
                  <c:v>135.0</c:v>
                </c:pt>
                <c:pt idx="11">
                  <c:v>134.0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Global Mining</c:v>
                </c:pt>
              </c:strCache>
            </c:strRef>
          </c:tx>
          <c:spPr>
            <a:ln w="25400">
              <a:solidFill>
                <a:srgbClr val="7A8794"/>
              </a:solidFill>
            </a:ln>
          </c:spPr>
          <c:marker>
            <c:symbol val="circle"/>
            <c:size val="5"/>
            <c:spPr>
              <a:solidFill>
                <a:srgbClr val="7A8794"/>
              </a:solidFill>
              <a:ln>
                <a:solidFill>
                  <a:srgbClr val="7A8794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7A8794"/>
                        </a:solidFill>
                      </a:rPr>
                      <a:t>252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188.0</c:v>
                </c:pt>
                <c:pt idx="1">
                  <c:v>189.0</c:v>
                </c:pt>
                <c:pt idx="2">
                  <c:v>185.0</c:v>
                </c:pt>
                <c:pt idx="3">
                  <c:v>156.0</c:v>
                </c:pt>
                <c:pt idx="4">
                  <c:v>127.0</c:v>
                </c:pt>
                <c:pt idx="5">
                  <c:v>170.0</c:v>
                </c:pt>
                <c:pt idx="6">
                  <c:v>170.0</c:v>
                </c:pt>
                <c:pt idx="7">
                  <c:v>185.0</c:v>
                </c:pt>
                <c:pt idx="8">
                  <c:v>197.0</c:v>
                </c:pt>
                <c:pt idx="9">
                  <c:v>213.0</c:v>
                </c:pt>
                <c:pt idx="10">
                  <c:v>218.0</c:v>
                </c:pt>
                <c:pt idx="11">
                  <c:v>252.0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Energy Ops</c:v>
                </c:pt>
              </c:strCache>
            </c:strRef>
          </c:tx>
          <c:spPr>
            <a:ln w="25400">
              <a:solidFill>
                <a:srgbClr val="2E7D4F"/>
              </a:solidFill>
            </a:ln>
          </c:spPr>
          <c:marker>
            <c:symbol val="circle"/>
            <c:size val="5"/>
            <c:spPr>
              <a:solidFill>
                <a:srgbClr val="2E7D4F"/>
              </a:solidFill>
              <a:ln>
                <a:solidFill>
                  <a:srgbClr val="2E7D4F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2E7D4F"/>
                        </a:solidFill>
                      </a:rPr>
                      <a:t>190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80.0</c:v>
                </c:pt>
                <c:pt idx="1">
                  <c:v>91.0</c:v>
                </c:pt>
                <c:pt idx="2">
                  <c:v>95.0</c:v>
                </c:pt>
                <c:pt idx="3">
                  <c:v>70.0</c:v>
                </c:pt>
                <c:pt idx="4">
                  <c:v>109.0</c:v>
                </c:pt>
                <c:pt idx="5">
                  <c:v>159.0</c:v>
                </c:pt>
                <c:pt idx="6">
                  <c:v>159.0</c:v>
                </c:pt>
                <c:pt idx="7">
                  <c:v>173.0</c:v>
                </c:pt>
                <c:pt idx="8">
                  <c:v>182.0</c:v>
                </c:pt>
                <c:pt idx="9">
                  <c:v>187.0</c:v>
                </c:pt>
                <c:pt idx="10">
                  <c:v>174.0</c:v>
                </c:pt>
                <c:pt idx="11">
                  <c:v>190.0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B&amp;I</c:v>
                </c:pt>
              </c:strCache>
            </c:strRef>
          </c:tx>
          <c:spPr>
            <a:ln w="25400">
              <a:solidFill>
                <a:srgbClr val="B5473A"/>
              </a:solidFill>
            </a:ln>
          </c:spPr>
          <c:marker>
            <c:symbol val="circle"/>
            <c:size val="5"/>
            <c:spPr>
              <a:solidFill>
                <a:srgbClr val="B5473A"/>
              </a:solidFill>
              <a:ln>
                <a:solidFill>
                  <a:srgbClr val="B5473A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B5473A"/>
                        </a:solidFill>
                      </a:rPr>
                      <a:t>462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Nov-25</c:v>
                </c:pt>
                <c:pt idx="1">
                  <c:v>Dec-25</c:v>
                </c:pt>
                <c:pt idx="2">
                  <c:v>Jan-26</c:v>
                </c:pt>
                <c:pt idx="3">
                  <c:v>Feb-26</c:v>
                </c:pt>
                <c:pt idx="4">
                  <c:v>Mar-26</c:v>
                </c:pt>
                <c:pt idx="5">
                  <c:v>Apr-26</c:v>
                </c:pt>
                <c:pt idx="6">
                  <c:v>May-26</c:v>
                </c:pt>
                <c:pt idx="7">
                  <c:v>Jun-26</c:v>
                </c:pt>
                <c:pt idx="8">
                  <c:v>Jul-26</c:v>
                </c:pt>
                <c:pt idx="9">
                  <c:v>Aug-26</c:v>
                </c:pt>
                <c:pt idx="10">
                  <c:v>Sep-26</c:v>
                </c:pt>
                <c:pt idx="11">
                  <c:v>Oct-26 (20-Oct)</c:v>
                </c:pt>
              </c:strCache>
            </c: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112.0</c:v>
                </c:pt>
                <c:pt idx="1">
                  <c:v>232.0</c:v>
                </c:pt>
                <c:pt idx="2">
                  <c:v>246.0</c:v>
                </c:pt>
                <c:pt idx="3">
                  <c:v>268.0</c:v>
                </c:pt>
                <c:pt idx="4">
                  <c:v>250.0</c:v>
                </c:pt>
                <c:pt idx="5">
                  <c:v>293.0</c:v>
                </c:pt>
                <c:pt idx="6">
                  <c:v>295.0</c:v>
                </c:pt>
                <c:pt idx="7">
                  <c:v>322.0</c:v>
                </c:pt>
                <c:pt idx="8">
                  <c:v>348.0</c:v>
                </c:pt>
                <c:pt idx="9">
                  <c:v>385.0</c:v>
                </c:pt>
                <c:pt idx="10">
                  <c:v>418.0</c:v>
                </c:pt>
                <c:pt idx="11">
                  <c:v>462.0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 revenue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0F3B63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dPt>
            <c:idx val="4"/>
            <c:spPr>
              <a:solidFill>
                <a:srgbClr val="2E6DA4"/>
              </a:solidFill>
              <a:ln>
                <a:noFill/>
              </a:ln>
            </c:spPr>
          </c:dPt>
          <c:dPt>
            <c:idx val="5"/>
            <c:spPr>
              <a:solidFill>
                <a:srgbClr val="7A8794"/>
              </a:solidFill>
              <a:ln>
                <a:noFill/>
              </a:ln>
            </c:spPr>
          </c:dPt>
          <c:dPt>
            <c:idx val="6"/>
            <c:spPr>
              <a:solidFill>
                <a:srgbClr val="1B2F4B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SP2M  (+2)</c:v>
                </c:pt>
                <c:pt idx="1">
                  <c:v>Water &amp; Env.  (−2)</c:v>
                </c:pt>
                <c:pt idx="2">
                  <c:v>Fert. &amp; Chem.  (−2)</c:v>
                </c:pt>
                <c:pt idx="3">
                  <c:v>Energy Ops  (0)</c:v>
                </c:pt>
                <c:pt idx="4">
                  <c:v>JESA Tech  (0)</c:v>
                </c:pt>
                <c:pt idx="5">
                  <c:v>Global Mining  (−43)</c:v>
                </c:pt>
                <c:pt idx="6">
                  <c:v>AM  (+5)</c:v>
                </c:pt>
                <c:pt idx="7">
                  <c:v>B&amp;I  (0)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1438.0</c:v>
                </c:pt>
                <c:pt idx="1">
                  <c:v>267.0</c:v>
                </c:pt>
                <c:pt idx="2">
                  <c:v>470.0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Subcontractors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2110.0</c:v>
                </c:pt>
                <c:pt idx="1">
                  <c:v>1226.0</c:v>
                </c:pt>
                <c:pt idx="2">
                  <c:v>1183.0</c:v>
                </c:pt>
                <c:pt idx="3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3A9C8C"/>
              </a:solidFill>
              <a:ln>
                <a:noFill/>
              </a:ln>
            </c:spPr>
          </c:dPt>
          <c:dPt>
            <c:idx val="4"/>
            <c:spPr>
              <a:solidFill>
                <a:srgbClr val="3A9C8C"/>
              </a:solidFill>
              <a:ln>
                <a:noFill/>
              </a:ln>
            </c:spPr>
          </c:dPt>
          <c:dPt>
            <c:idx val="5"/>
            <c:spPr>
              <a:solidFill>
                <a:srgbClr val="3A9C8C"/>
              </a:solidFill>
              <a:ln>
                <a:noFill/>
              </a:ln>
            </c:spPr>
          </c:dPt>
          <c:dPt>
            <c:idx val="6"/>
            <c:spPr>
              <a:solidFill>
                <a:srgbClr val="3A9C8C"/>
              </a:solidFill>
              <a:ln>
                <a:noFill/>
              </a:ln>
            </c:spPr>
          </c:dPt>
          <c:dPt>
            <c:idx val="7"/>
            <c:spPr>
              <a:solidFill>
                <a:srgbClr val="3A9C8C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AM</c:v>
                </c:pt>
                <c:pt idx="1">
                  <c:v>Water &amp; Env.</c:v>
                </c:pt>
                <c:pt idx="2">
                  <c:v>Advisory</c:v>
                </c:pt>
                <c:pt idx="3">
                  <c:v>Fert. &amp; Chem.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SP2M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199.0</c:v>
                </c:pt>
                <c:pt idx="1">
                  <c:v>102.0</c:v>
                </c:pt>
                <c:pt idx="2">
                  <c:v>25.0</c:v>
                </c:pt>
                <c:pt idx="3">
                  <c:v>18.0</c:v>
                </c:pt>
                <c:pt idx="4">
                  <c:v>10.0</c:v>
                </c:pt>
                <c:pt idx="5">
                  <c:v>9.0</c:v>
                </c:pt>
                <c:pt idx="6">
                  <c:v>5.0</c:v>
                </c:pt>
                <c:pt idx="7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Relationship Id="rId3" Type="http://schemas.openxmlformats.org/officeDocument/2006/relationships/chart" Target="../charts/chart6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Relationship Id="rId4" Type="http://schemas.openxmlformats.org/officeDocument/2006/relationships/chart" Target="../charts/chart65.xml"/><Relationship Id="rId5" Type="http://schemas.openxmlformats.org/officeDocument/2006/relationships/chart" Target="../charts/chart6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Relationship Id="rId3" Type="http://schemas.openxmlformats.org/officeDocument/2006/relationships/chart" Target="../charts/chart6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9.xml"/><Relationship Id="rId3" Type="http://schemas.openxmlformats.org/officeDocument/2006/relationships/chart" Target="../charts/chart70.xml"/><Relationship Id="rId4" Type="http://schemas.openxmlformats.org/officeDocument/2006/relationships/chart" Target="../charts/chart71.xml"/><Relationship Id="rId5" Type="http://schemas.openxmlformats.org/officeDocument/2006/relationships/chart" Target="../charts/chart7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−332 MDH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4557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24557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−40 MDH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354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354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−292 MDH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2151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2151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−35 MDH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00948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0948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−257 MDH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59746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9746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7A8794"/>
                </a:solidFill>
                <a:latin typeface="Arial"/>
              </a:rPr>
              <a:t>0 MDH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 with week-on-week and month-start comparatives, unbilled under JESA responsibility, non-OCP clients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unit, before and after October commitments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Business unit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Two pages per business unit: position and movement; projects and unrecognized revenue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AR movement and position by business unit, DSO trend, unbilled &amp; unpaid status view, PSR collections, October payments, LC and AP detail,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19,525 MMAD (−332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64008" cy="9601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83480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OCP SHARE OF 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29856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29856" y="2514600"/>
            <a:ext cx="64008" cy="960120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67016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DSO JESA GROUP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67016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285 days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7016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excl. advances, BU meeting report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13392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613392" y="2514600"/>
            <a:ext cx="64008" cy="960120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50552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PAID IN OCT TO 20-OCT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50552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A9C8C"/>
                </a:solidFill>
                <a:latin typeface="Arial"/>
              </a:rPr>
              <a:t>241 MDH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0552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deposited in Oct 144  ·  YTD paid 8,082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4612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What moved by business unit (MMAD) – green = AR down, red = AR up, darker = larger move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20440"/>
          <a:ext cx="6949435" cy="2514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4393"/>
                <a:gridCol w="851866"/>
                <a:gridCol w="762196"/>
                <a:gridCol w="762196"/>
                <a:gridCol w="762196"/>
                <a:gridCol w="762196"/>
                <a:gridCol w="762196"/>
                <a:gridCol w="76219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9784080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98079" y="6263640"/>
            <a:ext cx="4480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0" i="1">
                <a:solidFill>
                  <a:srgbClr val="6B7B8C"/>
                </a:solidFill>
                <a:latin typeface="Arial"/>
              </a:rPr>
              <a:t>Movement by component (MMAD): green = AR decreased, red = AR increased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4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95260"/>
                <a:gridCol w="810151"/>
                <a:gridCol w="810151"/>
                <a:gridCol w="810151"/>
                <a:gridCol w="675126"/>
                <a:gridCol w="765142"/>
                <a:gridCol w="765142"/>
                <a:gridCol w="675126"/>
                <a:gridCol w="720134"/>
                <a:gridCol w="675126"/>
                <a:gridCol w="675126"/>
                <a:gridCol w="765142"/>
                <a:gridCol w="810151"/>
                <a:gridCol w="630117"/>
                <a:gridCol w="58510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
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DSO – trend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DSO = total AR ÷ 12-month trailing revenue × 365 days; JESA Group 285 days at 20-Oct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6766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DSO by business unit – last 12 months (days)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68580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0" y="1143000"/>
            <a:ext cx="4663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DSO, AR and trailing revenue (MMAD, days)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1417320"/>
          <a:ext cx="4663437" cy="3026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58283"/>
                <a:gridCol w="724417"/>
                <a:gridCol w="814970"/>
                <a:gridCol w="543313"/>
                <a:gridCol w="679141"/>
                <a:gridCol w="54331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Revenue 12m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DSO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Prior month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days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3,122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3,670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4,013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2,442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Group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15,902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0" y="4581144"/>
            <a:ext cx="466344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a DSO of 365 means the receivable book equals one year of revenue. The AR side is refreshed weekly from the AR extract; the revenue side (12-month trailing, per project) is refreshed monthly from the DSO calculation workbook. Prior month = DSO published for the previous month.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654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7654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370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 TO 20-OCT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370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3706" y="1810511"/>
            <a:ext cx="196650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 i="0">
                <a:solidFill>
                  <a:srgbClr val="6B7B8C"/>
                </a:solidFill>
                <a:latin typeface="Arial"/>
              </a:rPr>
              <a:t>Sep 51  ·  YTD 233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2487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2487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203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203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5433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75433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2593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593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5989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5989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314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314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120637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56750"/>
                <a:gridCol w="656492"/>
                <a:gridCol w="656492"/>
                <a:gridCol w="656492"/>
                <a:gridCol w="481427"/>
                <a:gridCol w="656492"/>
                <a:gridCol w="65649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= supplier balance (6,725) plus a 6% markup; −40 vs 14-Oct, −424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57784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9495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= unrecognized supplier cost × 1.06 cost-and-fee markup  ·  14-Oct: 7,168  ·  month start: 7,552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887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252728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—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1463040"/>
            <a:ext cx="544068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6,725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965960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33472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6% JESA cost + fee markup included (MMAD)  ·  Δ vs 14-Oct in brackets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288036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B5473A"/>
                </a:solidFill>
                <a:latin typeface="Arial"/>
              </a:rPr>
              <a:t>No revenue recognition has been booked on these balances to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Table 7 — Unrecognized Suppliers by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669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Executed but unbooked scope, at cost (MMAD)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2834640"/>
          <a:ext cx="58064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63640" y="4754880"/>
          <a:ext cx="56692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4297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 (Table 7)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Attachments submitted (PROCORE etc.), under the approval workflow; includes attachments already signed by the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Submission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not yet submitted for approval; may include potential / impending scope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Under CN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via a Change Notice (or a potential CN)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At-Risk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without any formal contract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6364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7B8C"/>
                </a:solidFill>
                <a:latin typeface="Arial"/>
              </a:rPr>
              <a:t>*** Amounts in HT — executed progress, excluding DP amortization. Status split at cost (= revenue ÷ 1.06).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68306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6830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05466" y="1901952"/>
            <a:ext cx="157474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</a:t>
            </a:r>
            <a:r>
              <a:rPr sz="9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6B7B8C"/>
                </a:solidFill>
                <a:latin typeface="Arial"/>
              </a:rPr>
              <a:t>  ·  YTD 233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3117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3117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91914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91914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9074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0711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0711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417320"/>
            <a:ext cx="1666189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DEPOSITED IN OCT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by payment date) – October in progress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7178040" y="2651760"/>
          <a:ext cx="4754879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0224"/>
                <a:gridCol w="594360"/>
                <a:gridCol w="594360"/>
                <a:gridCol w="475488"/>
                <a:gridCol w="594360"/>
                <a:gridCol w="475488"/>
                <a:gridCol w="554735"/>
                <a:gridCol w="435864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o/w non-
OCP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PSR (Labor) Collections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PSR collections 372 MMAD, provisions 299 (AM ring-fence 199, W&amp;E reserve 100) → +73 MMAD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COLLECTIONS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Labor collections per OCP payment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TO 19/10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Sep 67  ·  Aug 141  ·  Jul 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AM RING-FENCE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AM PSR collections cover AM PSR costs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W&amp;E RESERVE PROVISION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100 MDH provision, 33.3 per month Jul–Sep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AVAILABLE AFTER PROVISIONS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Overheads paid 47 MMAD (FYI, not deducted)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035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PSR collections by business unit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51760"/>
          <a:ext cx="6035037" cy="3575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9782"/>
                <a:gridCol w="649927"/>
                <a:gridCol w="649927"/>
                <a:gridCol w="649927"/>
                <a:gridCol w="835620"/>
                <a:gridCol w="742774"/>
                <a:gridCol w="5570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19/10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PSR collections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 ring-fence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W&amp;E reserve provision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Available after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75120" y="2377440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Cumulative PSR collections by BU, Jul–Oct (MMAD)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583680" y="2651760"/>
          <a:ext cx="53949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675120" y="6126480"/>
            <a:ext cx="53035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6B7B8C"/>
                </a:solidFill>
                <a:latin typeface="Arial"/>
              </a:rPr>
              <a:t>AM (gold) is ring-fenced: its PSR collections cover AM PSR costs and are not available to the 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C8972B"/>
                </a:solidFill>
                <a:latin typeface="Arial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Business Unit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1737360" cy="4572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49377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9DDEE"/>
                </a:solidFill>
                <a:latin typeface="Arial"/>
              </a:rPr>
              <a:t>Ordered by size of the receivable book; business units below 20 MMAD of AR are summarised on the group slides only.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TWO PAGES PER BUSINESS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394960" cy="6766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Position: AR components with week-on-week and month-start comparatives, DSO, unbilled ownership and statuses, unpaid split and phases, aging, payments received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59152"/>
            <a:ext cx="539496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Projects &amp; unrecognized: largest unbilled and unpaid projects, unrecognized supplier scope by status, JESA attachments to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999232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BUSINESS UNITS COVERED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1012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Water &amp; Env., Fert. &amp; Chem., SP2M, AM, Energy Ops, Global Mining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58444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B&amp;I, JESA Tech, Advisory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46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7 · YTD 2,118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13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+13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88 · YTD 1,502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0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319 · YTD 1,205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149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+7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176 · YTD 1,918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46 · YTD 472 · non-OCP Oct 3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8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56 · YTD 438 · non-OCP Oct 8</a:t>
            </a:r>
          </a:p>
        </p:txBody>
      </p:sp>
      <p:graphicFrame>
        <p:nvGraphicFramePr>
          <p:cNvPr id="72" name="Chart 71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9 · YTD 123 · non-OCP Oct 1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106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21 · YTD 236 · non-OCP Oct 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15 · YTD 68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F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C8972B"/>
                </a:solidFill>
                <a:latin typeface="Arial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</a:rPr>
              <a:t>Backup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1737360" cy="4572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493776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9DDEE"/>
                </a:solidFill>
                <a:latin typeface="Arial"/>
              </a:rPr>
              <a:t>Supporting detail for the main sections, in the same order as the agenda.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ACCOUNTS RECEIVABLE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394960" cy="4754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AR movement – week on week and vs baseline (components, aging, by business unit)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57984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AR position by business unit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32304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DSO trend by business 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06624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Unbilled &amp; unpaid status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145536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CASH 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5643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PSR (labor) collections by business unit and provisions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7307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October payments – paid, approved and 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69663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480559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LC detail by letter of credit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754879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Supplier payables detail (tiers, top suppliers)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193791"/>
            <a:ext cx="54864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8972B"/>
                </a:solidFill>
                <a:latin typeface="Arial"/>
              </a:rPr>
              <a:t>REFERENCE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504687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•  Sources &amp; definitions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