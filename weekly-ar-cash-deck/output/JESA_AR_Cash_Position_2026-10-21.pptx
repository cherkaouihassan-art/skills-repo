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9513.792499159648</c:v>
                </c:pt>
                <c:pt idx="1">
                  <c:v>2627.475631534421</c:v>
                </c:pt>
                <c:pt idx="2">
                  <c:v>547.70852735122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4052.0</c:v>
                </c:pt>
                <c:pt idx="1">
                  <c:v>3110.0</c:v>
                </c:pt>
                <c:pt idx="2">
                  <c:v>942.0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8637.0</c:v>
                </c:pt>
                <c:pt idx="1">
                  <c:v>6404.0</c:v>
                </c:pt>
                <c:pt idx="2">
                  <c:v>1685.0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-168.0</c:v>
                </c:pt>
                <c:pt idx="2">
                  <c:v>6.0</c:v>
                </c:pt>
                <c:pt idx="3">
                  <c:v>-162.0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01-Aug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44.0</c:v>
                </c:pt>
                <c:pt idx="1">
                  <c:v>169.0</c:v>
                </c:pt>
                <c:pt idx="2">
                  <c:v>-764.0</c:v>
                </c:pt>
                <c:pt idx="3">
                  <c:v>-551.0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-28.0</c:v>
                </c:pt>
                <c:pt idx="1">
                  <c:v>8.0</c:v>
                </c:pt>
                <c:pt idx="2">
                  <c:v>-92.0</c:v>
                </c:pt>
                <c:pt idx="3">
                  <c:v>-44.0</c:v>
                </c:pt>
                <c:pt idx="4">
                  <c:v>-2.0</c:v>
                </c:pt>
                <c:pt idx="5">
                  <c:v>-6.0</c:v>
                </c:pt>
                <c:pt idx="6">
                  <c:v>1.0</c:v>
                </c:pt>
                <c:pt idx="7">
                  <c:v>0.0</c:v>
                </c:pt>
                <c:pt idx="8">
                  <c:v>1.0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01-Aug baseline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01-Aug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-575.0</c:v>
                </c:pt>
                <c:pt idx="1">
                  <c:v>46.0</c:v>
                </c:pt>
                <c:pt idx="2">
                  <c:v>115.0</c:v>
                </c:pt>
                <c:pt idx="3">
                  <c:v>-42.0</c:v>
                </c:pt>
                <c:pt idx="4">
                  <c:v>-86.0</c:v>
                </c:pt>
                <c:pt idx="5">
                  <c:v>12.0</c:v>
                </c:pt>
                <c:pt idx="6">
                  <c:v>42.0</c:v>
                </c:pt>
                <c:pt idx="7">
                  <c:v>-64.0</c:v>
                </c:pt>
                <c:pt idx="8">
                  <c:v>-1.0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07-Oct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En ordonnancement</c:v>
                </c:pt>
                <c:pt idx="1">
                  <c:v>Transmise tréso</c:v>
                </c:pt>
                <c:pt idx="2">
                  <c:v>Manque réception</c:v>
                </c:pt>
                <c:pt idx="3">
                  <c:v>Rejetée</c:v>
                </c:pt>
                <c:pt idx="4">
                  <c:v>OCP SUB</c:v>
                </c:pt>
                <c:pt idx="5">
                  <c:v>Autres / NON-OCP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261.0</c:v>
                </c:pt>
                <c:pt idx="1">
                  <c:v>430.0</c:v>
                </c:pt>
                <c:pt idx="2">
                  <c:v>185.0</c:v>
                </c:pt>
                <c:pt idx="3">
                  <c:v>829.0</c:v>
                </c:pt>
                <c:pt idx="4">
                  <c:v>351.0</c:v>
                </c:pt>
                <c:pt idx="5">
                  <c:v>566.0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En ordonnancement</c:v>
                </c:pt>
                <c:pt idx="1">
                  <c:v>Transmise tréso</c:v>
                </c:pt>
                <c:pt idx="2">
                  <c:v>Manque réception</c:v>
                </c:pt>
                <c:pt idx="3">
                  <c:v>Rejetée</c:v>
                </c:pt>
                <c:pt idx="4">
                  <c:v>OCP SUB</c:v>
                </c:pt>
                <c:pt idx="5">
                  <c:v>Autres / NON-OCP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290.0</c:v>
                </c:pt>
                <c:pt idx="1">
                  <c:v>471.0</c:v>
                </c:pt>
                <c:pt idx="2">
                  <c:v>147.0</c:v>
                </c:pt>
                <c:pt idx="3">
                  <c:v>784.0</c:v>
                </c:pt>
                <c:pt idx="4">
                  <c:v>353.0</c:v>
                </c:pt>
                <c:pt idx="5">
                  <c:v>581.0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Unrecognized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3670.0</c:v>
                </c:pt>
                <c:pt idx="1">
                  <c:v>1513.0</c:v>
                </c:pt>
                <c:pt idx="2">
                  <c:v>1387.0</c:v>
                </c:pt>
                <c:pt idx="3">
                  <c:v>362.0</c:v>
                </c:pt>
                <c:pt idx="4">
                  <c:v>252.0</c:v>
                </c:pt>
                <c:pt idx="5">
                  <c:v>228.0</c:v>
                </c:pt>
                <c:pt idx="6">
                  <c:v>127.0</c:v>
                </c:pt>
                <c:pt idx="7">
                  <c:v>53.0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245.0</c:v>
                </c:pt>
                <c:pt idx="1">
                  <c:v>25.0</c:v>
                </c:pt>
                <c:pt idx="2">
                  <c:v>1384.0</c:v>
                </c:pt>
                <c:pt idx="3">
                  <c:v>386.0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1042.0</c:v>
                </c:pt>
                <c:pt idx="1">
                  <c:v>339.0</c:v>
                </c:pt>
                <c:pt idx="2">
                  <c:v>1470.0</c:v>
                </c:pt>
                <c:pt idx="3">
                  <c:v>1317.0</c:v>
                </c:pt>
                <c:pt idx="4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9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757.0</c:v>
                </c:pt>
                <c:pt idx="1">
                  <c:v>542.0</c:v>
                </c:pt>
                <c:pt idx="2">
                  <c:v>179.0</c:v>
                </c:pt>
                <c:pt idx="3">
                  <c:v>59.0</c:v>
                </c:pt>
                <c:pt idx="4">
                  <c:v>164.0</c:v>
                </c:pt>
                <c:pt idx="5">
                  <c:v>91.0</c:v>
                </c:pt>
                <c:pt idx="6">
                  <c:v>116.0</c:v>
                </c:pt>
                <c:pt idx="7">
                  <c:v>136.0</c:v>
                </c:pt>
                <c:pt idx="8">
                  <c:v>67.0</c:v>
                </c:pt>
                <c:pt idx="9">
                  <c:v>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1429.0</c:v>
                </c:pt>
                <c:pt idx="1">
                  <c:v>1126.0</c:v>
                </c:pt>
                <c:pt idx="2">
                  <c:v>306.0</c:v>
                </c:pt>
                <c:pt idx="3">
                  <c:v>132.0</c:v>
                </c:pt>
                <c:pt idx="4">
                  <c:v>299.0</c:v>
                </c:pt>
                <c:pt idx="5">
                  <c:v>90.0</c:v>
                </c:pt>
                <c:pt idx="6">
                  <c:v>695.0</c:v>
                </c:pt>
                <c:pt idx="7">
                  <c:v>719.0</c:v>
                </c:pt>
                <c:pt idx="8">
                  <c:v>341.0</c:v>
                </c:pt>
                <c:pt idx="9">
                  <c:v>82.0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Awaiting draft LC (procurement)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26.0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14 Oct 2026 (vs 07 Oct 2026 and 01 Aug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20,281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Incl. unrecognized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7,592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Not yet booked as 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12,689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AR balance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9,514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Delivered, not billed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2,627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Billed, not collected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Advance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Total AR down 162 MMAD vs last week and down 551 MMAD vs the 01 Aug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00200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Total AR stands at 12,689 MMAD (−162 WoW, −551 vs baseline). Adding 7,592 MMAD of unrecognized revenue, gross exposure is 20,281 MMAD. Unbilled is 9,514 MMAD (75% of AR, −168 WoW); unpaid is 2,627 MMAD (+6 WoW, −764 vs baseline).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176272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322576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9424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Collections: 110 MMAD received in October to date (+82 WoW), 7,357 MMAD YTD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15184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October receipts moved from 27 to 110 MMAD this week. YTD payments received reach 7,357 MMAD (7.36 Bn MAD).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191256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64408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Procurement cash position: net -171 MMAD Jul–Oct including 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0168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Cumulative procurement cash IN of 2,104 MMAD vs cash OUT of 2,276 MMAD (Jul–Sep actuals, Oct actuals to 15/10, plus 321 MMAD of approved and pending October commitments). October alone: 151 MMAD in vs 220 MMAD paid, 321 MMAD still to pay.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4206240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4352544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279392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Payables: 2,144 MMAD of supplier invoices in AP (4411 + parked + downpayments), 1,415 MMAD past due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45152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2,803 open supplier lines. Parked invoices and 4411 open items dominate; see the AP slide for due-date buckets, tiers and top suppliers.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5221224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5367528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294376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Letters of credit: 912 MMAD outstanding on opened LCs, 1,583 MMAD including LCs still to be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660136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October LC maturities of 156 MMAD are counted as approved payments in the cash position. 675 MMAD falls in 2026 and 908 MMAD in 2027 per the maturity schedule.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75% of total AR; AR −162 MMAD week on week and −551 vs the 01-Aug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20,281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7,592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12,689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01-Aug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−551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9,514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01-Aug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+169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2,627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01-Aug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−764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01-Aug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9,514  ·  75% of 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2,627  ·  21% of 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12,429  ·  Non-OCP 260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Receivables remain almost entirely concentrated with OCP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68% of the book is non-labor (procurement scope)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14-Oct vs last week 07-Oct and vs the 01-Aug baseline saved in the AR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Baseline
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+8.8%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9,345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+1.8%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3,391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−764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−22.5%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13,240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−162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−1.3%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20,281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−168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−33, Water &amp; Env. −28, Fert. &amp; Chem. −10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+6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−11, Global Mining −6, Energy Ops −2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+18, Advisory +4,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−162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−44, Water &amp; Env. −28, Global Mining −6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+8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+169 vs 01-Aug: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−150, JESA Tech −137, Energy Ops −48, Global Mining −10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SP2M +292, Water &amp; Env. +169, B&amp;I +41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−764 vs 01-Aug: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−785, SP2M −177, Energy Ops −38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AM +109, JESA Tech +69, Fert. &amp; Chem. +32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−551 vs 01-Aug: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−575, Energy Ops −86, JESA Tech −64, AM −42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SP2M +115, Fert. &amp; Chem. +46, B&amp;I +42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 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5,225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−1,021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7,700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+421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13,240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−162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−551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by BU: this week vs last week and vs the 01-Aug baseline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3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30285"/>
                <a:gridCol w="900168"/>
                <a:gridCol w="900168"/>
                <a:gridCol w="900168"/>
                <a:gridCol w="765142"/>
                <a:gridCol w="855159"/>
                <a:gridCol w="855159"/>
                <a:gridCol w="765142"/>
                <a:gridCol w="810151"/>
                <a:gridCol w="765142"/>
                <a:gridCol w="765142"/>
                <a:gridCol w="855159"/>
                <a:gridCol w="900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 AR
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 AR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 AR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−575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5,016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3,197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3,670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6,907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13,240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−162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−551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−168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7,592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20,281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 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8,259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−1,160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9,345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−168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+169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SSS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 01-Aug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 ordonnancement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Transmise tréso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−369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Manque réception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Rejetée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Autres / NON-OCP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3,391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−764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7,592 MMAD (+40 WoW): executed scope not yet booked as AR, incl. JESA cost +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035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7,592 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Supplier scope incl. JESA cost + fee  ·  +40 vs last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88720"/>
            <a:ext cx="5715000" cy="105156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52728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SUPPLIERS –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55321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6,212  MMAD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Executed but unbooked supplier &amp; equipment scope (HT, excl. DP) before adjustments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86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by business unit (MMAD)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274320" y="2560320"/>
          <a:ext cx="566928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172200" y="2286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suppliers by status (MMAD)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80760" y="2560320"/>
          <a:ext cx="585216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72200" y="5257800"/>
            <a:ext cx="5669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Reading: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available for submission (pending submission) 2,854 MMAD; already submitted and pending client approval 1,287 MMAD; signed by client 363 MMAD; executed under change notice 1,702 MMAD. </a:t>
            </a:r>
          </a:p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B5473A"/>
                </a:solidFill>
                <a:latin typeface="Arial"/>
              </a:rPr>
              <a:t>Lines to be adjusted: 1,379 MMAD (mostly SP2M). Numbers remain under stabilisation by the bottom-up exercise with backup.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110 MMAD received in October to date (+82 this week); 7.36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407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7,357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+82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2,139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29%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5,219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71%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PAID YTD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2,928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payments received 2026 (MMAD) – October in progress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178040" y="2651760"/>
          <a:ext cx="4754876" cy="32186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last wk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1,810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Power to 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7,357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lines in the approved position (excl. LC); where each line stands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2,965 MMAD (+8 WoW): parked 908, 4411 848, downpayments 294, LC 914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2,965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(AR DASHBOARD)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2,965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 per the AR dashboard mapping; parked = invoices parked in SAP pending validation; 4411 = posted supplier open items; downpayments = advance invoices due to suppliers.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Note: the AP file (4411 + parked + downpayments) and the AR dashboard payables line differ by LC scope and extraction timing; the LC slide uses the bank LC situation.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SPLIT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675 / 908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maturity schedule (MMAD)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Data sources &amp; weekly input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What feeds each section of this deck, and the as-of date of each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11430000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3657600"/>
                <a:gridCol w="2194560"/>
                <a:gridCol w="24688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Deck section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Source file / sheet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As-of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Input tab (weekly_inputs.xlsx)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position, comparatives, aging, payables &amp; LC by BU, collections by BU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dashboard (AR_PRE.xlsx) – 'Executive Summary' + 'Comparatives'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Snapshot 14 Oct 2026; prev 07 Oct 2026; baseline 01 Aug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AR_KPI, AR_BU, AR_UNBILLED_*, AR_UNPAID_STATUS, AR_AGING, UNRECOGNIZED, COLLECTIONS_BU, AP_BU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position (group &amp; by BU), October paid / approved / pending, tracking-log status, priority list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flow workbook (CASH_FLOW_ANALYSIS – BUs) – 'EXEC Summary', 'Approved vs Tracking log', 'Priority list', 'LC Ongoing'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Data as of 15 Oct 2026; collections to 19/10; payments to 15/10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CASH_MONTHLY, CASH_BU, CASH_BU_OCT, ONGOING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commitments, opened vs to be opened,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Bank LC situation (LCs SITUATION) – 'LC avec echéance'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LC_LINES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Open supplier invoices by due date, tier, BU/origin, top suppliers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 – Parked – Downpayment)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 file Oct W3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AP_BUCKETS, AP_BU_ORIGIN, AP_TIERS, AP_TOP_SUPPLIERS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Monthly collections series (labor / non-labor)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Seeded from the 2026 payments summary; current month refreshed from the AR dashboard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Jan–Sep seed + current month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COLLECTIONS_MONTHLY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Key messages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Auto-drafted from the figures, then edited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KEY_MESSAGES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Weekly run: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1) drop the four refreshed source files  →  2) run extract_inputs.py (dates as parameters)  →  3) review / edit weekly_inputs.xlsx (key messages, monthly split)  →  4) run build_deck.py.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Comparatives: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week-on-week uses the AR dashboard 'Snapshot' tab (07 Oct 2026); 'vs month start' uses the dashboard 'AR Baseline' tab, currently saved on 01 Aug 2026. Re-save the baseline on the first working day of each month so that the column reads as a true month-to-date comparison.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Scope notes: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cash position covers procurement (non-labor) flows for the JESA Group including AM; PSR (labor) collections are shown net of the AM ring-fence and the W&amp;E reserve provision. AR figures are in MMAD HT as per the AR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