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Movement by component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-257.0</c:v>
                </c:pt>
                <c:pt idx="3">
                  <c:v>-292.0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vs month start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3.0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3269.0</c:v>
                </c:pt>
                <c:pt idx="1">
                  <c:v>1513.0</c:v>
                </c:pt>
                <c:pt idx="2">
                  <c:v>1384.0</c:v>
                </c:pt>
                <c:pt idx="3">
                  <c:v>362.0</c:v>
                </c:pt>
                <c:pt idx="4">
                  <c:v>252.0</c:v>
                </c:pt>
                <c:pt idx="5">
                  <c:v>203.0</c:v>
                </c:pt>
                <c:pt idx="6">
                  <c:v>127.0</c:v>
                </c:pt>
                <c:pt idx="7">
                  <c:v>58.0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260.0</c:v>
                </c:pt>
                <c:pt idx="1">
                  <c:v>24.0</c:v>
                </c:pt>
                <c:pt idx="2">
                  <c:v>1524.0</c:v>
                </c:pt>
                <c:pt idx="3">
                  <c:v>498.0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961.0</c:v>
                </c:pt>
                <c:pt idx="1">
                  <c:v>338.0</c:v>
                </c:pt>
                <c:pt idx="2">
                  <c:v>2237.0</c:v>
                </c:pt>
                <c:pt idx="3">
                  <c:v>1254.0</c:v>
                </c:pt>
                <c:pt idx="4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Relationship Id="rId5" Type="http://schemas.openxmlformats.org/officeDocument/2006/relationships/chart" Target="../charts/chart2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Relationship Id="rId3" Type="http://schemas.openxmlformats.org/officeDocument/2006/relationships/chart" Target="../charts/chart2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Relationship Id="rId3" Type="http://schemas.openxmlformats.org/officeDocument/2006/relationships/chart" Target="../charts/chart3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Relationship Id="rId3" Type="http://schemas.openxmlformats.org/officeDocument/2006/relationships/chart" Target="../charts/chart40.xml"/><Relationship Id="rId4" Type="http://schemas.openxmlformats.org/officeDocument/2006/relationships/chart" Target="../charts/chart41.xml"/><Relationship Id="rId5" Type="http://schemas.openxmlformats.org/officeDocument/2006/relationships/chart" Target="../charts/chart4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Relationship Id="rId3" Type="http://schemas.openxmlformats.org/officeDocument/2006/relationships/chart" Target="../charts/chart4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9.xml"/><Relationship Id="rId3" Type="http://schemas.openxmlformats.org/officeDocument/2006/relationships/chart" Target="../charts/chart5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1.xml"/><Relationship Id="rId3" Type="http://schemas.openxmlformats.org/officeDocument/2006/relationships/chart" Target="../charts/chart52.xml"/><Relationship Id="rId4" Type="http://schemas.openxmlformats.org/officeDocument/2006/relationships/chart" Target="../charts/chart53.xml"/><Relationship Id="rId5" Type="http://schemas.openxmlformats.org/officeDocument/2006/relationships/chart" Target="../charts/chart5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5.xml"/><Relationship Id="rId3" Type="http://schemas.openxmlformats.org/officeDocument/2006/relationships/chart" Target="../charts/chart5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7.xml"/><Relationship Id="rId3" Type="http://schemas.openxmlformats.org/officeDocument/2006/relationships/chart" Target="../charts/chart58.xml"/><Relationship Id="rId4" Type="http://schemas.openxmlformats.org/officeDocument/2006/relationships/chart" Target="../charts/chart59.xml"/><Relationship Id="rId5" Type="http://schemas.openxmlformats.org/officeDocument/2006/relationships/chart" Target="../charts/chart6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3.xml"/><Relationship Id="rId3" Type="http://schemas.openxmlformats.org/officeDocument/2006/relationships/chart" Target="../charts/chart6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5.xml"/><Relationship Id="rId3" Type="http://schemas.openxmlformats.org/officeDocument/2006/relationships/chart" Target="../charts/chart6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8.xml"/><Relationship Id="rId3" Type="http://schemas.openxmlformats.org/officeDocument/2006/relationships/chart" Target="../charts/chart6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   ·   AR snapshot 20 Oct 2026 (vs 14 Oct 2026 and 07 Oct 2026 baseline)   ·   Cash to 19/10   ·   Figures in MMAD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Incl. unrecognized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Not yet booked as 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AR balance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Delivered, not billed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0948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Billed, not collected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746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Advance payment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Total AR down 292 MMAD vs last week and down 456 MMAD vs the month-start (07 Oct)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00200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Total AR stands at 12,397 MMAD (−292 WoW, −456 vs month start). Adding 7,128 MMAD of unrecognized revenue (−40 vs last week), gross exposure is 19,525 MMAD. Unbilled is 9,479 MMAD (76% of AR, −35 WoW); unpaid is 2,370 MMAD (−258 WoW, −252 vs baseline).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176272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322576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49424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Collections: 241 MMAD received in October to date (+24 WoW), 8,082 MMAD YTD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15184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Invoices paid moved from 217 to 241 MMAD this month (payment date basis, amount invoiced). YTD payments received reach 8,082 MMAD (8.08 Bn MAD).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3191256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64408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Procurement cash position: net −171 MMAD Jul–Oct including 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30168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Cumulative procurement cash IN of 2,104 MMAD vs cash OUT of 2,276 MMAD (Jul–Sep actuals, Oct actuals to 15/10, plus 321 MMAD of approved and pending October commitments). October alone: 151 MMAD in vs 220 MMAD paid, 321 MMAD still to pay.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4206240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4352544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279392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Payables: 2,144 MMAD of supplier invoices in AP (4411 + parked + downpayments), 1,415 MMAD past due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45152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2,803 open supplier lines. Parked invoices and 4411 open items dominate; see the AP slide for due-date buckets, tiers and top suppliers.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5221224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5367528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294376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Letters of credit: 912 MMAD outstanding on opened LCs, 1,583 MMAD including LCs still to be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660136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October LC maturities of 156 MMAD are counted as approved payments in the cash position. 675 MMAD falls in 2026 and 908 MMAD in 2027 per the maturity schedule.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0277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ectangle 47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46320" y="2514600"/>
            <a:ext cx="7040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514600"/>
            <a:ext cx="73152" cy="10058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2560320"/>
            <a:ext cx="201168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606040"/>
            <a:ext cx="47548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1B2F4B"/>
                </a:solidFill>
                <a:latin typeface="Arial"/>
              </a:rPr>
              <a:t>of AR is OCP-related</a:t>
            </a:r>
          </a:p>
          <a:p>
            <a:pPr algn="l"/>
            <a:r>
              <a:rPr sz="11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DSO excl. advances, JESA Group: 285 days  ·  Receivables remain almost entirely concentrated with OCP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−5.6%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19,857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What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03320"/>
            <a:ext cx="694944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−35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−20, Fert. &amp; Chem. −14, Energy Ops −1, JESA Tech −1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−257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−62, Fert. &amp; Chem. −9,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Energy Ops +3,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−292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−179, AM −83, Fert. &amp; Chem. −23, JESA Tech −8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+3, Energy Ops +2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−205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−54, Water &amp; Env. −28, Fert. &amp; Chem. −24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−252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−73, Global Mining −6,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+9, B&amp;I +2, Advisory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−456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−206, AM −127, SP2M −92, Fert. &amp; Chem. −15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4480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vs last week and vs the month-start baseline (07-Oct), MMAD; DSO excl. advances in days (BU meeting report)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2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0268"/>
                <a:gridCol w="855159"/>
                <a:gridCol w="855159"/>
                <a:gridCol w="855159"/>
                <a:gridCol w="720134"/>
                <a:gridCol w="810151"/>
                <a:gridCol w="810151"/>
                <a:gridCol w="720134"/>
                <a:gridCol w="765142"/>
                <a:gridCol w="720134"/>
                <a:gridCol w="720134"/>
                <a:gridCol w="810151"/>
                <a:gridCol w="855159"/>
                <a:gridCol w="630117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DSO
(days)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Non-OCP Clients – unbilled &amp; unpaid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Non-OCP receivables of 252 MMAD (2.0% of AR): unbilled 131, unpaid 120; −13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AR (UNBILLED + UNPAID)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2515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12515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UNBILLED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0711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0711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8907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8907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24028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65760" y="2514600"/>
          <a:ext cx="5120638" cy="24871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82743"/>
                <a:gridCol w="744820"/>
                <a:gridCol w="744820"/>
                <a:gridCol w="744820"/>
                <a:gridCol w="558615"/>
                <a:gridCol w="7448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365760" y="5138928"/>
            <a:ext cx="5120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Reading: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non-OCP clients (Client 1 = NON OCP) carry 252 MMAD, of which Global Mining (Ma'aden) accounts for 201 MMAD. The right-hand table lists the projects driving the balance; statuses follow the AR coding (C-* with the client, J-* with JESA).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2240280"/>
            <a:ext cx="6217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Projects driving non-OCP receivables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760720" y="2514600"/>
          <a:ext cx="6217916" cy="37536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7875"/>
                <a:gridCol w="1322961"/>
                <a:gridCol w="1631652"/>
                <a:gridCol w="529184"/>
                <a:gridCol w="529184"/>
                <a:gridCol w="13670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Client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Larsen &amp; Toubro Ltd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 Proprietary Equipment &amp; 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- SENEGAL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BNEDT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Université San Pedro AMO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Jordan Turkiye Fertiliz…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MODERNISATION GUELB 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COBCO SA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AZUR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Ministére interieur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technique et suivi de 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Top 14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124.7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104.5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91% of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under JESA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720 MMAD of unbilled sits with JESA (8% of unbilled): PSR 228 / Procurement 492; −208 vs month start, −94 WoW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 UNDER JESA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82495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2515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12515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PSR (LABOR)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9675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PROCUREMENT (NON-LABOR)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7871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8907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8907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– PSR vs Procurement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06040"/>
          <a:ext cx="5669279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7024"/>
                <a:gridCol w="743512"/>
                <a:gridCol w="929390"/>
                <a:gridCol w="743512"/>
                <a:gridCol w="1022329"/>
                <a:gridCol w="74351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 of BU 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025896"/>
            <a:ext cx="5669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PSR = labor lines (PSR/PROC = PSR); Procurement = non-labor lines. Negative procurement amounts are credit lines pending JESA PM approval (AM, Global Mining).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status – what JESA still has to do (MMAD)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309360" y="2606040"/>
          <a:ext cx="5669280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685800"/>
                <a:gridCol w="868680"/>
                <a:gridCol w="685800"/>
                <a:gridCol w="5943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-13%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under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309360" y="5696712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1B2F4B"/>
                </a:solidFill>
                <a:latin typeface="Arial"/>
              </a:rPr>
              <a:t>Reading: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J-* statuses are the steps JESA controls (attachment creation, internal reviews, PM approval, service-sheet submission, invoicing); service sheets postponed and at-risk scope are excluded. Negative values are credit lines pending JESA PM approval.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incl. markup (−40 vs last week): executed scope not yet booked as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 (INCL. JESA COST + FEE)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0352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Supplier scope 7,100 + lines to be adjusted 28  ·  last week 7,168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88720"/>
            <a:ext cx="5715000" cy="105156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52728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SUPPLIER PO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5532120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21,831 MMAD contract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965960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(SAP GR) 10,694  ·  unrecognized 4,485  ·  remaining to execute 6,653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By business unit – last week vs this week (MMAD)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274320" y="2606040"/>
          <a:ext cx="566928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17220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Unrecognized suppliers by status (MMAD)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080760" y="2606040"/>
          <a:ext cx="585216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72200" y="48006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Supplier PO book by business unit (MMAD)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72200" y="4983480"/>
          <a:ext cx="5715000" cy="1536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1097280"/>
                <a:gridCol w="1005840"/>
                <a:gridCol w="1005840"/>
                <a:gridCol w="960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Contract value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Remaining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10,177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3,739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2,036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4,401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5,717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4,266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3,056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1,443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1,173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Other BUs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Total (all BUs)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21,831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10,694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4,485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6,653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 / unpaid 10% / advance 12% · DSO 331 days (prior 318)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 / unpaid 20% / advance 1% · DSO 376 days (prior 331)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 / unpaid 14% / advance 2% · DSO 294 days (prior 268)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3,585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(+2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 / unpaid 29% / advance 0% · DSO 134 days (prior 135)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(+5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 / unpaid 19% / advance 8% · DSO 190 days (prior 174)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 / unpaid 24% / advance 0% · DSO 252 days (prior 216)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9" name="TextBox 68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(−43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(+3 WoW, +2 vs month start); unbilled 30% / unpaid 70% / advance 0% · DSO 462 days (prior 415)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 / unpaid 93% / advance 0% · DSO 95 days (prior 107)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 / unpaid 40% / advance 0% · DSO 192 days (prior 203)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 in the UR consolidation.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5433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5989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149" y="1417320"/>
            <a:ext cx="205794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7654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DEPOSITED IN OCT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3706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amount invoiced by payment date) – October in progress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178040" y="2651760"/>
          <a:ext cx="4754876" cy="2980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7729"/>
                <a:gridCol w="655845"/>
                <a:gridCol w="655845"/>
                <a:gridCol w="573864"/>
                <a:gridCol w="573864"/>
                <a:gridCol w="655845"/>
                <a:gridCol w="491884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Totals computed on unrounded values. 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lines checked against the log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 (bank LC situation); parked = invoices parked in SAP pending validation; 4411 = posted supplier open items; downpayments = advance invoices due to suppliers. Previous week = 14-Oct AP extract.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Note: due-date buckets are computed from the invoice due date in the supplier extract; lines without a due date are excluded from the buckets.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Data sources &amp; weekly input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What feeds each section of this deck, and the as-of date of each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40965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3657600"/>
                <a:gridCol w="2194560"/>
                <a:gridCol w="2468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Deck section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Source file / sheet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As-of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Input tab (weekly_inputs.xlsx)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(current week): components, by BU, ownership, statuses, phases, aging, BU zooms, projects,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Weekly raw AR extract (sheet 'AR'),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20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AR_KPI, AR_BU, AR_UNBILLED_*, AR_UNPAID_STATUS, AR_AGING, AR_BU_DETAIL, AR_BU_PROJECTS, COLLECTIONS_*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(previous week)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Last week's raw AR extract or weekly_inputs.xlsx (this week: the 14-Oct AR dashboard)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14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prev_week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position (group &amp; by BU), October paid / approved / pending, tracking-log status, priority list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flow workbook (CASH_FLOW_ANALYSIS – BUs) – 'EXEC Summary', 'Approved vs Tracking log', 'Priority list', 'LC Ongoing'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Data as of 15 Oct 2026; collections to 19/10; payments to 15/10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CASH_MONTHLY, CASH_BU, CASH_BU_OCT, ONGOING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Month-start baseline (AR by component, BU, status, aging)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Beginning-of-month AR line list (AR_Beg_of_the_month.xlsx)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07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 / AR_BU / AR_* month_start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 and status, PO book (previous week = last week's deck / inputs)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 – 'Summary UR', 'Summary PO by BU'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UNRECOGNIZED, UR_ATTACHMENT_STATUS, UR_PO_SUMMARY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DSO (group and by BU)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BU meeting Power BI report (DSO excl. advances), entered monthly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October 2026 (prior: September)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DSO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Non-OCP receivables and JESA-responsibility unbilled (PSR / Procurement)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Weekly raw AR extract (Client 1 = NON OCP; J-* statuses; PSR/PROC column)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20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NONOCP_BU, NONOCP_PROJECTS, JESA_UNBILLED_*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commitments, opened vs to be opened,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Bank LC situation (LCs SITUATION) – 'LC avec echéance'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LC_LINES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Open supplier invoices by due date, tier, BU/origin, top 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 – Parked – Downpayment)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 file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AP_BUCKETS, AP_BU_ORIGIN, AP_TIERS, AP_TOP_SUPPLIERS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received (amount invoiced by payment date, labor / non-labor), invoices deposited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Paid lines of the raw AR extract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to 20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COLLECTIONS_BU, COLLECTIONS_MONTHLY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 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Auto-drafted from the figures, then edited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KEY_MESSAGES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349240"/>
            <a:ext cx="1143000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Weekly run: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1) drop the refreshed source files (raw AR extract, cash flow workbook, LC situation, supplier invoices, UR consolidation; month-start AR file once a month)  →  2) run extract_inputs.py with last week's inputs workbook as the previous-week source  →  3) review / edit weekly_inputs.xlsx (key messages)  →  4) run build_deck.py.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Comparatives: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week-on-week compares the 20 Oct 2026 extract with the 14 Oct 2026 position; 'vs month start' uses the beginning-of-month AR file (07 Oct 2026 position). All three are aggregated with the same rules (unearned-on-LS and negative advance lines excluded), which reproduce the BU meeting report totals.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Scope notes: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cash position covers procurement (non-labor) flows for the JESA Group including AM; PSR (labor) collections are shown net of the AM ring-fence and the W&amp;E reserve provision. AR figures are in MMAD HT as per the AR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