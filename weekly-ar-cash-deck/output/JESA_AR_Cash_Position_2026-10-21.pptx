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-257.0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3.0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3269.0</c:v>
                </c:pt>
                <c:pt idx="1">
                  <c:v>1513.0</c:v>
                </c:pt>
                <c:pt idx="2">
                  <c:v>1384.0</c:v>
                </c:pt>
                <c:pt idx="3">
                  <c:v>362.0</c:v>
                </c:pt>
                <c:pt idx="4">
                  <c:v>252.0</c:v>
                </c:pt>
                <c:pt idx="5">
                  <c:v>203.0</c:v>
                </c:pt>
                <c:pt idx="6">
                  <c:v>127.0</c:v>
                </c:pt>
                <c:pt idx="7">
                  <c:v>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Relationship Id="rId3" Type="http://schemas.openxmlformats.org/officeDocument/2006/relationships/chart" Target="../charts/chart6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−332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−292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−257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12,397 MMAD: −292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Unbilled 9,479 (−35 WoW), unpaid 2,370 (−257 WoW), advance 548 (0 WoW). Unrecognized revenue 7,128 (−40 WoW, −424 vs 07 Oct); gross exposure 19,525 MMAD (−332 WoW).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DSO excl. advances, JESA Group: 285 days  ·  Receivables remain almost entirely concentrated with OCP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JESA Tech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+3,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2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0268"/>
                <a:gridCol w="855159"/>
                <a:gridCol w="855159"/>
                <a:gridCol w="855159"/>
                <a:gridCol w="720134"/>
                <a:gridCol w="810151"/>
                <a:gridCol w="810151"/>
                <a:gridCol w="720134"/>
                <a:gridCol w="765142"/>
                <a:gridCol w="720134"/>
                <a:gridCol w="720134"/>
                <a:gridCol w="810151"/>
                <a:gridCol w="855159"/>
                <a:gridCol w="63011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515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12515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0711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8907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8907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2514600"/>
          <a:ext cx="5120638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2743"/>
                <a:gridCol w="744820"/>
                <a:gridCol w="744820"/>
                <a:gridCol w="744820"/>
                <a:gridCol w="558615"/>
                <a:gridCol w="7448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non-OCP clients (Client 1 = NON OCP) carry 252 MMAD, of which Global Mining (Ma'aden) accounts for 201 MMAD. The right-hand table lists the projects driving the balance; statuses follow the AR coding (C-* with the client, J-* with JESA).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lines (PSR/PROC = PSR); Procurement = non-labor lines.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1B2F4B"/>
                </a:solidFill>
                <a:latin typeface="Arial"/>
              </a:rPr>
              <a:t>Reading: </a:t>
            </a: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JESA controls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(−40 vs last week):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last week 7,168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last week vs this week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4983480"/>
          <a:ext cx="5715000" cy="1536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Other BUs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(+3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 in the UR consolidation.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Totals computed on unrounded values. 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checked against the log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(bank LC situation); parked = invoices parked in SAP pending validation; 4411 = posted supplier open items; downpayments = advance invoices due to suppliers. Previous week = 14-Oct AP extract.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due-date buckets are computed from the invoice due date in the supplier extract; lines without a due date are excluded from the buckets.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40965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(current week): components, by BU, ownership, statuses, phases, aging, BU zooms, projects,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(sheet 'AR'),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AR_BU_DETAIL, AR_BU_PROJECTS, COLLECTIONS_*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(previous week)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Last week's raw AR extract or weekly_inputs.xlsx (this week: the 14-Oct AR dashboard)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prev_week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Month-start baseline (AR by component, BU, status, aging)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Beginning-of-month AR line list (AR_Beg_of_the_month.xlsx)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07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 / AR_BU / AR_* month_start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 and status, PO book (previous week = last week's deck / inputs)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 – 'Summary UR', 'Summary PO by BU'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UNRECOGNIZED, UR_ATTACHMENT_STATUS, UR_PO_SUMMARY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DSO (group and by BU)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BU meeting Power BI report (DSO excl. advances), entered 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(prior: September)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DSO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Non-OCP receivables and JESA-responsibility unbilled (PSR / Procurement)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(Client 1 = NON OCP; J-* statuses; PSR/PROC column)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NONOCP_BU, NONOCP_PROJECTS, JESA_UNBILLED_*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received (amount invoiced by payment date, labor / non-labor), invoices deposited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Paid lines of the raw AR extract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to 20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COLLECTIONS_BU, COLLECTIONS_MONTHLY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349240"/>
            <a:ext cx="1143000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refreshed source files (raw AR extract, cash flow workbook, LC situation, supplier invoices, UR consolidation; month-start AR file once a month)  →  2) run extract_inputs.py with last week's inputs workbook as the previous-week source  →  3) review / edit weekly_inputs.xlsx (key messages)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compares the 20 Oct 2026 extract with the 14 Oct 2026 position; 'vs month start' uses the beginning-of-month AR file (07 Oct 2026 position). All three are aggregated with the same rules (unearned-on-LS and negative advance lines excluded), which reproduce the BU meeting report totals.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