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.xml" ContentType="application/vnd.openxmlformats-officedocument.drawingml.chart+xml"/>
  <Override PartName="/ppt/charts/chart40.xml" ContentType="application/vnd.openxmlformats-officedocument.drawingml.chart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.xml" ContentType="application/vnd.openxmlformats-officedocument.drawingml.chart+xml"/>
  <Override PartName="/ppt/charts/chart50.xml" ContentType="application/vnd.openxmlformats-officedocument.drawingml.chart+xml"/>
  <Override PartName="/ppt/charts/chart51.xml" ContentType="application/vnd.openxmlformats-officedocument.drawingml.chart+xml"/>
  <Override PartName="/ppt/charts/chart52.xml" ContentType="application/vnd.openxmlformats-officedocument.drawingml.chart+xml"/>
  <Override PartName="/ppt/charts/chart53.xml" ContentType="application/vnd.openxmlformats-officedocument.drawingml.chart+xml"/>
  <Override PartName="/ppt/charts/chart54.xml" ContentType="application/vnd.openxmlformats-officedocument.drawingml.chart+xml"/>
  <Override PartName="/ppt/charts/chart55.xml" ContentType="application/vnd.openxmlformats-officedocument.drawingml.chart+xml"/>
  <Override PartName="/ppt/charts/chart56.xml" ContentType="application/vnd.openxmlformats-officedocument.drawingml.chart+xml"/>
  <Override PartName="/ppt/charts/chart57.xml" ContentType="application/vnd.openxmlformats-officedocument.drawingml.chart+xml"/>
  <Override PartName="/ppt/charts/chart58.xml" ContentType="application/vnd.openxmlformats-officedocument.drawingml.chart+xml"/>
  <Override PartName="/ppt/charts/chart59.xml" ContentType="application/vnd.openxmlformats-officedocument.drawingml.chart+xml"/>
  <Override PartName="/ppt/charts/chart6.xml" ContentType="application/vnd.openxmlformats-officedocument.drawingml.chart+xml"/>
  <Override PartName="/ppt/charts/chart60.xml" ContentType="application/vnd.openxmlformats-officedocument.drawingml.chart+xml"/>
  <Override PartName="/ppt/charts/chart61.xml" ContentType="application/vnd.openxmlformats-officedocument.drawingml.chart+xml"/>
  <Override PartName="/ppt/charts/chart62.xml" ContentType="application/vnd.openxmlformats-officedocument.drawingml.chart+xml"/>
  <Override PartName="/ppt/charts/chart63.xml" ContentType="application/vnd.openxmlformats-officedocument.drawingml.chart+xml"/>
  <Override PartName="/ppt/charts/chart64.xml" ContentType="application/vnd.openxmlformats-officedocument.drawingml.chart+xml"/>
  <Override PartName="/ppt/charts/chart65.xml" ContentType="application/vnd.openxmlformats-officedocument.drawingml.chart+xml"/>
  <Override PartName="/ppt/charts/chart66.xml" ContentType="application/vnd.openxmlformats-officedocument.drawingml.chart+xml"/>
  <Override PartName="/ppt/charts/chart67.xml" ContentType="application/vnd.openxmlformats-officedocument.drawingml.chart+xml"/>
  <Override PartName="/ppt/charts/chart68.xml" ContentType="application/vnd.openxmlformats-officedocument.drawingml.chart+xml"/>
  <Override PartName="/ppt/charts/chart69.xml" ContentType="application/vnd.openxmlformats-officedocument.drawingml.chart+xml"/>
  <Override PartName="/ppt/charts/chart7.xml" ContentType="application/vnd.openxmlformats-officedocument.drawingml.chart+xml"/>
  <Override PartName="/ppt/charts/chart70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3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4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5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6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7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8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9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0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1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2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3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4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5.xlsx"/></Relationships>
</file>

<file path=ppt/charts/_rels/chart3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6.xlsx"/></Relationships>
</file>

<file path=ppt/charts/_rels/chart3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7.xlsx"/></Relationships>
</file>

<file path=ppt/charts/_rels/chart3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8.xlsx"/></Relationships>
</file>

<file path=ppt/charts/_rels/chart3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9.xlsx"/></Relationships>
</file>

<file path=ppt/charts/_rels/chart4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0.xlsx"/></Relationships>
</file>

<file path=ppt/charts/_rels/chart4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1.xlsx"/></Relationships>
</file>

<file path=ppt/charts/_rels/chart4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2.xlsx"/></Relationships>
</file>

<file path=ppt/charts/_rels/chart4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3.xlsx"/></Relationships>
</file>

<file path=ppt/charts/_rels/chart4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4.xlsx"/></Relationships>
</file>

<file path=ppt/charts/_rels/chart4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5.xlsx"/></Relationships>
</file>

<file path=ppt/charts/_rels/chart4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6.xlsx"/></Relationships>
</file>

<file path=ppt/charts/_rels/chart4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7.xlsx"/></Relationships>
</file>

<file path=ppt/charts/_rels/chart4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8.xlsx"/></Relationships>
</file>

<file path=ppt/charts/_rels/chart4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9.xlsx"/></Relationships>
</file>

<file path=ppt/charts/_rels/chart5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0.xlsx"/></Relationships>
</file>

<file path=ppt/charts/_rels/chart5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1.xlsx"/></Relationships>
</file>

<file path=ppt/charts/_rels/chart5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2.xlsx"/></Relationships>
</file>

<file path=ppt/charts/_rels/chart5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3.xlsx"/></Relationships>
</file>

<file path=ppt/charts/_rels/chart5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4.xlsx"/></Relationships>
</file>

<file path=ppt/charts/_rels/chart5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5.xlsx"/></Relationships>
</file>

<file path=ppt/charts/_rels/chart5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6.xlsx"/></Relationships>
</file>

<file path=ppt/charts/_rels/chart5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7.xlsx"/></Relationships>
</file>

<file path=ppt/charts/_rels/chart5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8.xlsx"/></Relationships>
</file>

<file path=ppt/charts/_rels/chart5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9.xlsx"/></Relationships>
</file>

<file path=ppt/charts/_rels/chart6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0.xlsx"/></Relationships>
</file>

<file path=ppt/charts/_rels/chart6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1.xlsx"/></Relationships>
</file>

<file path=ppt/charts/_rels/chart6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2.xlsx"/></Relationships>
</file>

<file path=ppt/charts/_rels/chart6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3.xlsx"/></Relationships>
</file>

<file path=ppt/charts/_rels/chart6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4.xlsx"/></Relationships>
</file>

<file path=ppt/charts/_rels/chart6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5.xlsx"/></Relationships>
</file>

<file path=ppt/charts/_rels/chart6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6.xlsx"/></Relationships>
</file>

<file path=ppt/charts/_rels/chart6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7.xlsx"/></Relationships>
</file>

<file path=ppt/charts/_rels/chart6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8.xlsx"/></Relationships>
</file>

<file path=ppt/charts/_rels/chart6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9.xlsx"/></Relationships>
</file>

<file path=ppt/charts/_rels/chart7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7A8794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Unbilled</c:v>
                </c:pt>
                <c:pt idx="1">
                  <c:v>Unpaid</c:v>
                </c:pt>
                <c:pt idx="2">
                  <c:v>Advance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9477.458001200219</c:v>
                </c:pt>
                <c:pt idx="1">
                  <c:v>2369.58692128103</c:v>
                </c:pt>
                <c:pt idx="2">
                  <c:v>548.0215817440002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5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Labor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numFmt formatCode="#,##0;−#,##0;&quot;&quot;" sourceLinked="0"/>
            <c:txPr>
              <a:bodyPr/>
              <a:lstStyle/>
              <a:p>
                <a:pPr>
                  <a:defRPr sz="9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Total AR</c:v>
                </c:pt>
                <c:pt idx="1">
                  <c:v>Unbilled</c:v>
                </c:pt>
                <c:pt idx="2">
                  <c:v>Unpaid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4288.0</c:v>
                </c:pt>
                <c:pt idx="1">
                  <c:v>3257.0</c:v>
                </c:pt>
                <c:pt idx="2">
                  <c:v>1030.0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Non-labor</c:v>
                </c:pt>
              </c:strCache>
            </c:strRef>
          </c:tx>
          <c:spPr>
            <a:solidFill>
              <a:srgbClr val="C9DDEE"/>
            </a:solidFill>
            <a:ln>
              <a:noFill/>
            </a:ln>
          </c:spPr>
          <c:dLbls>
            <c:numFmt formatCode="#,##0;−#,##0;&quot;&quot;" sourceLinked="0"/>
            <c:txPr>
              <a:bodyPr/>
              <a:lstStyle/>
              <a:p>
                <a:pPr>
                  <a:defRPr sz="900">
                    <a:solidFill>
                      <a:srgbClr val="1F2A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Total AR</c:v>
                </c:pt>
                <c:pt idx="1">
                  <c:v>Unbilled</c:v>
                </c:pt>
                <c:pt idx="2">
                  <c:v>Unpaid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8107.0</c:v>
                </c:pt>
                <c:pt idx="1">
                  <c:v>6220.0</c:v>
                </c:pt>
                <c:pt idx="2">
                  <c:v>1340.0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9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9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Movement by component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Δ WoW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Advance</c:v>
                </c:pt>
                <c:pt idx="1">
                  <c:v>Unbilled</c:v>
                </c:pt>
                <c:pt idx="2">
                  <c:v>Unpaid</c:v>
                </c:pt>
                <c:pt idx="3">
                  <c:v>Total AR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</c:v>
                </c:pt>
                <c:pt idx="1">
                  <c:v>-37.0</c:v>
                </c:pt>
                <c:pt idx="2">
                  <c:v>-257.0</c:v>
                </c:pt>
                <c:pt idx="3">
                  <c:v>-294.0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Δ vs month start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Advance</c:v>
                </c:pt>
                <c:pt idx="1">
                  <c:v>Unbilled</c:v>
                </c:pt>
                <c:pt idx="2">
                  <c:v>Unpaid</c:v>
                </c:pt>
                <c:pt idx="3">
                  <c:v>Total AR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1.0</c:v>
                </c:pt>
                <c:pt idx="1">
                  <c:v>-205.0</c:v>
                </c:pt>
                <c:pt idx="2">
                  <c:v>-252.0</c:v>
                </c:pt>
                <c:pt idx="3">
                  <c:v>-456.0</c:v>
                </c:pt>
              </c:numCache>
            </c:numRef>
          </c:val>
        </c:ser>
        <c:dLbls>
          <c:numFmt formatCode="+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9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Total AR – Δ week on week by BU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Δ WoW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Water &amp; Env.</c:v>
                </c:pt>
                <c:pt idx="1">
                  <c:v>Fert. &amp; Chem.</c:v>
                </c:pt>
                <c:pt idx="2">
                  <c:v>SP2M</c:v>
                </c:pt>
                <c:pt idx="3">
                  <c:v>AM</c:v>
                </c:pt>
                <c:pt idx="4">
                  <c:v>Energy Ops</c:v>
                </c:pt>
                <c:pt idx="5">
                  <c:v>Global Mining</c:v>
                </c:pt>
                <c:pt idx="6">
                  <c:v>B&amp;I</c:v>
                </c:pt>
                <c:pt idx="7">
                  <c:v>JESA Tech</c:v>
                </c:pt>
                <c:pt idx="8">
                  <c:v>Advisory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-179.0</c:v>
                </c:pt>
                <c:pt idx="1">
                  <c:v>-23.0</c:v>
                </c:pt>
                <c:pt idx="2">
                  <c:v>0.0</c:v>
                </c:pt>
                <c:pt idx="3">
                  <c:v>-83.0</c:v>
                </c:pt>
                <c:pt idx="4">
                  <c:v>2.0</c:v>
                </c:pt>
                <c:pt idx="5">
                  <c:v>0.0</c:v>
                </c:pt>
                <c:pt idx="6">
                  <c:v>1.0</c:v>
                </c:pt>
                <c:pt idx="7">
                  <c:v>-8.0</c:v>
                </c:pt>
                <c:pt idx="8">
                  <c:v>-3.0</c:v>
                </c:pt>
              </c:numCache>
            </c:numRef>
          </c:val>
        </c:ser>
        <c:dLbls>
          <c:numFmt formatCode="+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Total AR – Δ vs month start (07-Oct) by BU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Δ vs 07-Oct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Water &amp; Env.</c:v>
                </c:pt>
                <c:pt idx="1">
                  <c:v>Fert. &amp; Chem.</c:v>
                </c:pt>
                <c:pt idx="2">
                  <c:v>SP2M</c:v>
                </c:pt>
                <c:pt idx="3">
                  <c:v>AM</c:v>
                </c:pt>
                <c:pt idx="4">
                  <c:v>Energy Ops</c:v>
                </c:pt>
                <c:pt idx="5">
                  <c:v>Global Mining</c:v>
                </c:pt>
                <c:pt idx="6">
                  <c:v>B&amp;I</c:v>
                </c:pt>
                <c:pt idx="7">
                  <c:v>JESA Tech</c:v>
                </c:pt>
                <c:pt idx="8">
                  <c:v>Advisory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-206.0</c:v>
                </c:pt>
                <c:pt idx="1">
                  <c:v>-15.0</c:v>
                </c:pt>
                <c:pt idx="2">
                  <c:v>-92.0</c:v>
                </c:pt>
                <c:pt idx="3">
                  <c:v>-127.0</c:v>
                </c:pt>
                <c:pt idx="4">
                  <c:v>0.0</c:v>
                </c:pt>
                <c:pt idx="5">
                  <c:v>-6.0</c:v>
                </c:pt>
                <c:pt idx="6">
                  <c:v>2.0</c:v>
                </c:pt>
                <c:pt idx="7">
                  <c:v>-8.0</c:v>
                </c:pt>
                <c:pt idx="8">
                  <c:v>-3.0</c:v>
                </c:pt>
              </c:numCache>
            </c:numRef>
          </c:val>
        </c:ser>
        <c:dLbls>
          <c:numFmt formatCode="+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status – last week vs this week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14-Oct</c:v>
                </c:pt>
              </c:strCache>
            </c:strRef>
          </c:tx>
          <c:spPr>
            <a:solidFill>
              <a:srgbClr val="C9DDEE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Rejected</c:v>
                </c:pt>
                <c:pt idx="1">
                  <c:v>Treasury</c:v>
                </c:pt>
                <c:pt idx="2">
                  <c:v>OCP subs</c:v>
                </c:pt>
                <c:pt idx="3">
                  <c:v>Ordonnancement</c:v>
                </c:pt>
                <c:pt idx="4">
                  <c:v>Missing reception</c:v>
                </c:pt>
                <c:pt idx="5">
                  <c:v>Other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784.0</c:v>
                </c:pt>
                <c:pt idx="1">
                  <c:v>471.0</c:v>
                </c:pt>
                <c:pt idx="2">
                  <c:v>353.0</c:v>
                </c:pt>
                <c:pt idx="3">
                  <c:v>290.0</c:v>
                </c:pt>
                <c:pt idx="4">
                  <c:v>147.0</c:v>
                </c:pt>
                <c:pt idx="5">
                  <c:v>581.0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20-Oct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Rejected</c:v>
                </c:pt>
                <c:pt idx="1">
                  <c:v>Treasury</c:v>
                </c:pt>
                <c:pt idx="2">
                  <c:v>OCP subs</c:v>
                </c:pt>
                <c:pt idx="3">
                  <c:v>Ordonnancement</c:v>
                </c:pt>
                <c:pt idx="4">
                  <c:v>Missing reception</c:v>
                </c:pt>
                <c:pt idx="5">
                  <c:v>Other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610.0</c:v>
                </c:pt>
                <c:pt idx="1">
                  <c:v>457.0</c:v>
                </c:pt>
                <c:pt idx="2">
                  <c:v>356.0</c:v>
                </c:pt>
                <c:pt idx="3">
                  <c:v>262.0</c:v>
                </c:pt>
                <c:pt idx="4">
                  <c:v>130.0</c:v>
                </c:pt>
                <c:pt idx="5">
                  <c:v>555.0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Unrecognized revenue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Pt>
            <c:idx val="0"/>
            <c:spPr>
              <a:solidFill>
                <a:srgbClr val="C8972B"/>
              </a:solidFill>
              <a:ln>
                <a:noFill/>
              </a:ln>
            </c:spPr>
          </c:dPt>
          <c:dPt>
            <c:idx val="1"/>
            <c:spPr>
              <a:solidFill>
                <a:srgbClr val="0F3B63"/>
              </a:solidFill>
              <a:ln>
                <a:noFill/>
              </a:ln>
            </c:spPr>
          </c:dPt>
          <c:dPt>
            <c:idx val="2"/>
            <c:spPr>
              <a:solidFill>
                <a:srgbClr val="3A9C8C"/>
              </a:solidFill>
              <a:ln>
                <a:noFill/>
              </a:ln>
            </c:spPr>
          </c:dPt>
          <c:dPt>
            <c:idx val="3"/>
            <c:spPr>
              <a:solidFill>
                <a:srgbClr val="2E7D4F"/>
              </a:solidFill>
              <a:ln>
                <a:noFill/>
              </a:ln>
            </c:spPr>
          </c:dPt>
          <c:dPt>
            <c:idx val="4"/>
            <c:spPr>
              <a:solidFill>
                <a:srgbClr val="2E6DA4"/>
              </a:solidFill>
              <a:ln>
                <a:noFill/>
              </a:ln>
            </c:spPr>
          </c:dPt>
          <c:dPt>
            <c:idx val="5"/>
            <c:spPr>
              <a:solidFill>
                <a:srgbClr val="7A8794"/>
              </a:solidFill>
              <a:ln>
                <a:noFill/>
              </a:ln>
            </c:spPr>
          </c:dPt>
          <c:dPt>
            <c:idx val="6"/>
            <c:spPr>
              <a:solidFill>
                <a:srgbClr val="1B2F4B"/>
              </a:solidFill>
              <a:ln>
                <a:noFill/>
              </a:ln>
            </c:spPr>
          </c:dPt>
          <c:dPt>
            <c:idx val="7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Sheet1!$A$2:$A$9</c:f>
              <c:strCache>
                <c:ptCount val="8"/>
                <c:pt idx="0">
                  <c:v>SP2M  (+2)</c:v>
                </c:pt>
                <c:pt idx="1">
                  <c:v>Water &amp; Env.  (−2)</c:v>
                </c:pt>
                <c:pt idx="2">
                  <c:v>Fert. &amp; Chem.  (−2)</c:v>
                </c:pt>
                <c:pt idx="3">
                  <c:v>Energy Ops  (0)</c:v>
                </c:pt>
                <c:pt idx="4">
                  <c:v>JESA Tech  (0)</c:v>
                </c:pt>
                <c:pt idx="5">
                  <c:v>Global Mining  (−43)</c:v>
                </c:pt>
                <c:pt idx="6">
                  <c:v>AM  (+5)</c:v>
                </c:pt>
                <c:pt idx="7">
                  <c:v>B&amp;I  (0)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3271.0</c:v>
                </c:pt>
                <c:pt idx="1">
                  <c:v>1511.0</c:v>
                </c:pt>
                <c:pt idx="2">
                  <c:v>1382.0</c:v>
                </c:pt>
                <c:pt idx="3">
                  <c:v>362.0</c:v>
                </c:pt>
                <c:pt idx="4">
                  <c:v>252.0</c:v>
                </c:pt>
                <c:pt idx="5">
                  <c:v>160.0</c:v>
                </c:pt>
                <c:pt idx="6">
                  <c:v>132.0</c:v>
                </c:pt>
                <c:pt idx="7">
                  <c:v>58.0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3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Pend. Submission</c:v>
                </c:pt>
                <c:pt idx="1">
                  <c:v>Pend. Approval</c:v>
                </c:pt>
                <c:pt idx="2">
                  <c:v>Under CN</c:v>
                </c:pt>
                <c:pt idx="3">
                  <c:v>At-Risk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1438.0</c:v>
                </c:pt>
                <c:pt idx="1">
                  <c:v>267.0</c:v>
                </c:pt>
                <c:pt idx="2">
                  <c:v>470.0</c:v>
                </c:pt>
                <c:pt idx="3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Subcontractors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dLbls>
            <c:dLbl>
              <c:idx val="3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1F2A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Pend. Submission</c:v>
                </c:pt>
                <c:pt idx="1">
                  <c:v>Pend. Approval</c:v>
                </c:pt>
                <c:pt idx="2">
                  <c:v>Under CN</c:v>
                </c:pt>
                <c:pt idx="3">
                  <c:v>At-Risk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2110.0</c:v>
                </c:pt>
                <c:pt idx="1">
                  <c:v>1226.0</c:v>
                </c:pt>
                <c:pt idx="2">
                  <c:v>1183.0</c:v>
                </c:pt>
                <c:pt idx="3">
                  <c:v>5.0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Labor (PSR)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numFmt formatCode="#,##0;−#,##0;&quot;&quot;" sourceLinked="0"/>
            <c:txPr>
              <a:bodyPr/>
              <a:lstStyle/>
              <a:p>
                <a:pPr>
                  <a:defRPr sz="75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586.0</c:v>
                </c:pt>
                <c:pt idx="1">
                  <c:v>467.0</c:v>
                </c:pt>
                <c:pt idx="2">
                  <c:v>171.0</c:v>
                </c:pt>
                <c:pt idx="3">
                  <c:v>91.0</c:v>
                </c:pt>
                <c:pt idx="4">
                  <c:v>117.0</c:v>
                </c:pt>
                <c:pt idx="5">
                  <c:v>95.0</c:v>
                </c:pt>
                <c:pt idx="6">
                  <c:v>133.0</c:v>
                </c:pt>
                <c:pt idx="7">
                  <c:v>152.0</c:v>
                </c:pt>
                <c:pt idx="8">
                  <c:v>214.0</c:v>
                </c:pt>
                <c:pt idx="9">
                  <c:v>91.0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Non-labor (procurement)</c:v>
                </c:pt>
              </c:strCache>
            </c:strRef>
          </c:tx>
          <c:spPr>
            <a:solidFill>
              <a:srgbClr val="E08A2E"/>
            </a:solidFill>
            <a:ln>
              <a:noFill/>
            </a:ln>
          </c:spPr>
          <c:dLbls>
            <c:numFmt formatCode="#,##0;−#,##0;&quot;&quot;" sourceLinked="0"/>
            <c:txPr>
              <a:bodyPr/>
              <a:lstStyle/>
              <a:p>
                <a:pPr>
                  <a:defRPr sz="750">
                    <a:solidFill>
                      <a:srgbClr val="1F2A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1662.0</c:v>
                </c:pt>
                <c:pt idx="1">
                  <c:v>1251.0</c:v>
                </c:pt>
                <c:pt idx="2">
                  <c:v>355.0</c:v>
                </c:pt>
                <c:pt idx="3">
                  <c:v>126.0</c:v>
                </c:pt>
                <c:pt idx="4">
                  <c:v>360.0</c:v>
                </c:pt>
                <c:pt idx="5">
                  <c:v>106.0</c:v>
                </c:pt>
                <c:pt idx="6">
                  <c:v>657.0</c:v>
                </c:pt>
                <c:pt idx="7">
                  <c:v>775.0</c:v>
                </c:pt>
                <c:pt idx="8">
                  <c:v>523.0</c:v>
                </c:pt>
                <c:pt idx="9">
                  <c:v>151.0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9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Cash IN</c:v>
                </c:pt>
              </c:strCache>
            </c:strRef>
          </c:tx>
          <c:spPr>
            <a:solidFill>
              <a:srgbClr val="3A9C8C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  <c:pt idx="3">
                  <c:v>Oct to date</c:v>
                </c:pt>
                <c:pt idx="4">
                  <c:v>Oct commitments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712.0</c:v>
                </c:pt>
                <c:pt idx="1">
                  <c:v>715.0</c:v>
                </c:pt>
                <c:pt idx="2">
                  <c:v>526.0</c:v>
                </c:pt>
                <c:pt idx="3">
                  <c:v>151.0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Cash OUT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  <c:pt idx="3">
                  <c:v>Oct to date</c:v>
                </c:pt>
                <c:pt idx="4">
                  <c:v>Oct commitments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548.0</c:v>
                </c:pt>
                <c:pt idx="1">
                  <c:v>296.0</c:v>
                </c:pt>
                <c:pt idx="2">
                  <c:v>889.0</c:v>
                </c:pt>
                <c:pt idx="3">
                  <c:v>220.0</c:v>
                </c:pt>
                <c:pt idx="4">
                  <c:v>321.0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Net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  <c:pt idx="3">
                  <c:v>Oct to date</c:v>
                </c:pt>
                <c:pt idx="4">
                  <c:v>Oct commitments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164.0</c:v>
                </c:pt>
                <c:pt idx="1">
                  <c:v>419.0</c:v>
                </c:pt>
                <c:pt idx="2">
                  <c:v>-363.0</c:v>
                </c:pt>
                <c:pt idx="3">
                  <c:v>-69.0</c:v>
                </c:pt>
                <c:pt idx="4">
                  <c:v>-321.0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9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Cash IN vs cash OUT by BU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Cash IN</c:v>
                </c:pt>
              </c:strCache>
            </c:strRef>
          </c:tx>
          <c:spPr>
            <a:solidFill>
              <a:srgbClr val="3A9C8C"/>
            </a:solidFill>
            <a:ln>
              <a:noFill/>
            </a:ln>
          </c:spPr>
          <c:cat>
            <c:strRef>
              <c:f>Sheet1!$A$2:$A$11</c:f>
              <c:strCache>
                <c:ptCount val="10"/>
                <c:pt idx="0">
                  <c:v>Water &amp; Env.</c:v>
                </c:pt>
                <c:pt idx="1">
                  <c:v>Fert. &amp; Chem.</c:v>
                </c:pt>
                <c:pt idx="2">
                  <c:v>AM</c:v>
                </c:pt>
                <c:pt idx="3">
                  <c:v>SP2M</c:v>
                </c:pt>
                <c:pt idx="4">
                  <c:v>JESA Tech</c:v>
                </c:pt>
                <c:pt idx="5">
                  <c:v>Energy Ops</c:v>
                </c:pt>
                <c:pt idx="6">
                  <c:v>Global Mining</c:v>
                </c:pt>
                <c:pt idx="7">
                  <c:v>B&amp;I</c:v>
                </c:pt>
                <c:pt idx="8">
                  <c:v>Advisory</c:v>
                </c:pt>
                <c:pt idx="9">
                  <c:v>B&amp;C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632.0</c:v>
                </c:pt>
                <c:pt idx="1">
                  <c:v>527.0</c:v>
                </c:pt>
                <c:pt idx="2">
                  <c:v>402.0</c:v>
                </c:pt>
                <c:pt idx="3">
                  <c:v>307.0</c:v>
                </c:pt>
                <c:pt idx="4">
                  <c:v>111.0</c:v>
                </c:pt>
                <c:pt idx="5">
                  <c:v>65.0</c:v>
                </c:pt>
                <c:pt idx="6">
                  <c:v>51.0</c:v>
                </c:pt>
                <c:pt idx="7">
                  <c:v>10.0</c:v>
                </c:pt>
                <c:pt idx="8">
                  <c:v>0.0</c:v>
                </c:pt>
                <c:pt idx="9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Cash OUT (incl. commitments)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Sheet1!$A$2:$A$11</c:f>
              <c:strCache>
                <c:ptCount val="10"/>
                <c:pt idx="0">
                  <c:v>Water &amp; Env.</c:v>
                </c:pt>
                <c:pt idx="1">
                  <c:v>Fert. &amp; Chem.</c:v>
                </c:pt>
                <c:pt idx="2">
                  <c:v>AM</c:v>
                </c:pt>
                <c:pt idx="3">
                  <c:v>SP2M</c:v>
                </c:pt>
                <c:pt idx="4">
                  <c:v>JESA Tech</c:v>
                </c:pt>
                <c:pt idx="5">
                  <c:v>Energy Ops</c:v>
                </c:pt>
                <c:pt idx="6">
                  <c:v>Global Mining</c:v>
                </c:pt>
                <c:pt idx="7">
                  <c:v>B&amp;I</c:v>
                </c:pt>
                <c:pt idx="8">
                  <c:v>Advisory</c:v>
                </c:pt>
                <c:pt idx="9">
                  <c:v>B&amp;C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619.0</c:v>
                </c:pt>
                <c:pt idx="1">
                  <c:v>452.0</c:v>
                </c:pt>
                <c:pt idx="2">
                  <c:v>358.0</c:v>
                </c:pt>
                <c:pt idx="3">
                  <c:v>640.0</c:v>
                </c:pt>
                <c:pt idx="4">
                  <c:v>106.0</c:v>
                </c:pt>
                <c:pt idx="5">
                  <c:v>16.0</c:v>
                </c:pt>
                <c:pt idx="6">
                  <c:v>58.0</c:v>
                </c:pt>
                <c:pt idx="7">
                  <c:v>11.0</c:v>
                </c:pt>
                <c:pt idx="8">
                  <c:v>15.0</c:v>
                </c:pt>
                <c:pt idx="9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Net balance after all ongoing commitments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Net after all ongoing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dPt>
            <c:idx val="0"/>
            <c:spPr>
              <a:solidFill>
                <a:srgbClr val="2E7D4F"/>
              </a:solidFill>
              <a:ln>
                <a:noFill/>
              </a:ln>
            </c:spPr>
          </c:dPt>
          <c:dPt>
            <c:idx val="1"/>
            <c:spPr>
              <a:solidFill>
                <a:srgbClr val="2E7D4F"/>
              </a:solidFill>
              <a:ln>
                <a:noFill/>
              </a:ln>
            </c:spPr>
          </c:dPt>
          <c:dPt>
            <c:idx val="2"/>
            <c:spPr>
              <a:solidFill>
                <a:srgbClr val="2E7D4F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dPt>
            <c:idx val="4"/>
            <c:spPr>
              <a:solidFill>
                <a:srgbClr val="2E7D4F"/>
              </a:solidFill>
              <a:ln>
                <a:noFill/>
              </a:ln>
            </c:spPr>
          </c:dPt>
          <c:dPt>
            <c:idx val="5"/>
            <c:spPr>
              <a:solidFill>
                <a:srgbClr val="2E7D4F"/>
              </a:solidFill>
              <a:ln>
                <a:noFill/>
              </a:ln>
            </c:spPr>
          </c:dPt>
          <c:dPt>
            <c:idx val="6"/>
            <c:spPr>
              <a:solidFill>
                <a:srgbClr val="B5473A"/>
              </a:solidFill>
              <a:ln>
                <a:noFill/>
              </a:ln>
            </c:spPr>
          </c:dPt>
          <c:dPt>
            <c:idx val="7"/>
            <c:spPr>
              <a:solidFill>
                <a:srgbClr val="B5473A"/>
              </a:solidFill>
              <a:ln>
                <a:noFill/>
              </a:ln>
            </c:spPr>
          </c:dPt>
          <c:dPt>
            <c:idx val="8"/>
            <c:spPr>
              <a:solidFill>
                <a:srgbClr val="B5473A"/>
              </a:solidFill>
              <a:ln>
                <a:noFill/>
              </a:ln>
            </c:spPr>
          </c:dPt>
          <c:dPt>
            <c:idx val="9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Sheet1!$A$2:$A$11</c:f>
              <c:strCache>
                <c:ptCount val="10"/>
                <c:pt idx="0">
                  <c:v>Water &amp; Env.</c:v>
                </c:pt>
                <c:pt idx="1">
                  <c:v>Fert. &amp; Chem.</c:v>
                </c:pt>
                <c:pt idx="2">
                  <c:v>AM</c:v>
                </c:pt>
                <c:pt idx="3">
                  <c:v>SP2M</c:v>
                </c:pt>
                <c:pt idx="4">
                  <c:v>JESA Tech</c:v>
                </c:pt>
                <c:pt idx="5">
                  <c:v>Energy Ops</c:v>
                </c:pt>
                <c:pt idx="6">
                  <c:v>Global Mining</c:v>
                </c:pt>
                <c:pt idx="7">
                  <c:v>B&amp;I</c:v>
                </c:pt>
                <c:pt idx="8">
                  <c:v>Advisory</c:v>
                </c:pt>
                <c:pt idx="9">
                  <c:v>B&amp;C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13.0</c:v>
                </c:pt>
                <c:pt idx="1">
                  <c:v>75.0</c:v>
                </c:pt>
                <c:pt idx="2">
                  <c:v>44.0</c:v>
                </c:pt>
                <c:pt idx="3">
                  <c:v>-333.0</c:v>
                </c:pt>
                <c:pt idx="4">
                  <c:v>5.0</c:v>
                </c:pt>
                <c:pt idx="5">
                  <c:v>49.0</c:v>
                </c:pt>
                <c:pt idx="6">
                  <c:v>-7.0</c:v>
                </c:pt>
                <c:pt idx="7">
                  <c:v>-2.0</c:v>
                </c:pt>
                <c:pt idx="8">
                  <c:v>-15.0</c:v>
                </c:pt>
                <c:pt idx="9">
                  <c:v>-0.0</c:v>
                </c:pt>
              </c:numCache>
            </c:numRef>
          </c:val>
        </c:ser>
        <c:dLbls>
          <c:numFmt formatCode="+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Paid to 15/10</c:v>
                </c:pt>
                <c:pt idx="1">
                  <c:v>Approved – LC maturities</c:v>
                </c:pt>
                <c:pt idx="2">
                  <c:v>Approved – supplier invoices</c:v>
                </c:pt>
                <c:pt idx="3">
                  <c:v>Pending approval</c:v>
                </c:pt>
                <c:pt idx="4">
                  <c:v>Total October outflow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220.27320822</c:v>
                </c:pt>
                <c:pt idx="2">
                  <c:v>376.7167884441774</c:v>
                </c:pt>
                <c:pt idx="3">
                  <c:v>477.7994740509534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value</c:v>
                </c:pt>
              </c:strCache>
            </c:strRef>
          </c:tx>
          <c:spPr>
            <a:ln>
              <a:noFill/>
            </a:ln>
          </c:spPr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8972B"/>
              </a:solidFill>
              <a:ln>
                <a:noFill/>
              </a:ln>
            </c:spPr>
          </c:dPt>
          <c:dPt>
            <c:idx val="2"/>
            <c:spPr>
              <a:solidFill>
                <a:srgbClr val="C8972B"/>
              </a:solidFill>
              <a:ln>
                <a:noFill/>
              </a:ln>
            </c:spPr>
          </c:dPt>
          <c:dPt>
            <c:idx val="3"/>
            <c:spPr>
              <a:solidFill>
                <a:srgbClr val="E08A2E"/>
              </a:solidFill>
              <a:ln>
                <a:noFill/>
              </a:ln>
            </c:spPr>
          </c:dPt>
          <c:dPt>
            <c:idx val="4"/>
            <c:spPr>
              <a:solidFill>
                <a:srgbClr val="0F3B63"/>
              </a:solidFill>
              <a:ln>
                <a:noFill/>
              </a:ln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220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+156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+101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+64</a:t>
                    </a:r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850" b="1">
                        <a:solidFill>
                          <a:srgbClr val="FFFFFF"/>
                        </a:solidFill>
                        <a:latin typeface="Arial"/>
                      </a:rPr>
                      <a:t>541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Paid to 15/10</c:v>
                </c:pt>
                <c:pt idx="1">
                  <c:v>Approved – LC maturities</c:v>
                </c:pt>
                <c:pt idx="2">
                  <c:v>Approved – supplier invoices</c:v>
                </c:pt>
                <c:pt idx="3">
                  <c:v>Pending approval</c:v>
                </c:pt>
                <c:pt idx="4">
                  <c:v>Total October outflow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220.27320822</c:v>
                </c:pt>
                <c:pt idx="1">
                  <c:v>156.4435802241774</c:v>
                </c:pt>
                <c:pt idx="2">
                  <c:v>101.082685606776</c:v>
                </c:pt>
                <c:pt idx="3">
                  <c:v>63.92444617999999</c:v>
                </c:pt>
                <c:pt idx="4">
                  <c:v>541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Arial"/>
        </a:defRPr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Approved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cat>
            <c:strRef>
              <c:f>Sheet1!$A$2:$A$8</c:f>
              <c:strCache>
                <c:ptCount val="7"/>
                <c:pt idx="0">
                  <c:v>Pending AP (unpaid)</c:v>
                </c:pt>
                <c:pt idx="1">
                  <c:v>Paid after cut-off, awaiting SAP</c:v>
                </c:pt>
                <c:pt idx="2">
                  <c:v>Pending Treasury (unpaid)</c:v>
                </c:pt>
                <c:pt idx="3">
                  <c:v>Paid per log, not yet in SAP</c:v>
                </c:pt>
                <c:pt idx="4">
                  <c:v>Paid, SAP clearing reversed</c:v>
                </c:pt>
                <c:pt idx="5">
                  <c:v>Paid per log, no date</c:v>
                </c:pt>
                <c:pt idx="6">
                  <c:v>Cancelled – to review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44.0</c:v>
                </c:pt>
                <c:pt idx="1">
                  <c:v>23.8</c:v>
                </c:pt>
                <c:pt idx="2">
                  <c:v>13.2</c:v>
                </c:pt>
                <c:pt idx="3">
                  <c:v>11.3</c:v>
                </c:pt>
                <c:pt idx="4">
                  <c:v>2.3</c:v>
                </c:pt>
                <c:pt idx="5">
                  <c:v>0.8</c:v>
                </c:pt>
                <c:pt idx="6">
                  <c:v>0.2</c:v>
                </c:pt>
              </c:numCache>
            </c:numRef>
          </c:val>
        </c:ser>
        <c:dLbls>
          <c:numFmt formatCode="#,##0.0;−#,##0.0;&quot;&quot;" sourceLinked="0"/>
          <c:txPr>
            <a:bodyPr/>
            <a:lstStyle/>
            <a:p>
              <a:pPr>
                <a:defRPr sz="8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4411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2"/>
              <c:delete val="1"/>
            </c:dLbl>
            <c:dLbl>
              <c:idx val="3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721.0</c:v>
                </c:pt>
                <c:pt idx="1">
                  <c:v>71.0</c:v>
                </c:pt>
                <c:pt idx="2">
                  <c:v>16.0</c:v>
                </c:pt>
                <c:pt idx="3">
                  <c:v>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Parked Invoice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431.0</c:v>
                </c:pt>
                <c:pt idx="1">
                  <c:v>184.0</c:v>
                </c:pt>
                <c:pt idx="2">
                  <c:v>303.0</c:v>
                </c:pt>
                <c:pt idx="3">
                  <c:v>118.0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Downpayment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1F2A37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262.0</c:v>
                </c:pt>
                <c:pt idx="1">
                  <c:v>8.0</c:v>
                </c:pt>
                <c:pt idx="2">
                  <c:v>27.0</c:v>
                </c:pt>
                <c:pt idx="3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Maturities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Sheet1!$A$2:$A$15</c:f>
              <c:strCache>
                <c:ptCount val="14"/>
                <c:pt idx="0">
                  <c:v>Oct-26</c:v>
                </c:pt>
                <c:pt idx="1">
                  <c:v>Nov-26</c:v>
                </c:pt>
                <c:pt idx="2">
                  <c:v>Dec-26</c:v>
                </c:pt>
                <c:pt idx="3">
                  <c:v>Jan-27</c:v>
                </c:pt>
                <c:pt idx="4">
                  <c:v>Feb-27</c:v>
                </c:pt>
                <c:pt idx="5">
                  <c:v>Mar-27</c:v>
                </c:pt>
                <c:pt idx="6">
                  <c:v>Apr-27</c:v>
                </c:pt>
                <c:pt idx="7">
                  <c:v>May-27</c:v>
                </c:pt>
                <c:pt idx="8">
                  <c:v>Jun-27</c:v>
                </c:pt>
                <c:pt idx="9">
                  <c:v>Jul-27</c:v>
                </c:pt>
                <c:pt idx="10">
                  <c:v>Aug-27</c:v>
                </c:pt>
                <c:pt idx="11">
                  <c:v>Sep-27</c:v>
                </c:pt>
                <c:pt idx="12">
                  <c:v>Oct-27</c:v>
                </c:pt>
                <c:pt idx="13">
                  <c:v>Nov-27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156.0</c:v>
                </c:pt>
                <c:pt idx="1">
                  <c:v>344.0</c:v>
                </c:pt>
                <c:pt idx="2">
                  <c:v>130.0</c:v>
                </c:pt>
                <c:pt idx="3">
                  <c:v>358.0</c:v>
                </c:pt>
                <c:pt idx="4">
                  <c:v>22.0</c:v>
                </c:pt>
                <c:pt idx="5">
                  <c:v>122.0</c:v>
                </c:pt>
                <c:pt idx="6">
                  <c:v>0.0</c:v>
                </c:pt>
                <c:pt idx="7">
                  <c:v>0.0</c:v>
                </c:pt>
                <c:pt idx="8">
                  <c:v>70.0</c:v>
                </c:pt>
                <c:pt idx="9">
                  <c:v>334.0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47.0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Encours</c:v>
                </c:pt>
              </c:strCache>
            </c:strRef>
          </c:tx>
          <c:spPr>
            <a:solidFill>
              <a:srgbClr val="3A9C8C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Amount to be split by delivery</c:v>
                </c:pt>
                <c:pt idx="1">
                  <c:v>24-month rescheduling to finalise</c:v>
                </c:pt>
                <c:pt idx="2">
                  <c:v>No action recorded</c:v>
                </c:pt>
                <c:pt idx="3">
                  <c:v>Awaiting LC copy from buyer</c:v>
                </c:pt>
                <c:pt idx="4">
                  <c:v>Remaining payment pushed to 2027</c:v>
                </c:pt>
                <c:pt idx="5">
                  <c:v>Awaiting JESA response (suspension)</c:v>
                </c:pt>
                <c:pt idx="6">
                  <c:v>Finance to check with bank</c:v>
                </c:pt>
                <c:pt idx="7">
                  <c:v>LC to close</c:v>
                </c:pt>
                <c:pt idx="8">
                  <c:v>Other actions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449.0</c:v>
                </c:pt>
                <c:pt idx="1">
                  <c:v>386.0</c:v>
                </c:pt>
                <c:pt idx="2">
                  <c:v>286.0</c:v>
                </c:pt>
                <c:pt idx="3">
                  <c:v>164.0</c:v>
                </c:pt>
                <c:pt idx="4">
                  <c:v>102.0</c:v>
                </c:pt>
                <c:pt idx="5">
                  <c:v>76.0</c:v>
                </c:pt>
                <c:pt idx="6">
                  <c:v>30.0</c:v>
                </c:pt>
                <c:pt idx="7">
                  <c:v>27.0</c:v>
                </c:pt>
                <c:pt idx="8">
                  <c:v>64.0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1514.833461418898</c:v>
                </c:pt>
                <c:pt idx="1">
                  <c:v>879.821554311496</c:v>
                </c:pt>
                <c:pt idx="2">
                  <c:v>172.2599169032063</c:v>
                </c:pt>
                <c:pt idx="3">
                  <c:v>16.01562512455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275.4748179027065</c:v>
                </c:pt>
                <c:pt idx="1">
                  <c:v>24.18765480946</c:v>
                </c:pt>
                <c:pt idx="2">
                  <c:v>32.2346680608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Ordonnancement</c:v>
                </c:pt>
                <c:pt idx="1">
                  <c:v>Missing reception</c:v>
                </c:pt>
                <c:pt idx="2">
                  <c:v>Treasury</c:v>
                </c:pt>
                <c:pt idx="3">
                  <c:v>Other</c:v>
                </c:pt>
                <c:pt idx="4">
                  <c:v>Rejected</c:v>
                </c:pt>
                <c:pt idx="5">
                  <c:v>OCP subs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177.0</c:v>
                </c:pt>
                <c:pt idx="1">
                  <c:v>52.0</c:v>
                </c:pt>
                <c:pt idx="2">
                  <c:v>52.0</c:v>
                </c:pt>
                <c:pt idx="3">
                  <c:v>27.0</c:v>
                </c:pt>
                <c:pt idx="4">
                  <c:v>24.0</c:v>
                </c:pt>
                <c:pt idx="5">
                  <c:v>1.0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110.0</c:v>
                </c:pt>
                <c:pt idx="1">
                  <c:v>139.0</c:v>
                </c:pt>
                <c:pt idx="2">
                  <c:v>83.0</c:v>
                </c:pt>
                <c:pt idx="3">
                  <c:v>109.0</c:v>
                </c:pt>
                <c:pt idx="4">
                  <c:v>2142.0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33.0</c:v>
                </c:pt>
                <c:pt idx="1">
                  <c:v>53.0</c:v>
                </c:pt>
                <c:pt idx="2">
                  <c:v>1.0</c:v>
                </c:pt>
                <c:pt idx="3">
                  <c:v>30.0</c:v>
                </c:pt>
                <c:pt idx="4">
                  <c:v>214.0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50.0</c:v>
                </c:pt>
                <c:pt idx="1">
                  <c:v>0.0</c:v>
                </c:pt>
                <c:pt idx="2">
                  <c:v>96.0</c:v>
                </c:pt>
                <c:pt idx="3">
                  <c:v>22.0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334.0</c:v>
                </c:pt>
                <c:pt idx="1">
                  <c:v>0.0</c:v>
                </c:pt>
                <c:pt idx="2">
                  <c:v>150.0</c:v>
                </c:pt>
                <c:pt idx="3">
                  <c:v>859.0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332.0</c:v>
                </c:pt>
                <c:pt idx="1">
                  <c:v>0.0</c:v>
                </c:pt>
                <c:pt idx="2">
                  <c:v>1.0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1758.133196524791</c:v>
                </c:pt>
                <c:pt idx="1">
                  <c:v>513.7128624382163</c:v>
                </c:pt>
                <c:pt idx="2">
                  <c:v>218.7233831843153</c:v>
                </c:pt>
                <c:pt idx="3">
                  <c:v>65.43014347000002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398.8785848512981</c:v>
                </c:pt>
                <c:pt idx="1">
                  <c:v>183.563917609</c:v>
                </c:pt>
                <c:pt idx="2">
                  <c:v>53.25067778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Rejected</c:v>
                </c:pt>
                <c:pt idx="1">
                  <c:v>Non-OCP / OCP sub (…</c:v>
                </c:pt>
                <c:pt idx="2">
                  <c:v>Treasury</c:v>
                </c:pt>
                <c:pt idx="3">
                  <c:v>Other</c:v>
                </c:pt>
                <c:pt idx="4">
                  <c:v>Missing reception</c:v>
                </c:pt>
                <c:pt idx="5">
                  <c:v>Ordonnancement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184.0</c:v>
                </c:pt>
                <c:pt idx="1">
                  <c:v>163.0</c:v>
                </c:pt>
                <c:pt idx="2">
                  <c:v>141.0</c:v>
                </c:pt>
                <c:pt idx="3">
                  <c:v>105.0</c:v>
                </c:pt>
                <c:pt idx="4">
                  <c:v>32.0</c:v>
                </c:pt>
                <c:pt idx="5">
                  <c:v>9.0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114.0</c:v>
                </c:pt>
                <c:pt idx="1">
                  <c:v>68.0</c:v>
                </c:pt>
                <c:pt idx="2">
                  <c:v>125.0</c:v>
                </c:pt>
                <c:pt idx="3">
                  <c:v>52.0</c:v>
                </c:pt>
                <c:pt idx="4">
                  <c:v>2195.0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63.0</c:v>
                </c:pt>
                <c:pt idx="1">
                  <c:v>53.0</c:v>
                </c:pt>
                <c:pt idx="2">
                  <c:v>64.0</c:v>
                </c:pt>
                <c:pt idx="3">
                  <c:v>79.0</c:v>
                </c:pt>
                <c:pt idx="4">
                  <c:v>377.0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73.0</c:v>
                </c:pt>
                <c:pt idx="1">
                  <c:v>20.0</c:v>
                </c:pt>
                <c:pt idx="2">
                  <c:v>112.0</c:v>
                </c:pt>
                <c:pt idx="3">
                  <c:v>173.0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296.0</c:v>
                </c:pt>
                <c:pt idx="1">
                  <c:v>0.0</c:v>
                </c:pt>
                <c:pt idx="2">
                  <c:v>371.0</c:v>
                </c:pt>
                <c:pt idx="3">
                  <c:v>310.0</c:v>
                </c:pt>
                <c:pt idx="4">
                  <c:v>2.0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2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20.0</c:v>
                </c:pt>
                <c:pt idx="1">
                  <c:v>41.0</c:v>
                </c:pt>
                <c:pt idx="2">
                  <c:v>12.0</c:v>
                </c:pt>
                <c:pt idx="3">
                  <c:v>20.0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296.0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2395.844985099107</c:v>
                </c:pt>
                <c:pt idx="1">
                  <c:v>0.68943248</c:v>
                </c:pt>
                <c:pt idx="2">
                  <c:v>303.1807808399995</c:v>
                </c:pt>
                <c:pt idx="3">
                  <c:v>20.55986176999998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56.08578092</c:v>
                </c:pt>
                <c:pt idx="1">
                  <c:v>387.73355299</c:v>
                </c:pt>
                <c:pt idx="2">
                  <c:v>1.649866900000006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Rejected</c:v>
                </c:pt>
                <c:pt idx="1">
                  <c:v>Treasury</c:v>
                </c:pt>
                <c:pt idx="2">
                  <c:v>Other</c:v>
                </c:pt>
                <c:pt idx="3">
                  <c:v>Being processed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388.0</c:v>
                </c:pt>
                <c:pt idx="1">
                  <c:v>53.0</c:v>
                </c:pt>
                <c:pt idx="2">
                  <c:v>3.0</c:v>
                </c:pt>
                <c:pt idx="3">
                  <c:v>2.0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115.0</c:v>
                </c:pt>
                <c:pt idx="1">
                  <c:v>160.0</c:v>
                </c:pt>
                <c:pt idx="2">
                  <c:v>266.0</c:v>
                </c:pt>
                <c:pt idx="3">
                  <c:v>239.0</c:v>
                </c:pt>
                <c:pt idx="4">
                  <c:v>1941.0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2.0</c:v>
                </c:pt>
                <c:pt idx="1">
                  <c:v>53.0</c:v>
                </c:pt>
                <c:pt idx="2">
                  <c:v>0.0</c:v>
                </c:pt>
                <c:pt idx="3">
                  <c:v>12.0</c:v>
                </c:pt>
                <c:pt idx="4">
                  <c:v>379.0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48.0</c:v>
                </c:pt>
                <c:pt idx="1">
                  <c:v>0.0</c:v>
                </c:pt>
                <c:pt idx="2">
                  <c:v>1061.0</c:v>
                </c:pt>
                <c:pt idx="3">
                  <c:v>291.0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175.0</c:v>
                </c:pt>
                <c:pt idx="1">
                  <c:v>0.0</c:v>
                </c:pt>
                <c:pt idx="2">
                  <c:v>1696.0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36.0</c:v>
                </c:pt>
                <c:pt idx="2">
                  <c:v>12.0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175.0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698.8850559242986</c:v>
                </c:pt>
                <c:pt idx="1">
                  <c:v>0.0</c:v>
                </c:pt>
                <c:pt idx="2">
                  <c:v>0.0</c:v>
                </c:pt>
                <c:pt idx="3">
                  <c:v>1.41922638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103.1182487199999</c:v>
                </c:pt>
                <c:pt idx="1">
                  <c:v>0.0</c:v>
                </c:pt>
                <c:pt idx="2">
                  <c:v>158.391421685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Treasury</c:v>
                </c:pt>
                <c:pt idx="1">
                  <c:v>Ordonnancement</c:v>
                </c:pt>
                <c:pt idx="2">
                  <c:v>Missing reception</c:v>
                </c:pt>
                <c:pt idx="3">
                  <c:v>Other</c:v>
                </c:pt>
                <c:pt idx="4">
                  <c:v>Being processed</c:v>
                </c:pt>
                <c:pt idx="5">
                  <c:v>OCP subs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183.0</c:v>
                </c:pt>
                <c:pt idx="1">
                  <c:v>25.0</c:v>
                </c:pt>
                <c:pt idx="2">
                  <c:v>22.0</c:v>
                </c:pt>
                <c:pt idx="3">
                  <c:v>13.0</c:v>
                </c:pt>
                <c:pt idx="4">
                  <c:v>12.0</c:v>
                </c:pt>
                <c:pt idx="5">
                  <c:v>6.0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37.0</c:v>
                </c:pt>
                <c:pt idx="1">
                  <c:v>104.0</c:v>
                </c:pt>
                <c:pt idx="2">
                  <c:v>9.0</c:v>
                </c:pt>
                <c:pt idx="3">
                  <c:v>52.0</c:v>
                </c:pt>
                <c:pt idx="4">
                  <c:v>90.0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160.0</c:v>
                </c:pt>
                <c:pt idx="1">
                  <c:v>57.0</c:v>
                </c:pt>
                <c:pt idx="2">
                  <c:v>0.0</c:v>
                </c:pt>
                <c:pt idx="3">
                  <c:v>2.0</c:v>
                </c:pt>
                <c:pt idx="4">
                  <c:v>41.0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80.0</c:v>
                </c:pt>
                <c:pt idx="1">
                  <c:v>4.0</c:v>
                </c:pt>
                <c:pt idx="2">
                  <c:v>1.0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37.0</c:v>
                </c:pt>
                <c:pt idx="1">
                  <c:v>5.0</c:v>
                </c:pt>
                <c:pt idx="2">
                  <c:v>4.0</c:v>
                </c:pt>
                <c:pt idx="3">
                  <c:v>3.0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73.0</c:v>
                </c:pt>
                <c:pt idx="1">
                  <c:v>0.0</c:v>
                </c:pt>
                <c:pt idx="2">
                  <c:v>7.0</c:v>
                </c:pt>
                <c:pt idx="3">
                  <c:v>4.0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33.0</c:v>
                </c:pt>
                <c:pt idx="1">
                  <c:v>1.0</c:v>
                </c:pt>
                <c:pt idx="2">
                  <c:v>3.0</c:v>
                </c:pt>
                <c:pt idx="3">
                  <c:v>5.0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320.7558998199998</c:v>
                </c:pt>
                <c:pt idx="1">
                  <c:v>36.60798698999999</c:v>
                </c:pt>
                <c:pt idx="2">
                  <c:v>7.9419595653064</c:v>
                </c:pt>
                <c:pt idx="3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84.02500996</c:v>
                </c:pt>
                <c:pt idx="1">
                  <c:v>0.2207168</c:v>
                </c:pt>
                <c:pt idx="2">
                  <c:v>9.609769380442563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OCP subs</c:v>
                </c:pt>
                <c:pt idx="1">
                  <c:v>Ordonnancement</c:v>
                </c:pt>
                <c:pt idx="2">
                  <c:v>Missing reception</c:v>
                </c:pt>
                <c:pt idx="3">
                  <c:v>Other</c:v>
                </c:pt>
                <c:pt idx="4">
                  <c:v>Treasury</c:v>
                </c:pt>
                <c:pt idx="5">
                  <c:v>Rejected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45.0</c:v>
                </c:pt>
                <c:pt idx="1">
                  <c:v>25.0</c:v>
                </c:pt>
                <c:pt idx="2">
                  <c:v>11.0</c:v>
                </c:pt>
                <c:pt idx="3">
                  <c:v>10.0</c:v>
                </c:pt>
                <c:pt idx="4">
                  <c:v>3.0</c:v>
                </c:pt>
                <c:pt idx="5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17.0</c:v>
                </c:pt>
                <c:pt idx="1">
                  <c:v>11.0</c:v>
                </c:pt>
                <c:pt idx="2">
                  <c:v>52.0</c:v>
                </c:pt>
                <c:pt idx="3">
                  <c:v>0.0</c:v>
                </c:pt>
                <c:pt idx="4">
                  <c:v>283.0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10.0</c:v>
                </c:pt>
                <c:pt idx="1">
                  <c:v>27.0</c:v>
                </c:pt>
                <c:pt idx="2">
                  <c:v>10.0</c:v>
                </c:pt>
                <c:pt idx="3">
                  <c:v>4.0</c:v>
                </c:pt>
                <c:pt idx="4">
                  <c:v>43.0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30.0</c:v>
                </c:pt>
                <c:pt idx="1">
                  <c:v>331.0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4.0</c:v>
                </c:pt>
                <c:pt idx="1">
                  <c:v>0.0</c:v>
                </c:pt>
                <c:pt idx="2">
                  <c:v>26.0</c:v>
                </c:pt>
                <c:pt idx="3">
                  <c:v>331.0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273.3557867714</c:v>
                </c:pt>
                <c:pt idx="1">
                  <c:v>0.0</c:v>
                </c:pt>
                <c:pt idx="2">
                  <c:v>32.18865181340009</c:v>
                </c:pt>
                <c:pt idx="3">
                  <c:v>115.5879811200001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105.91895148941</c:v>
                </c:pt>
                <c:pt idx="1">
                  <c:v>6.598109278571422</c:v>
                </c:pt>
                <c:pt idx="2">
                  <c:v>17.619626319692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Non-OCP / OCP sub (…</c:v>
                </c:pt>
                <c:pt idx="1">
                  <c:v>Treasury</c:v>
                </c:pt>
                <c:pt idx="2">
                  <c:v>Ordonnancement</c:v>
                </c:pt>
                <c:pt idx="3">
                  <c:v>Other</c:v>
                </c:pt>
                <c:pt idx="4">
                  <c:v>Rejected</c:v>
                </c:pt>
                <c:pt idx="5">
                  <c:v>Missing reception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81.0</c:v>
                </c:pt>
                <c:pt idx="1">
                  <c:v>17.0</c:v>
                </c:pt>
                <c:pt idx="2">
                  <c:v>12.0</c:v>
                </c:pt>
                <c:pt idx="3">
                  <c:v>11.0</c:v>
                </c:pt>
                <c:pt idx="4">
                  <c:v>7.0</c:v>
                </c:pt>
                <c:pt idx="5">
                  <c:v>2.0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47.0</c:v>
                </c:pt>
                <c:pt idx="1">
                  <c:v>10.0</c:v>
                </c:pt>
                <c:pt idx="2">
                  <c:v>11.0</c:v>
                </c:pt>
                <c:pt idx="3">
                  <c:v>25.0</c:v>
                </c:pt>
                <c:pt idx="4">
                  <c:v>328.0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18.0</c:v>
                </c:pt>
                <c:pt idx="1">
                  <c:v>53.0</c:v>
                </c:pt>
                <c:pt idx="2">
                  <c:v>3.0</c:v>
                </c:pt>
                <c:pt idx="3">
                  <c:v>2.0</c:v>
                </c:pt>
                <c:pt idx="4">
                  <c:v>56.0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6.0</c:v>
                </c:pt>
                <c:pt idx="1">
                  <c:v>0.0</c:v>
                </c:pt>
                <c:pt idx="2">
                  <c:v>5.0</c:v>
                </c:pt>
                <c:pt idx="3">
                  <c:v>11.0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42.0</c:v>
                </c:pt>
                <c:pt idx="1">
                  <c:v>0.0</c:v>
                </c:pt>
                <c:pt idx="2">
                  <c:v>15.0</c:v>
                </c:pt>
                <c:pt idx="3">
                  <c:v>76.0</c:v>
                </c:pt>
                <c:pt idx="4">
                  <c:v>3.0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24.0</c:v>
                </c:pt>
                <c:pt idx="1">
                  <c:v>18.0</c:v>
                </c:pt>
                <c:pt idx="2">
                  <c:v>0.0</c:v>
                </c:pt>
                <c:pt idx="3">
                  <c:v>3.0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108.39274161</c:v>
                </c:pt>
                <c:pt idx="1">
                  <c:v>0.0</c:v>
                </c:pt>
                <c:pt idx="2">
                  <c:v>36.25880292000014</c:v>
                </c:pt>
                <c:pt idx="3">
                  <c:v>0.425162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5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330.868192730476</c:v>
                </c:pt>
                <c:pt idx="1">
                  <c:v>0.0</c:v>
                </c:pt>
                <c:pt idx="2">
                  <c:v>11.12884361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5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OCP subs</c:v>
                </c:pt>
                <c:pt idx="1">
                  <c:v>Other</c:v>
                </c:pt>
                <c:pt idx="2">
                  <c:v>Ordonnancement</c:v>
                </c:pt>
                <c:pt idx="3">
                  <c:v>Missing reception</c:v>
                </c:pt>
                <c:pt idx="4">
                  <c:v>Rejected</c:v>
                </c:pt>
                <c:pt idx="5">
                  <c:v>Treasury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302.0</c:v>
                </c:pt>
                <c:pt idx="1">
                  <c:v>22.0</c:v>
                </c:pt>
                <c:pt idx="2">
                  <c:v>14.0</c:v>
                </c:pt>
                <c:pt idx="3">
                  <c:v>3.0</c:v>
                </c:pt>
                <c:pt idx="4">
                  <c:v>1.0</c:v>
                </c:pt>
                <c:pt idx="5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16.0</c:v>
                </c:pt>
                <c:pt idx="1">
                  <c:v>8.0</c:v>
                </c:pt>
                <c:pt idx="2">
                  <c:v>19.0</c:v>
                </c:pt>
                <c:pt idx="3">
                  <c:v>13.0</c:v>
                </c:pt>
                <c:pt idx="4">
                  <c:v>89.0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11.0</c:v>
                </c:pt>
                <c:pt idx="1">
                  <c:v>3.0</c:v>
                </c:pt>
                <c:pt idx="2">
                  <c:v>2.0</c:v>
                </c:pt>
                <c:pt idx="3">
                  <c:v>12.0</c:v>
                </c:pt>
                <c:pt idx="4">
                  <c:v>313.0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48.0</c:v>
                </c:pt>
                <c:pt idx="1">
                  <c:v>2.0</c:v>
                </c:pt>
                <c:pt idx="2">
                  <c:v>1.0</c:v>
                </c:pt>
                <c:pt idx="3">
                  <c:v>6.0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5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1.0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43.0</c:v>
                </c:pt>
                <c:pt idx="1">
                  <c:v>0.0</c:v>
                </c:pt>
                <c:pt idx="2">
                  <c:v>5.0</c:v>
                </c:pt>
                <c:pt idx="3">
                  <c:v>2.0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4.892148413371475</c:v>
                </c:pt>
                <c:pt idx="1">
                  <c:v>0.0</c:v>
                </c:pt>
                <c:pt idx="2">
                  <c:v>2.386849003392</c:v>
                </c:pt>
                <c:pt idx="3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6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93.72287720217099</c:v>
                </c:pt>
                <c:pt idx="1">
                  <c:v>1.27293828302</c:v>
                </c:pt>
                <c:pt idx="2">
                  <c:v>4.357662997185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6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Other</c:v>
                </c:pt>
                <c:pt idx="1">
                  <c:v>Treasury</c:v>
                </c:pt>
                <c:pt idx="2">
                  <c:v>Missing reception</c:v>
                </c:pt>
                <c:pt idx="3">
                  <c:v>Rejected</c:v>
                </c:pt>
                <c:pt idx="4">
                  <c:v>Being processed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84.0</c:v>
                </c:pt>
                <c:pt idx="1">
                  <c:v>9.0</c:v>
                </c:pt>
                <c:pt idx="2">
                  <c:v>5.0</c:v>
                </c:pt>
                <c:pt idx="3">
                  <c:v>1.0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-0.0</c:v>
                </c:pt>
                <c:pt idx="1">
                  <c:v>3.0</c:v>
                </c:pt>
                <c:pt idx="2">
                  <c:v>1.0</c:v>
                </c:pt>
                <c:pt idx="3">
                  <c:v>-3.0</c:v>
                </c:pt>
                <c:pt idx="4">
                  <c:v>7.0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4.0</c:v>
                </c:pt>
                <c:pt idx="1">
                  <c:v>0.0</c:v>
                </c:pt>
                <c:pt idx="2">
                  <c:v>42.0</c:v>
                </c:pt>
                <c:pt idx="3">
                  <c:v>34.0</c:v>
                </c:pt>
                <c:pt idx="4">
                  <c:v>18.0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3.0</c:v>
                </c:pt>
                <c:pt idx="1">
                  <c:v>0.0</c:v>
                </c:pt>
                <c:pt idx="2">
                  <c:v>249.0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Pending approval</c:v>
                </c:pt>
                <c:pt idx="1">
                  <c:v>Signed by client</c:v>
                </c:pt>
                <c:pt idx="2">
                  <c:v>Pending submission</c:v>
                </c:pt>
                <c:pt idx="3">
                  <c:v>Under CN</c:v>
                </c:pt>
                <c:pt idx="4">
                  <c:v>At risk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Equipment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</c:v>
                </c:pt>
                <c:pt idx="1">
                  <c:v>3.0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Subcontracts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dLbls>
            <c:dLbl>
              <c:idx val="0"/>
              <c:delete val="1"/>
            </c:dLbl>
            <c:dLbl>
              <c:idx val="1"/>
              <c:delete val="1"/>
            </c:dLbl>
            <c:dLbl>
              <c:idx val="2"/>
              <c:delete val="1"/>
            </c:dLbl>
            <c:dLbl>
              <c:idx val="3"/>
              <c:delete val="1"/>
            </c:dLbl>
            <c:dLbl>
              <c:idx val="4"/>
              <c:delete val="1"/>
            </c:dLbl>
            <c:numFmt formatCode="#,##0;−#,##0;&quot;&quot;" sourceLinked="0"/>
            <c:txPr>
              <a:bodyPr/>
              <a:lstStyle/>
              <a:p>
                <a:pPr>
                  <a:defRPr sz="800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Under JESA approval</c:v>
                </c:pt>
                <c:pt idx="1">
                  <c:v>Under JESA preparation</c:v>
                </c:pt>
                <c:pt idx="2">
                  <c:v>Under client approval</c:v>
                </c:pt>
                <c:pt idx="3">
                  <c:v>Signed by client</c:v>
                </c:pt>
                <c:pt idx="4">
                  <c:v>Accrual posted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8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3A9C8C"/>
              </a:solidFill>
              <a:ln>
                <a:noFill/>
              </a:ln>
            </c:spPr>
          </c:dPt>
          <c:dPt>
            <c:idx val="2"/>
            <c:spPr>
              <a:solidFill>
                <a:srgbClr val="C9DDEE"/>
              </a:solidFill>
              <a:ln>
                <a:noFill/>
              </a:ln>
            </c:spPr>
          </c:dPt>
          <c:dPt>
            <c:idx val="3"/>
            <c:spPr>
              <a:solidFill>
                <a:srgbClr val="B5473A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Under OCP</c:v>
                </c:pt>
                <c:pt idx="1">
                  <c:v>SS postponed</c:v>
                </c:pt>
                <c:pt idx="2">
                  <c:v>Under JESA</c:v>
                </c:pt>
                <c:pt idx="3">
                  <c:v>At risk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27.89248495</c:v>
                </c:pt>
                <c:pt idx="1">
                  <c:v>0.0</c:v>
                </c:pt>
                <c:pt idx="2">
                  <c:v>13.6966085955</c:v>
                </c:pt>
                <c:pt idx="3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6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dPt>
            <c:idx val="0"/>
            <c:spPr>
              <a:solidFill>
                <a:srgbClr val="0F3B63"/>
              </a:solidFill>
              <a:ln>
                <a:noFill/>
              </a:ln>
            </c:spPr>
          </c:dPt>
          <c:dPt>
            <c:idx val="1"/>
            <c:spPr>
              <a:solidFill>
                <a:srgbClr val="C9DDEE"/>
              </a:solidFill>
              <a:ln>
                <a:noFill/>
              </a:ln>
            </c:spPr>
          </c:dPt>
          <c:dPt>
            <c:idx val="2"/>
            <c:spPr>
              <a:solidFill>
                <a:srgbClr val="7A8794"/>
              </a:solidFill>
              <a:ln>
                <a:noFill/>
              </a:ln>
            </c:spPr>
          </c:dPt>
          <c:cat>
            <c:strRef>
              <c:f>Sheet1!$A$2:$A$4</c:f>
              <c:strCache>
                <c:ptCount val="3"/>
                <c:pt idx="0">
                  <c:v>Past due</c:v>
                </c:pt>
                <c:pt idx="1">
                  <c:v>Rejected</c:v>
                </c:pt>
                <c:pt idx="2">
                  <c:v>Current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20.0097067618</c:v>
                </c:pt>
                <c:pt idx="1">
                  <c:v>0.0</c:v>
                </c:pt>
                <c:pt idx="2">
                  <c:v>8.241983000000001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charts/chart6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Unpaid by phase (MMAD)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Other</c:v>
                </c:pt>
                <c:pt idx="1">
                  <c:v>Rejected</c:v>
                </c:pt>
                <c:pt idx="2">
                  <c:v>Missing reception</c:v>
                </c:pt>
                <c:pt idx="3">
                  <c:v>Treasury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19.0</c:v>
                </c:pt>
                <c:pt idx="1">
                  <c:v>6.0</c:v>
                </c:pt>
                <c:pt idx="2">
                  <c:v>3.0</c:v>
                </c:pt>
                <c:pt idx="3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3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5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6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Aging – unbilled vs unpaid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Unbilled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8.0</c:v>
                </c:pt>
                <c:pt idx="1">
                  <c:v>3.0</c:v>
                </c:pt>
                <c:pt idx="2">
                  <c:v>5.0</c:v>
                </c:pt>
                <c:pt idx="3">
                  <c:v>2.0</c:v>
                </c:pt>
                <c:pt idx="4">
                  <c:v>24.0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Unpaid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&lt; 30 days</c:v>
                </c:pt>
                <c:pt idx="1">
                  <c:v>31–60 days</c:v>
                </c:pt>
                <c:pt idx="2">
                  <c:v>61–90 days</c:v>
                </c:pt>
                <c:pt idx="3">
                  <c:v>91–120 days</c:v>
                </c:pt>
                <c:pt idx="4">
                  <c:v>&gt; 120 days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6.0</c:v>
                </c:pt>
                <c:pt idx="1">
                  <c:v>0.0</c:v>
                </c:pt>
                <c:pt idx="2">
                  <c:v>3.0</c:v>
                </c:pt>
                <c:pt idx="3">
                  <c:v>10.0</c:v>
                </c:pt>
                <c:pt idx="4">
                  <c:v>8.0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0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7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charts/chart7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B2F4B"/>
                </a:solidFill>
              </a:rPr>
              <a:t>Due-date buckets by origin (MMAD)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4411</c:v>
                </c:pt>
              </c:strCache>
            </c:strRef>
          </c:tx>
          <c:spPr>
            <a:solidFill>
              <a:srgbClr val="0F3B63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721.0</c:v>
                </c:pt>
                <c:pt idx="1">
                  <c:v>71.0</c:v>
                </c:pt>
                <c:pt idx="2">
                  <c:v>16.0</c:v>
                </c:pt>
                <c:pt idx="3">
                  <c:v>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Parked Invoice</c:v>
                </c:pt>
              </c:strCache>
            </c:strRef>
          </c:tx>
          <c:spPr>
            <a:solidFill>
              <a:srgbClr val="2E6DA4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431.0</c:v>
                </c:pt>
                <c:pt idx="1">
                  <c:v>184.0</c:v>
                </c:pt>
                <c:pt idx="2">
                  <c:v>303.0</c:v>
                </c:pt>
                <c:pt idx="3">
                  <c:v>118.0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Downpayment</c:v>
                </c:pt>
              </c:strCache>
            </c:strRef>
          </c:tx>
          <c:spPr>
            <a:solidFill>
              <a:srgbClr val="C8972B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Overdue</c:v>
                </c:pt>
                <c:pt idx="1">
                  <c:v>Due ≤ 30d</c:v>
                </c:pt>
                <c:pt idx="2">
                  <c:v>Due 31–60d</c:v>
                </c:pt>
                <c:pt idx="3">
                  <c:v>Due &gt; 60d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262.0</c:v>
                </c:pt>
                <c:pt idx="1">
                  <c:v>8.0</c:v>
                </c:pt>
                <c:pt idx="2">
                  <c:v>27.0</c:v>
                </c:pt>
                <c:pt idx="3">
                  <c:v>0.0</c:v>
                </c:pt>
              </c:numCache>
            </c:numRef>
          </c:val>
        </c:ser>
        <c:dLbls>
          <c:numFmt formatCode="#,##0;−#,##0;&quot;&quot;" sourceLinked="0"/>
          <c:txPr>
            <a:bodyPr/>
            <a:lstStyle/>
            <a:p>
              <a:pPr>
                <a:defRPr sz="750">
                  <a:solidFill>
                    <a:srgbClr val="1F2A37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C8D2"/>
            </a:solidFill>
          </a:ln>
        </c:spPr>
        <c:txPr>
          <a:bodyPr/>
          <a:lstStyle/>
          <a:p>
            <a:pPr>
              <a:defRPr sz="800">
                <a:solidFill>
                  <a:srgbClr val="1F2A37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>
              <a:latin typeface="Arial"/>
            </a:defRPr>
          </a:pPr>
        </a:p>
      </c:txPr>
    </c:legend>
    <c:dispBlanksAs val="gap"/>
  </c:chart>
  <c:txPr>
    <a:bodyPr/>
    <a:lstStyle/>
    <a:p>
      <a:pPr>
        <a:defRPr sz="900">
          <a:latin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Relationship Id="rId3" Type="http://schemas.openxmlformats.org/officeDocument/2006/relationships/chart" Target="../charts/chart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Relationship Id="rId3" Type="http://schemas.openxmlformats.org/officeDocument/2006/relationships/chart" Target="../charts/char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6.xml"/><Relationship Id="rId3" Type="http://schemas.openxmlformats.org/officeDocument/2006/relationships/chart" Target="../charts/chart1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8.xml"/><Relationship Id="rId3" Type="http://schemas.openxmlformats.org/officeDocument/2006/relationships/chart" Target="../charts/chart19.xml"/><Relationship Id="rId4" Type="http://schemas.openxmlformats.org/officeDocument/2006/relationships/chart" Target="../charts/chart20.xml"/><Relationship Id="rId5" Type="http://schemas.openxmlformats.org/officeDocument/2006/relationships/chart" Target="../charts/chart2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2.xml"/><Relationship Id="rId3" Type="http://schemas.openxmlformats.org/officeDocument/2006/relationships/chart" Target="../charts/chart2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4.xml"/><Relationship Id="rId3" Type="http://schemas.openxmlformats.org/officeDocument/2006/relationships/chart" Target="../charts/chart25.xml"/><Relationship Id="rId4" Type="http://schemas.openxmlformats.org/officeDocument/2006/relationships/chart" Target="../charts/chart26.xml"/><Relationship Id="rId5" Type="http://schemas.openxmlformats.org/officeDocument/2006/relationships/chart" Target="../charts/chart2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8.xml"/><Relationship Id="rId3" Type="http://schemas.openxmlformats.org/officeDocument/2006/relationships/chart" Target="../charts/chart2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0.xml"/><Relationship Id="rId3" Type="http://schemas.openxmlformats.org/officeDocument/2006/relationships/chart" Target="../charts/chart31.xml"/><Relationship Id="rId4" Type="http://schemas.openxmlformats.org/officeDocument/2006/relationships/chart" Target="../charts/chart32.xml"/><Relationship Id="rId5" Type="http://schemas.openxmlformats.org/officeDocument/2006/relationships/chart" Target="../charts/chart3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4.xml"/><Relationship Id="rId3" Type="http://schemas.openxmlformats.org/officeDocument/2006/relationships/chart" Target="../charts/chart3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6.xml"/><Relationship Id="rId3" Type="http://schemas.openxmlformats.org/officeDocument/2006/relationships/chart" Target="../charts/chart37.xml"/><Relationship Id="rId4" Type="http://schemas.openxmlformats.org/officeDocument/2006/relationships/chart" Target="../charts/chart38.xml"/><Relationship Id="rId5" Type="http://schemas.openxmlformats.org/officeDocument/2006/relationships/chart" Target="../charts/chart3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0.xml"/><Relationship Id="rId3" Type="http://schemas.openxmlformats.org/officeDocument/2006/relationships/chart" Target="../charts/chart4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2.xml"/><Relationship Id="rId3" Type="http://schemas.openxmlformats.org/officeDocument/2006/relationships/chart" Target="../charts/chart43.xml"/><Relationship Id="rId4" Type="http://schemas.openxmlformats.org/officeDocument/2006/relationships/chart" Target="../charts/chart44.xml"/><Relationship Id="rId5" Type="http://schemas.openxmlformats.org/officeDocument/2006/relationships/chart" Target="../charts/chart4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6.xml"/><Relationship Id="rId3" Type="http://schemas.openxmlformats.org/officeDocument/2006/relationships/chart" Target="../charts/chart4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8.xml"/><Relationship Id="rId3" Type="http://schemas.openxmlformats.org/officeDocument/2006/relationships/chart" Target="../charts/chart49.xml"/><Relationship Id="rId4" Type="http://schemas.openxmlformats.org/officeDocument/2006/relationships/chart" Target="../charts/chart50.xml"/><Relationship Id="rId5" Type="http://schemas.openxmlformats.org/officeDocument/2006/relationships/chart" Target="../charts/chart5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2.xml"/><Relationship Id="rId3" Type="http://schemas.openxmlformats.org/officeDocument/2006/relationships/chart" Target="../charts/chart5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4.xml"/><Relationship Id="rId3" Type="http://schemas.openxmlformats.org/officeDocument/2006/relationships/chart" Target="../charts/chart55.xml"/><Relationship Id="rId4" Type="http://schemas.openxmlformats.org/officeDocument/2006/relationships/chart" Target="../charts/chart56.xml"/><Relationship Id="rId5" Type="http://schemas.openxmlformats.org/officeDocument/2006/relationships/chart" Target="../charts/chart5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8.xml"/><Relationship Id="rId3" Type="http://schemas.openxmlformats.org/officeDocument/2006/relationships/chart" Target="../charts/chart5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0.xml"/><Relationship Id="rId3" Type="http://schemas.openxmlformats.org/officeDocument/2006/relationships/chart" Target="../charts/chart61.xml"/><Relationship Id="rId4" Type="http://schemas.openxmlformats.org/officeDocument/2006/relationships/chart" Target="../charts/chart62.xml"/><Relationship Id="rId5" Type="http://schemas.openxmlformats.org/officeDocument/2006/relationships/chart" Target="../charts/chart6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4.xml"/><Relationship Id="rId3" Type="http://schemas.openxmlformats.org/officeDocument/2006/relationships/chart" Target="../charts/chart6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6.xml"/><Relationship Id="rId3" Type="http://schemas.openxmlformats.org/officeDocument/2006/relationships/chart" Target="../charts/chart67.xml"/><Relationship Id="rId4" Type="http://schemas.openxmlformats.org/officeDocument/2006/relationships/chart" Target="../charts/chart68.xml"/><Relationship Id="rId5" Type="http://schemas.openxmlformats.org/officeDocument/2006/relationships/chart" Target="../charts/chart6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8229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C8972B"/>
                </a:solidFill>
                <a:latin typeface="Arial"/>
              </a:rPr>
              <a:t>JESA  ·  ACCOUNTS RECEIVABLE, CASH &amp; PAYABLES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10515600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4400" b="1" i="0">
                <a:solidFill>
                  <a:srgbClr val="1B2F4B"/>
                </a:solidFill>
                <a:latin typeface="Arial"/>
              </a:rPr>
              <a:t>AR, Cash &amp; Payables Position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971800"/>
            <a:ext cx="1737360" cy="36576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82296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B2F4B"/>
                </a:solidFill>
                <a:latin typeface="Arial"/>
              </a:rPr>
              <a:t>Weekly Executive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61188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0" i="0">
                <a:solidFill>
                  <a:srgbClr val="6B7B8C"/>
                </a:solidFill>
                <a:latin typeface="Arial"/>
              </a:rPr>
              <a:t>Deck as of 21 Oct 2026   ·   AR snapshot 20 Oct 2026 (vs 14 Oct 2026 and 07 Oct 2026 baseline)   ·   Cash to 19/10   ·   Figures in MMAD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4320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B54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GROSS EXPOSURE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19,523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035040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vs 14-Oct:  −334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33117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24557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UNRECOGNIZED REVENUE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24557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7,128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24557" y="6035040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vs 14-Oct:  −40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6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83354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TOTAL 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83354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12,395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83354" y="6035040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vs 14-Oct:  −294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0711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3A9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2151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UNBILLED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42151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9,477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2151" y="6035040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vs 14-Oct:  −37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09508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00948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UNPAID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00948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2,370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00948" y="6035040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vs 14-Oct:  −257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68306" y="5074920"/>
            <a:ext cx="1849069" cy="1234440"/>
          </a:xfrm>
          <a:prstGeom prst="roundRect">
            <a:avLst>
              <a:gd name="adj" fmla="val 12000"/>
            </a:avLst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59746" y="513892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ADVANCE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59746" y="5349240"/>
            <a:ext cx="166618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548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59746" y="6035040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Arial"/>
              </a:rPr>
              <a:t>vs 14-Oct:  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Weekly review – 21 Oct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234440"/>
            <a:ext cx="384048" cy="384048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170432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Key messages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1207008"/>
            <a:ext cx="70408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Arial"/>
              </a:rPr>
              <a:t>Headline position: AR, unrecognized revenue, collections, cash, payables and letters of credit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8720" y="1737360"/>
            <a:ext cx="1060704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48640" y="1874519"/>
            <a:ext cx="384048" cy="384048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1810512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Accounts receivable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1847088"/>
            <a:ext cx="70408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Arial"/>
              </a:rPr>
              <a:t>Executive summary, movement vs last week and vs month start, position by business unit, unbilled and unpaid status, non-OCP clients, unbilled under JESA responsibility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88720" y="2377440"/>
            <a:ext cx="1060704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48640" y="2514600"/>
            <a:ext cx="384048" cy="384048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450592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Unrecognized revenue &amp; suppliers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2487168"/>
            <a:ext cx="70408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Arial"/>
              </a:rPr>
              <a:t>Executed scope not yet booked as AR, by business unit and status; supplier PO book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88720" y="3017520"/>
            <a:ext cx="1060704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48640" y="3154680"/>
            <a:ext cx="384048" cy="384048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090672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Payments received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3127248"/>
            <a:ext cx="70408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Arial"/>
              </a:rPr>
              <a:t>Invoices paid in the month and year to date, by business unit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88720" y="3657600"/>
            <a:ext cx="1060704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48640" y="3794760"/>
            <a:ext cx="384048" cy="384048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3730752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Cash position – procurement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3767328"/>
            <a:ext cx="70408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Arial"/>
              </a:rPr>
              <a:t>Cash in versus cash out by month and by business unit; paid, approved and pending payments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88720" y="4297680"/>
            <a:ext cx="1060704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48640" y="4434840"/>
            <a:ext cx="384048" cy="384048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4370832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Payables &amp; letters of credit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0" y="4407408"/>
            <a:ext cx="70408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Arial"/>
              </a:rPr>
              <a:t>Supplier payables by business unit and due date; LC commitments and maturity schedule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88720" y="4937760"/>
            <a:ext cx="1060704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48640" y="5074920"/>
            <a:ext cx="384048" cy="384048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88720" y="5010912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Zoom by business unit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0" y="5047488"/>
            <a:ext cx="70408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Arial"/>
              </a:rPr>
              <a:t>Position, movement, projects and unrecognized revenue for each business unit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188720" y="5577840"/>
            <a:ext cx="1060704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48640" y="5715000"/>
            <a:ext cx="384048" cy="384048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88720" y="5650992"/>
            <a:ext cx="3657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Backups &amp; sources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54880" y="5687568"/>
            <a:ext cx="70408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50" b="0" i="0">
                <a:solidFill>
                  <a:srgbClr val="1F2A37"/>
                </a:solidFill>
                <a:latin typeface="Arial"/>
              </a:rPr>
              <a:t>LC and payables detail; sources and definitions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Key Messages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The AR, cash and payables position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</a:t>
            </a:r>
          </a:p>
        </p:txBody>
      </p:sp>
      <p:sp>
        <p:nvSpPr>
          <p:cNvPr id="9" name="Oval 8"/>
          <p:cNvSpPr/>
          <p:nvPr/>
        </p:nvSpPr>
        <p:spPr>
          <a:xfrm>
            <a:off x="502920" y="1307592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23444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Total AR 12,395 MMAD: −294 vs 14 Oct, −456 vs 07 Oct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563624"/>
            <a:ext cx="10515600" cy="3429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F2A37"/>
                </a:solidFill>
                <a:latin typeface="Arial"/>
              </a:rPr>
              <a:t>Unbilled 9,477 (−37 WoW), unpaid 2,370 (−257 WoW), advance 548 (0 WoW). Unbilled under JESA responsibility 720 MMAD (PSR 228 / Procurement 492); non-OCP receivables 252 MMAD.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8720" y="2007108"/>
            <a:ext cx="1051560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02920" y="2153412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08026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Unrecognized revenue 7,128 MMAD (−40 WoW, −424 vs 07 Oct); gross exposure 19,523 MMAD (−334 WoW)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2409444"/>
            <a:ext cx="10515600" cy="3429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F2A37"/>
                </a:solidFill>
                <a:latin typeface="Arial"/>
              </a:rPr>
              <a:t>Executed supplier and equipment scope not yet booked as AR, including the 6% JESA cost + fee.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88720" y="2852928"/>
            <a:ext cx="1051560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02920" y="2999232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92608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Invoices paid in October to 20 Oct: 241 MMAD (+24 vs 14 Oct); 8,082 MMAD year to date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255264"/>
            <a:ext cx="10515600" cy="3429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F2A37"/>
                </a:solidFill>
                <a:latin typeface="Arial"/>
              </a:rPr>
              <a:t>Invoices deposited in October: 144 MMAD.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88720" y="3698748"/>
            <a:ext cx="1051560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02920" y="3845052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77190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Procurement cash Jul–Oct: +150 MMAD on actuals, −107 after approved payments, −171 after pending payments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4101084"/>
            <a:ext cx="10515600" cy="3429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F2A37"/>
                </a:solidFill>
                <a:latin typeface="Arial"/>
              </a:rPr>
              <a:t>Cash IN 2,104 MMAD vs cash OUT 1,954 MMAD paid to 15/10 gives +150 MMAD. Approved payments of 258 MMAD (incl. 156 of October LC maturities) bring the position to −107 MMAD; pending payments of 64 MMAD bring it to −171 MMAD.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88720" y="4544568"/>
            <a:ext cx="1051560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02920" y="4690872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88720" y="461772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Supplier payables 2,144 MMAD, of which 1,415 MMAD past due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8720" y="4946904"/>
            <a:ext cx="10515600" cy="3429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F2A37"/>
                </a:solidFill>
                <a:latin typeface="Arial"/>
              </a:rPr>
              <a:t>Parked invoices 1,036, 4411 open items 810, downpayments 297 MMAD (2,803 open lines).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88720" y="5390388"/>
            <a:ext cx="10515600" cy="10972"/>
          </a:xfrm>
          <a:prstGeom prst="rect">
            <a:avLst/>
          </a:prstGeom>
          <a:solidFill>
            <a:srgbClr val="D5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02920" y="5536692"/>
            <a:ext cx="438912" cy="438912"/>
          </a:xfrm>
          <a:prstGeom prst="ellipse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88720" y="546354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Letters of credit 1,583 MMAD: 912 on opened LCs, 671 still to be opened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5792724"/>
            <a:ext cx="10515600" cy="3429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F2A37"/>
                </a:solidFill>
                <a:latin typeface="Arial"/>
              </a:rPr>
              <a:t>156 MMAD matures in October; 630 MMAD in 2026 and 953 MMAD in 2027.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AR Executive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Unbilled is 76% of total AR; AR −294 MMAD week on week and −456 vs the month-start baseline (07-Oct)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19,523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−334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−880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33117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3117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0277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7,128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0277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−424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91914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91914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29074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12,395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−294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9074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−456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50711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50711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87871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9,477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87871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−205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09508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109508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46668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2,370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−257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46668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−252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068306" y="1143000"/>
            <a:ext cx="1849069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068306" y="1252728"/>
            <a:ext cx="64008" cy="92354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05466" y="120700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41732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548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773936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05466" y="1993392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2468880"/>
            <a:ext cx="5029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AR by component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2761488"/>
            <a:ext cx="5029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B8C"/>
                </a:solidFill>
                <a:latin typeface="Arial"/>
              </a:rPr>
              <a:t>Unbilled dominates the receivable book (MMAD)</a:t>
            </a:r>
          </a:p>
        </p:txBody>
      </p:sp>
      <p:graphicFrame>
        <p:nvGraphicFramePr>
          <p:cNvPr id="47" name="Chart 46"/>
          <p:cNvGraphicFramePr>
            <a:graphicFrameLocks noGrp="1"/>
          </p:cNvGraphicFramePr>
          <p:nvPr/>
        </p:nvGraphicFramePr>
        <p:xfrm>
          <a:off x="182880" y="3017520"/>
          <a:ext cx="27432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8" name="Rectangle 47"/>
          <p:cNvSpPr/>
          <p:nvPr/>
        </p:nvSpPr>
        <p:spPr>
          <a:xfrm>
            <a:off x="3063240" y="3639312"/>
            <a:ext cx="201168" cy="201168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337560" y="356616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Unbilled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37560" y="384048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9,477  ·  76% of AR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063240" y="4416552"/>
            <a:ext cx="201168" cy="201168"/>
          </a:xfrm>
          <a:prstGeom prst="rect">
            <a:avLst/>
          </a:prstGeom>
          <a:solidFill>
            <a:srgbClr val="7A87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37560" y="434340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Unpaid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37560" y="461772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2,370  ·  19% of AR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063240" y="5193792"/>
            <a:ext cx="201168" cy="201168"/>
          </a:xfrm>
          <a:prstGeom prst="rect">
            <a:avLst/>
          </a:prstGeom>
          <a:solidFill>
            <a:srgbClr val="C9DD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337560" y="5120640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Advance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37560" y="5394959"/>
            <a:ext cx="14630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548  ·  4% of AR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846320" y="2514600"/>
            <a:ext cx="7040880" cy="1005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846320" y="2514600"/>
            <a:ext cx="73152" cy="10058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074920" y="2560320"/>
            <a:ext cx="2011680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3600" b="1" i="0">
                <a:solidFill>
                  <a:srgbClr val="2E6DA4"/>
                </a:solidFill>
                <a:latin typeface="Arial"/>
              </a:rPr>
              <a:t>98%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040880" y="2606040"/>
            <a:ext cx="4754880" cy="8686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500" b="1" i="0">
                <a:solidFill>
                  <a:srgbClr val="1B2F4B"/>
                </a:solidFill>
                <a:latin typeface="Arial"/>
              </a:rPr>
              <a:t>of AR is OCP-related</a:t>
            </a:r>
          </a:p>
          <a:p>
            <a:pPr algn="l"/>
            <a:r>
              <a:rPr sz="1100" b="0" i="0">
                <a:solidFill>
                  <a:srgbClr val="6B7B8C"/>
                </a:solidFill>
                <a:latin typeface="Arial"/>
              </a:rPr>
              <a:t>OCP 12,144  ·  Non-OCP 252 (2.0%)</a:t>
            </a:r>
          </a:p>
          <a:p>
            <a:pPr algn="l"/>
            <a:r>
              <a:rPr sz="1000" b="0" i="0">
                <a:solidFill>
                  <a:srgbClr val="6B7B8C"/>
                </a:solidFill>
                <a:latin typeface="Arial"/>
              </a:rPr>
              <a:t>DSO excl. advances, JESA Group: 285 days  ·  Receivables remain almost entirely concentrated with OCP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937760" y="3657600"/>
            <a:ext cx="6400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B2F4B"/>
                </a:solidFill>
                <a:latin typeface="Arial"/>
              </a:rPr>
              <a:t>Labor vs non-labor split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937760" y="3950208"/>
            <a:ext cx="6400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6B7B8C"/>
                </a:solidFill>
                <a:latin typeface="Arial"/>
              </a:rPr>
              <a:t>65% of the book is non-labor (procurement scope)</a:t>
            </a: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4846320" y="4160520"/>
          <a:ext cx="7040880" cy="2331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AR Movement – week on week and vs baseline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This week 20-Oct vs last week 14-Oct and vs the month-start baseline (07-Oct AR position)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188720"/>
          <a:ext cx="6949437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72387"/>
                <a:gridCol w="792164"/>
                <a:gridCol w="792164"/>
                <a:gridCol w="792164"/>
                <a:gridCol w="648134"/>
                <a:gridCol w="648134"/>
                <a:gridCol w="720149"/>
                <a:gridCol w="684141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Component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Month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Last week
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This week
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Δ%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vs
month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Δ% vs
month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+0.1%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+0.1%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9,682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9,514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9,477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−36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−0.4%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−205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−2.1%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2,622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2,627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2,370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−258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−9.8%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−252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−9.6%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12,851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12,689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12,395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−294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−2.3%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−456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−3.5%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Unrecognized revenue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7,552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7,168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7,128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−0.6%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−424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−5.6%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Gross exposure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20,403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19,857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19,523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−334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−1.7%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−880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−4.3%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3429000"/>
            <a:ext cx="69494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What moved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703320"/>
            <a:ext cx="6949440" cy="18288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Unbilled −37 WoW: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decreases AM −20, Fert. &amp; Chem. −14, Energy Ops −1, B&amp;I −1</a:t>
            </a:r>
            <a:r>
              <a:rPr sz="950" b="0" i="0">
                <a:solidFill>
                  <a:srgbClr val="1F2A37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Unpaid −257 WoW: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decreases Water &amp; Env. −183, AM −62, Fert. &amp; Chem. −9, JESA Tech −4</a:t>
            </a:r>
            <a:r>
              <a:rPr sz="950" b="0" i="0">
                <a:solidFill>
                  <a:srgbClr val="1F2A37"/>
                </a:solidFill>
                <a:latin typeface="Arial"/>
              </a:rPr>
              <a:t>; increases Energy Ops +3, B&amp;I +1</a:t>
            </a:r>
          </a:p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Total AR −294 WoW: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decreases Water &amp; Env. −179, AM −83, Fert. &amp; Chem. −23, JESA Tech −8</a:t>
            </a:r>
            <a:r>
              <a:rPr sz="950" b="0" i="0">
                <a:solidFill>
                  <a:srgbClr val="1F2A37"/>
                </a:solidFill>
                <a:latin typeface="Arial"/>
              </a:rPr>
              <a:t>; increases Energy Ops +2, B&amp;I +1</a:t>
            </a:r>
          </a:p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Unbilled −205 vs month start: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decreases SP2M −92, AM −54, Water &amp; Env. −28, Fert. &amp; Chem. −24</a:t>
            </a:r>
            <a:r>
              <a:rPr sz="950" b="0" i="0">
                <a:solidFill>
                  <a:srgbClr val="1F2A37"/>
                </a:solidFill>
                <a:latin typeface="Arial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Unpaid −252 vs month start: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decreases Water &amp; Env. −183, AM −73, Global Mining −6, JESA Tech −4</a:t>
            </a:r>
            <a:r>
              <a:rPr sz="950" b="0" i="0">
                <a:solidFill>
                  <a:srgbClr val="1F2A37"/>
                </a:solidFill>
                <a:latin typeface="Arial"/>
              </a:rPr>
              <a:t>; increases Fert. &amp; Chem. +9, B&amp;I +2, Advisory +1</a:t>
            </a:r>
          </a:p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1B2F4B"/>
                </a:solidFill>
                <a:latin typeface="Arial"/>
              </a:rPr>
              <a:t>Total AR −456 vs month start: </a:t>
            </a:r>
            <a:r>
              <a:rPr sz="950" b="0" i="0">
                <a:solidFill>
                  <a:srgbClr val="1F2A37"/>
                </a:solidFill>
                <a:latin typeface="Arial"/>
              </a:rPr>
              <a:t>decreases Water &amp; Env. −206, AM −127, SP2M −92, Fert. &amp; Chem. −15</a:t>
            </a:r>
            <a:r>
              <a:rPr sz="950" b="0" i="0">
                <a:solidFill>
                  <a:srgbClr val="1F2A37"/>
                </a:solidFill>
                <a:latin typeface="Arial"/>
              </a:rPr>
              <a:t>; increases B&amp;I +2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1143000"/>
            <a:ext cx="42976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AR aging by year of origin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589520" y="1463040"/>
          <a:ext cx="4297678" cy="184708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37371"/>
                <a:gridCol w="666881"/>
                <a:gridCol w="666881"/>
                <a:gridCol w="666881"/>
                <a:gridCol w="592783"/>
                <a:gridCol w="666881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Year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vs
m.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2022 &amp; before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4,212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4,204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4,014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−191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−198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8,275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8,121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8,017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−103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−258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12,851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12,689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12,395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−294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−456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7498079" y="3429000"/>
          <a:ext cx="4480560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AR Position by Business Unit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This week vs last week and vs the month-start baseline (07-Oct), MMAD; DSO excl. advances in days (BU meeting report)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43000"/>
          <a:ext cx="11567152" cy="312267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40268"/>
                <a:gridCol w="855159"/>
                <a:gridCol w="855159"/>
                <a:gridCol w="855159"/>
                <a:gridCol w="720134"/>
                <a:gridCol w="810151"/>
                <a:gridCol w="810151"/>
                <a:gridCol w="720134"/>
                <a:gridCol w="765142"/>
                <a:gridCol w="720134"/>
                <a:gridCol w="720134"/>
                <a:gridCol w="810151"/>
                <a:gridCol w="855159"/>
                <a:gridCol w="630117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Business Unit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Month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Last week
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This week
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vs
month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Unrecog.
revenue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Gross
exposure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DSO
(days)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3,531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3,504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3,325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−206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2,583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−183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1,511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4,836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331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3,234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3,242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3,219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2,556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636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1,382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4,601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376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3,328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3,236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3,236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−92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2,720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3,271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6,507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1,020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976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893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−83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−62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1,026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365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557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485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359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231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Total JESA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12,851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12,689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12,395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−294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−456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9,477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−36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2,370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−258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548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7,128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19,523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285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274320" y="4448556"/>
          <a:ext cx="5760720" cy="1997963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172200" y="4448556"/>
          <a:ext cx="5760720" cy="199796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Unbilled &amp; Unpaid – status 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Where the receivable book sits in the process, with week-on-week movement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14300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Unbilled by ownership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463040"/>
          <a:ext cx="5669275" cy="16824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49289"/>
                <a:gridCol w="724644"/>
                <a:gridCol w="724644"/>
                <a:gridCol w="724644"/>
                <a:gridCol w="596766"/>
                <a:gridCol w="682018"/>
                <a:gridCol w="76727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Category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 AR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vs
m.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Under OCP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7,152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7,099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7,107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SS postponed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1,389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1,389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1,431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Under JESA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814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−208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At risk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Unbilled 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9,682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9,514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9,477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−37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−205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65760" y="342900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749039"/>
          <a:ext cx="5669280" cy="24963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40080"/>
                <a:gridCol w="2926080"/>
                <a:gridCol w="731520"/>
                <a:gridCol w="73152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Owner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3,924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3,796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−128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1,628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1,701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+72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1,389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1,431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1,177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1,178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JESA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J-3.a Signed by client, pending JESA SS sub…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At Risk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C-1.b At risk (budget overrun)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JESA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+194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C-5.b Not signed by client PM, pending OCP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+63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C-1.d Pending PO correction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355080" y="114300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Unpaid by OCP processing status (MMAD)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355080" y="1463040"/>
          <a:ext cx="5532117" cy="22311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58078"/>
                <a:gridCol w="686154"/>
                <a:gridCol w="686154"/>
                <a:gridCol w="686154"/>
                <a:gridCol w="643269"/>
                <a:gridCol w="643269"/>
                <a:gridCol w="729039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% unpaid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Δ vs
m. start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Rejected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829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784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610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−174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−219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Treasury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471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457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OCP subs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353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356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Ordonnancement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−28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Missing reception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−17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−55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Other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566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581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555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Unpaid 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2,622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2,627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2,370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−257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−252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6309360" y="3703320"/>
          <a:ext cx="5623560" cy="2788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Non-OCP Clients – unbilled &amp; unpaid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Non-OCP receivables of 252 MMAD (2.0% of AR): unbilled 131, unpaid 120; −13 vs month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2828467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78638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2645587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NON-OCP AR (UNBILLED + UNPAID)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2645587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10511"/>
            <a:ext cx="2645587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12515" y="1097280"/>
            <a:ext cx="2828467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12515" y="1207007"/>
            <a:ext cx="64008" cy="78638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49675" y="1161288"/>
            <a:ext cx="2645587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NON-OCP UNBILLED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49675" y="1371600"/>
            <a:ext cx="2645587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131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49675" y="1810511"/>
            <a:ext cx="2645587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50711" y="1097280"/>
            <a:ext cx="2828467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50711" y="1207007"/>
            <a:ext cx="64008" cy="78638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87871" y="1161288"/>
            <a:ext cx="2645587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NON-OCP UNPAID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7871" y="1371600"/>
            <a:ext cx="2645587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7871" y="1810511"/>
            <a:ext cx="2645587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88907" y="1097280"/>
            <a:ext cx="2828467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88907" y="1207007"/>
            <a:ext cx="64008" cy="78638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26067" y="1161288"/>
            <a:ext cx="2645587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SHARE OF TOTAL 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26067" y="1371600"/>
            <a:ext cx="2645587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240280"/>
            <a:ext cx="51206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By business unit (MMAD)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365760" y="2514600"/>
          <a:ext cx="5120638" cy="24871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82743"/>
                <a:gridCol w="744820"/>
                <a:gridCol w="744820"/>
                <a:gridCol w="744820"/>
                <a:gridCol w="558615"/>
                <a:gridCol w="744820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Total non-OCP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−13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365760" y="5138928"/>
            <a:ext cx="512064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0">
                <a:solidFill>
                  <a:srgbClr val="1F2A37"/>
                </a:solidFill>
                <a:latin typeface="Arial"/>
              </a:rPr>
              <a:t>Non-OCP clients carry 252 MMAD, of which Global Mining (Ma'aden) accounts for 201 MMAD. Statuses: C-* pending with the client, J-* pending with JESA.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60720" y="2240280"/>
            <a:ext cx="6217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Projects driving non-OCP receivables (MMAD)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5760720" y="2514600"/>
          <a:ext cx="6217916" cy="37536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37875"/>
                <a:gridCol w="1322961"/>
                <a:gridCol w="1631652"/>
                <a:gridCol w="529184"/>
                <a:gridCol w="529184"/>
                <a:gridCol w="136706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Client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Saudi Arabian Mining Co…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 - Phase 1 of Phosphat…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78.4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Saudi Arabian Mining Co…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Phase 2 of the Phosphate 3 Co…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33.4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46.6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Larsen &amp; Toubro Ltd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L&amp;T Proprietary Equipment &amp; L…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MCA - SENEGAL II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MCA SENEGAL II POWER PMC ROLE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BNEDT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Université San Pedro AMO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Saudi Arabian Mining Co…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Phase 2 of the Phosphate 3 Co…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SNIM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SNIM TO Wave 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Jordan Turkiye Fertiliz…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JTFC DH PAP TDP and PP Testin…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SNIM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SNIM MODERNISATION GUELB 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COBCO SA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AZUR PMC ROLE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Saudi Arabian Mining Co…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MAADEN CAPITAL GROWTH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Nutrien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Nutrien 2026 Core Washing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Ma’aden Phosphate 3 Project P…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Ministére interieur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Etude technique et suivi de l…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3172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>Top 14 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>124.7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>104.5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1F2A37"/>
                          </a:solidFill>
                          <a:latin typeface="Arial"/>
                        </a:rPr>
                        <a:t>91% of non-OCP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Unbilled under JESA responsibility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720 MMAD of unbilled sits with JESA (8% of unbilled): PSR 228 / Procurement 492; −208 vs month start, −94 WoW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2828467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7782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2645587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 UNDER JESA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2645587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682495"/>
            <a:ext cx="2645587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−94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" y="1901952"/>
            <a:ext cx="2645587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−208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12515" y="1097280"/>
            <a:ext cx="2828467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12515" y="1207007"/>
            <a:ext cx="64008" cy="87782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49675" y="1161288"/>
            <a:ext cx="2645587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PSR (LABOR)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49675" y="1371600"/>
            <a:ext cx="2645587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49675" y="1901952"/>
            <a:ext cx="2645587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−53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0711" y="1097280"/>
            <a:ext cx="2828467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50711" y="1207007"/>
            <a:ext cx="64008" cy="87782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87871" y="1161288"/>
            <a:ext cx="2645587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PROCUREMENT (NON-LABOR)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87871" y="1371600"/>
            <a:ext cx="2645587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87871" y="1901952"/>
            <a:ext cx="2645587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−155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88907" y="1097280"/>
            <a:ext cx="2828467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88907" y="1207007"/>
            <a:ext cx="64008" cy="87782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26067" y="1161288"/>
            <a:ext cx="2645587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SHARE OF TOTAL UNBILLED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6067" y="1371600"/>
            <a:ext cx="2645587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33172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By business unit – PSR vs Procurement (MMAD)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65760" y="2606040"/>
          <a:ext cx="5669279" cy="33284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87024"/>
                <a:gridCol w="743512"/>
                <a:gridCol w="929390"/>
                <a:gridCol w="743512"/>
                <a:gridCol w="1022329"/>
                <a:gridCol w="743512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PSR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Procurement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% of BU unbilled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−64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−70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−87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−68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-11%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2E7D4F"/>
                          </a:solidFill>
                          <a:latin typeface="Arial"/>
                        </a:rPr>
                        <a:t>−34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Total JESA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492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720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−208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65760" y="6025896"/>
            <a:ext cx="5669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1">
                <a:solidFill>
                  <a:srgbClr val="7A8794"/>
                </a:solidFill>
                <a:latin typeface="Arial"/>
              </a:rPr>
              <a:t>PSR = labor scope; Procurement = non-labor scope. Negative procurement amounts are credit lines pending JESA PM approval (AM, Global Mining).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233172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By status – what JESA still has to do (MMAD)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309360" y="2606040"/>
          <a:ext cx="5669280" cy="29992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834640"/>
                <a:gridCol w="685800"/>
                <a:gridCol w="868680"/>
                <a:gridCol w="685800"/>
                <a:gridCol w="594360"/>
              </a:tblGrid>
              <a:tr h="256032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Procurement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J-3.a Signed by client, pending JESA SS subm…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J-1.e Under JESA PC review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J-1.d Under JESA finance review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J-1.b Pending attachments JESA PA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J-1.f Pending LC by PC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J-2.a Pending JESA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−118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−95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-13%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under JESA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492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720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309360" y="5696712"/>
            <a:ext cx="566928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 i="0">
                <a:solidFill>
                  <a:srgbClr val="1F2A37"/>
                </a:solidFill>
                <a:latin typeface="Arial"/>
              </a:rPr>
              <a:t>J-* statuses are the steps under JESA control (attachment creation, internal reviews, PM approval, service-sheet submission, invoicing); service sheets postponed and at-risk scope are excluded. Negative values are credit lines pending JESA PM approval.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Unrecognized Revenue &amp; Suppliers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Unrecognized revenue of 7,128 MMAD = supplier balance (6,725) plus a 6% markup; −40 vs 14-Oct, −424 vs month 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88720"/>
            <a:ext cx="5577840" cy="1051560"/>
          </a:xfrm>
          <a:prstGeom prst="roundRect">
            <a:avLst>
              <a:gd name="adj" fmla="val 12000"/>
            </a:avLst>
          </a:prstGeom>
          <a:solidFill>
            <a:srgbClr val="2E6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252728"/>
            <a:ext cx="539495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UNRECOGNIZED REVENUE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463040"/>
            <a:ext cx="5394959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7,128 MMAD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5960"/>
            <a:ext cx="539495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= unrecognized supplier cost × 1.06 cost-and-fee markup  ·  14-Oct: 7,168  ·  month start: 7,552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188720"/>
            <a:ext cx="5623560" cy="1051560"/>
          </a:xfrm>
          <a:prstGeom prst="roundRect">
            <a:avLst>
              <a:gd name="adj" fmla="val 12000"/>
            </a:avLst>
          </a:prstGeom>
          <a:solidFill>
            <a:srgbClr val="6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79" y="1252728"/>
            <a:ext cx="544068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UNRECOGNIZED SUPPLIERS — COST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79" y="1463040"/>
            <a:ext cx="5440680" cy="441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6,725 MMAD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79" y="1965960"/>
            <a:ext cx="544068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Executed but unbooked supplier &amp; equipment scope (HT, excl. DP)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3774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Unrecognized Revenue by Business Unit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633472"/>
            <a:ext cx="548640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B7B8C"/>
                </a:solidFill>
                <a:latin typeface="Arial"/>
              </a:rPr>
              <a:t>6% JESA cost + fee markup included (MMAD)  ·  Δ vs 14-Oct in brackets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274320" y="2880360"/>
          <a:ext cx="576072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365760" y="6199632"/>
            <a:ext cx="56692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1" i="0">
                <a:solidFill>
                  <a:srgbClr val="B5473A"/>
                </a:solidFill>
                <a:latin typeface="Arial"/>
              </a:rPr>
              <a:t>No revenue recognition has been booked on these balances to date.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37744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Table 7 — Unrecognized Suppliers by Status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2633472"/>
            <a:ext cx="566928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6B7B8C"/>
                </a:solidFill>
                <a:latin typeface="Arial"/>
              </a:rPr>
              <a:t>Executed but unbooked scope, at cost (MMAD)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6172200" y="2834640"/>
          <a:ext cx="5806440" cy="187451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263640" y="4754880"/>
          <a:ext cx="5669280" cy="148132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71600"/>
                <a:gridCol w="42976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Status (Table 7)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Definition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2E6DA4"/>
                          </a:solidFill>
                          <a:latin typeface="Arial"/>
                        </a:rPr>
                        <a:t>Pending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Attachments submitted (PROCORE etc.), under the approval workflow; includes attachments already signed by the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2E6DA4"/>
                          </a:solidFill>
                          <a:latin typeface="Arial"/>
                        </a:rPr>
                        <a:t>Pending Submission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Executed scope not yet submitted for approval; may include potential / impending scope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2E6DA4"/>
                          </a:solidFill>
                          <a:latin typeface="Arial"/>
                        </a:rPr>
                        <a:t>Under CN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Executed scope via a Change Notice (or a potential CN)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2E6DA4"/>
                          </a:solidFill>
                          <a:latin typeface="Arial"/>
                        </a:rPr>
                        <a:t>At-Risk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Executed scope without any formal contract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263640" y="6199632"/>
            <a:ext cx="56692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1">
                <a:solidFill>
                  <a:srgbClr val="6B7B8C"/>
                </a:solidFill>
                <a:latin typeface="Arial"/>
              </a:rPr>
              <a:t>*** Amounts in HT — executed progress, excluding DP amortization. Status split at cost (= revenue ÷ 1.06).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Payments Received (Collections)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241 MMAD of invoices paid in October to 20-Oct (+24 vs 14-Oct); 8.08 Bn MAD year to date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224082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OCTOBER TO 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241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901952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+24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24876" y="1143000"/>
            <a:ext cx="224082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24876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6203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SEPTEMBER (FULL MONTH)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62036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737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75433" y="1143000"/>
            <a:ext cx="224082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75433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12593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YTD RECEIVED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12593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8,082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12593" y="1901952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+24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25989" y="1143000"/>
            <a:ext cx="224082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25989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6314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LABOR / NON-LABOR YTD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63149" y="1417320"/>
            <a:ext cx="2057948" cy="7315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2E6DA4"/>
                </a:solidFill>
                <a:latin typeface="Arial"/>
              </a:rPr>
              <a:t>2,117 </a:t>
            </a:r>
            <a:r>
              <a:rPr sz="900" b="0" i="0">
                <a:solidFill>
                  <a:srgbClr val="6B7B8C"/>
                </a:solidFill>
                <a:latin typeface="Arial"/>
              </a:rPr>
              <a:t>· 26% labor</a:t>
            </a:r>
          </a:p>
          <a:p>
            <a:pPr algn="l"/>
            <a:r>
              <a:rPr sz="1600" b="1" i="0">
                <a:solidFill>
                  <a:srgbClr val="E08A2E"/>
                </a:solidFill>
                <a:latin typeface="Arial"/>
              </a:rPr>
              <a:t>5,964 </a:t>
            </a:r>
            <a:r>
              <a:rPr sz="900" b="0" i="0">
                <a:solidFill>
                  <a:srgbClr val="6B7B8C"/>
                </a:solidFill>
                <a:latin typeface="Arial"/>
              </a:rPr>
              <a:t>· 74% non-labor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76546" y="1143000"/>
            <a:ext cx="2240828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76546" y="1252728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1370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INVOICES DEPOSITED IN OCT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13706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144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13706" y="1901952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4,125 invoices paid YTD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2377440"/>
            <a:ext cx="6400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1B2F4B"/>
                </a:solidFill>
                <a:latin typeface="Arial"/>
              </a:rPr>
              <a:t>Monthly payments received 2026 (MMAD, amount invoiced by payment date) – October in progress</a:t>
            </a:r>
          </a:p>
        </p:txBody>
      </p:sp>
      <p:graphicFrame>
        <p:nvGraphicFramePr>
          <p:cNvPr id="33" name="Chart 32"/>
          <p:cNvGraphicFramePr>
            <a:graphicFrameLocks noGrp="1"/>
          </p:cNvGraphicFramePr>
          <p:nvPr/>
        </p:nvGraphicFramePr>
        <p:xfrm>
          <a:off x="274320" y="2651760"/>
          <a:ext cx="6675120" cy="3840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7178040" y="2377440"/>
            <a:ext cx="47548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By business unit (MMAD)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7178040" y="2651760"/>
          <a:ext cx="4754876" cy="29809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47729"/>
                <a:gridCol w="655845"/>
                <a:gridCol w="655845"/>
                <a:gridCol w="573864"/>
                <a:gridCol w="573864"/>
                <a:gridCol w="655845"/>
                <a:gridCol w="491884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Oct to 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Oct to 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Sep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YTD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YTD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2,118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+6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1,918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+13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1,502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1,205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472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438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2E7D4F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+24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737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8,082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Cash Position – Procurement (JESA Group incl. AM)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Jul–Oct 2026: cash IN 2,104 vs cash OUT 2,276 MMAD incl. October commitments → net −171 MMAD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3A9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CASH IN JUL–OCT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2,104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OCP payments 1,919 + dividends 185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24876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1631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CASH OUT ACTUALS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6316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1,954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6316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Jul–Sep 1,734 + Oct to 15/10 220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5433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66873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OCTOBER COMMITMENTS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66873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321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6873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Approved 258 (LC 156) + pending 64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25989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B54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1742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NET POSITION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17429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−171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17429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Cash IN + cash OUT incl. commitments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76546" y="1143000"/>
            <a:ext cx="2240828" cy="1051560"/>
          </a:xfrm>
          <a:prstGeom prst="roundRect">
            <a:avLst>
              <a:gd name="adj" fmla="val 12000"/>
            </a:avLst>
          </a:prstGeom>
          <a:solidFill>
            <a:srgbClr val="6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6798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PSR (LABOR) 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7986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+73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67986" y="1920240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Collections 372 less provisions 299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377440"/>
            <a:ext cx="6400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Monthly cash IN vs cash OUT – procurement (MMAD)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274320" y="2651760"/>
          <a:ext cx="630936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6812280" y="2377440"/>
            <a:ext cx="51206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Cash position by month (MMAD)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6812280" y="2651760"/>
          <a:ext cx="5120634" cy="304495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80210"/>
                <a:gridCol w="520064"/>
                <a:gridCol w="520064"/>
                <a:gridCol w="520064"/>
                <a:gridCol w="640079"/>
                <a:gridCol w="640079"/>
                <a:gridCol w="600074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Jul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Aug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Sep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Oct to 15/10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Oct ongoing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Cumul.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OCP procurement collections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1,919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Dividends / PROC compensable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 cash IN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712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715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526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2,104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Suppliers (by tier)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−431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−236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−797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−198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−1,829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LC payments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−156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−266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Customs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−78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−43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−55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 cash OUT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−548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−296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−889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−220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−321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−2,276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NET position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2E7D4F"/>
                          </a:solidFill>
                          <a:latin typeface="Arial"/>
                        </a:rPr>
                        <a:t>+164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2E7D4F"/>
                          </a:solidFill>
                          <a:latin typeface="Arial"/>
                        </a:rPr>
                        <a:t>+419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−363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−69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−321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−171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PSR collections (labor)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372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PSR provisions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−98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−73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−73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−55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−299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NET PSR after provisions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+68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−7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+73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6812280" y="5989320"/>
            <a:ext cx="51206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00" b="0" i="1">
                <a:solidFill>
                  <a:srgbClr val="7A8794"/>
                </a:solidFill>
                <a:latin typeface="Arial"/>
              </a:rPr>
              <a:t>Basis: Jul–Aug–Sep actuals + Oct actuals (collections to 19/10, payments to 15/10) + October LC maturities per bank LC situation 19/10 v003 (156.4M, counted as approved) + open October commitments (approved + pending)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Cash Position by Business Unit – Procurement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Cumulative Jul–Oct 2026 cash IN, cash OUT and net balance by BU, before and after October commitments (MMAD)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43000"/>
          <a:ext cx="11567156" cy="3099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63602"/>
                <a:gridCol w="1037413"/>
                <a:gridCol w="1141154"/>
                <a:gridCol w="933672"/>
                <a:gridCol w="1037413"/>
                <a:gridCol w="1089284"/>
                <a:gridCol w="1089284"/>
                <a:gridCol w="1244896"/>
                <a:gridCol w="1037413"/>
                <a:gridCol w="1193025"/>
              </a:tblGrid>
              <a:tr h="38404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Business Unit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Cash IN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Paid suppliers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Paid LC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Paid customs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Net actuals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Oct approved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Net after approved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Oct pending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Net all ongoing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554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393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+108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+75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+75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+117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−182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−288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−333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+56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Total BUs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2,104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1,644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+150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−107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00"/>
                      </a:pPr>
                      <a:r>
                        <a:rPr sz="900" b="1">
                          <a:solidFill>
                            <a:srgbClr val="1F2A37"/>
                          </a:solidFill>
                          <a:latin typeface="Arial"/>
                        </a:rPr>
                        <a:t>−171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274320" y="4425696"/>
          <a:ext cx="5760720" cy="2020823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172200" y="4425696"/>
          <a:ext cx="5760720" cy="2020823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October Payments – paid, approved and pending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220 MMAD paid to 15/10; 258 MMAD approved (incl. 156 LC maturities) and 64 MMAD pending approval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14300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October cash OUT: actual and committed (MMAD)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274320" y="1417320"/>
          <a:ext cx="5760720" cy="2240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65760" y="370332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October by business unit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65760" y="3977639"/>
          <a:ext cx="5669280" cy="247345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71600"/>
                <a:gridCol w="914400"/>
                <a:gridCol w="914400"/>
                <a:gridCol w="914400"/>
                <a:gridCol w="822960"/>
                <a:gridCol w="731520"/>
              </a:tblGrid>
              <a:tr h="310896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Cash IN to date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Paid to 15/10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Ongoing suppliers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Ongoing LC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Net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−190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−92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B5473A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B&amp;C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96596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B5473A"/>
                          </a:solidFill>
                          <a:latin typeface="Arial"/>
                        </a:rPr>
                        <a:t>−390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355080" y="1143000"/>
            <a:ext cx="5577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Approved supplier invoices – status vs payment tracking 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417320"/>
            <a:ext cx="5577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96 MMAD / 211 approved supplier lines by payment status (approved position excl. LC: 101 MMAD)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6263640" y="1691640"/>
          <a:ext cx="5669280" cy="228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355080" y="4069080"/>
          <a:ext cx="5577837" cy="188366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403427"/>
                <a:gridCol w="661777"/>
                <a:gridCol w="850856"/>
                <a:gridCol w="661777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Tracking-log 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Lines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Pending AP (unpaid)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44.0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Paid after cut-off, awaiting SAP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23.8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Pending Treasury (unpaid)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Paid per log, not yet in SAP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Paid, SAP clearing reversed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Paid per log, no date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Cancelled – to review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 approved supplier payments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95.6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355080" y="6044183"/>
            <a:ext cx="5577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Priority list (02.10):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92 MMAD approved for payment — P1 6 · P2 45 · P3 41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Accounts Payable – supplier payables &amp; LC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Payables incl. LC of 3,055 MMAD (+91 WoW): parked 1,036, 4411 810, downpayments 297, LC 912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PAYABLES INCL. LC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3,055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+91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24876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24876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6203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PARKED INVOICES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62036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1,036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62036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+128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75433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75433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12593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INVOICES 4411 (OPEN ITEMS)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12593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810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12593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25989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25989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6314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DOWNPAYMENTS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63149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297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63149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76546" y="1143000"/>
            <a:ext cx="2240828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676546" y="1252728"/>
            <a:ext cx="64008" cy="740664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1370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LC OPENED (BANK SITUATION)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3706" y="1417320"/>
            <a:ext cx="2057948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1B2F4B"/>
                </a:solidFill>
                <a:latin typeface="Arial"/>
              </a:rPr>
              <a:t>912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3706" y="1810511"/>
            <a:ext cx="2057948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2240280"/>
            <a:ext cx="59436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Payables by business unit – this week and Δ WoW (MMAD)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365760" y="2514600"/>
          <a:ext cx="5943598" cy="33467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71600"/>
                <a:gridCol w="822960"/>
                <a:gridCol w="731520"/>
                <a:gridCol w="731520"/>
                <a:gridCol w="731520"/>
                <a:gridCol w="777239"/>
                <a:gridCol w="77723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Down-payment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Parked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4411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LC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1,685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534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361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+38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B5473A"/>
                          </a:solidFill>
                          <a:latin typeface="Arial"/>
                        </a:rPr>
                        <a:t>+9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1,036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810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912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3,055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950"/>
                      </a:pPr>
                      <a:r>
                        <a:rPr sz="950" b="1">
                          <a:solidFill>
                            <a:srgbClr val="1F2A37"/>
                          </a:solidFill>
                          <a:latin typeface="Arial"/>
                        </a:rPr>
                        <a:t>+91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365760" y="5952744"/>
            <a:ext cx="59436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1">
                <a:solidFill>
                  <a:srgbClr val="7A8794"/>
                </a:solidFill>
                <a:latin typeface="Arial"/>
              </a:rPr>
              <a:t>LC = outstanding on opened LCs; parked = invoices parked in SAP pending validation; 4411 = posted supplier open items; downpayments = advance invoices due to suppliers.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0" y="2240280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Open supplier invoices by due date – AP file Oct W3 (MMAD)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0" y="2514600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0" i="0">
                <a:solidFill>
                  <a:srgbClr val="6B7B8C"/>
                </a:solidFill>
                <a:latin typeface="Arial"/>
              </a:rPr>
              <a:t>2,144 MMAD of open lines, of which 1,415 MMAD (66%) past due at 21 Oct 2026</a:t>
            </a:r>
          </a:p>
        </p:txBody>
      </p:sp>
      <p:graphicFrame>
        <p:nvGraphicFramePr>
          <p:cNvPr id="39" name="Chart 38"/>
          <p:cNvGraphicFramePr>
            <a:graphicFrameLocks noGrp="1"/>
          </p:cNvGraphicFramePr>
          <p:nvPr/>
        </p:nvGraphicFramePr>
        <p:xfrm>
          <a:off x="6492240" y="2743200"/>
          <a:ext cx="5486400" cy="2240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0" name="TextBox 39"/>
          <p:cNvSpPr txBox="1"/>
          <p:nvPr/>
        </p:nvSpPr>
        <p:spPr>
          <a:xfrm>
            <a:off x="6583680" y="4983480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By supplier tier (MMAD)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6583680" y="5230368"/>
          <a:ext cx="5394958" cy="84124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790496"/>
                <a:gridCol w="1302231"/>
                <a:gridCol w="1302231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Tier group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National (tiers 1–3)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1,363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International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694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01168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Other / not tiered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2" name="TextBox 41"/>
          <p:cNvSpPr txBox="1"/>
          <p:nvPr/>
        </p:nvSpPr>
        <p:spPr>
          <a:xfrm>
            <a:off x="6583680" y="6108192"/>
            <a:ext cx="5394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50" b="0" i="1">
                <a:solidFill>
                  <a:srgbClr val="7A8794"/>
                </a:solidFill>
                <a:latin typeface="Arial"/>
              </a:rPr>
              <a:t>Due-date buckets follow the invoice due date; lines without a due date are not bucketed.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Letters of Credit – outstanding &amp; maturities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1,583 MMAD of LC commitments at 19/10: 912 opened, 671 still to be opened; 156 MMAD maturing in October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1B2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TOTAL LC COMMITMENTS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1,583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Encours in MMAD, bank LC situation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24876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1631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OPENED LCS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6316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912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16316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LC reference and opening date exist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5433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6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66873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TO BE OPENED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66873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671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6873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Committed, LC not yet issued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25989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17429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OCTOBER MATURITIES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17429" y="1417320"/>
            <a:ext cx="2057948" cy="4089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156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17429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Counted as approved payments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76546" y="1143000"/>
            <a:ext cx="2240828" cy="960120"/>
          </a:xfrm>
          <a:prstGeom prst="roundRect">
            <a:avLst>
              <a:gd name="adj" fmla="val 12000"/>
            </a:avLst>
          </a:prstGeom>
          <a:solidFill>
            <a:srgbClr val="3A9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67986" y="1207008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2026 / 2027 MATURITIES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67986" y="1417320"/>
            <a:ext cx="2057948" cy="375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630 / 953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67986" y="1828799"/>
            <a:ext cx="20579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FFFFFF"/>
                </a:solidFill>
                <a:latin typeface="Arial"/>
              </a:rPr>
              <a:t>Per monthly schedule; unscheduled 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240280"/>
            <a:ext cx="68580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LC maturity schedule by month (MMAD)</a:t>
            </a:r>
          </a:p>
        </p:txBody>
      </p:sp>
      <p:graphicFrame>
        <p:nvGraphicFramePr>
          <p:cNvPr id="30" name="Chart 29"/>
          <p:cNvGraphicFramePr>
            <a:graphicFrameLocks noGrp="1"/>
          </p:cNvGraphicFramePr>
          <p:nvPr/>
        </p:nvGraphicFramePr>
        <p:xfrm>
          <a:off x="274320" y="2514600"/>
          <a:ext cx="694944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65760" y="4846320"/>
            <a:ext cx="68580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B2F4B"/>
                </a:solidFill>
                <a:latin typeface="Arial"/>
              </a:rPr>
              <a:t>By business unit (MMAD)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65760" y="5102352"/>
          <a:ext cx="6857998" cy="13350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78904"/>
                <a:gridCol w="1127342"/>
                <a:gridCol w="1221287"/>
                <a:gridCol w="1127342"/>
                <a:gridCol w="1503123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Opened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To be opened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Oct-26 maturity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671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1,445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912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671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1,583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7498079" y="2240280"/>
            <a:ext cx="44805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B2F4B"/>
                </a:solidFill>
                <a:latin typeface="Arial"/>
              </a:rPr>
              <a:t>By action status (MMAD)</a:t>
            </a:r>
          </a:p>
        </p:txBody>
      </p:sp>
      <p:graphicFrame>
        <p:nvGraphicFramePr>
          <p:cNvPr id="34" name="Chart 33"/>
          <p:cNvGraphicFramePr>
            <a:graphicFrameLocks noGrp="1"/>
          </p:cNvGraphicFramePr>
          <p:nvPr/>
        </p:nvGraphicFramePr>
        <p:xfrm>
          <a:off x="7406640" y="2514600"/>
          <a:ext cx="45720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Water &amp; Environment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3,325 MMAD (−179 WoW, −206 vs month start); unbilled 78% / unpaid 10% / advance 12% · DSO 331 days (prior 318)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4,836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−181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1,511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3,325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−179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−206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2,583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332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−183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−183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410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1,515 · 59%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−45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3A9C8C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SS postponed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880 · 34%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+56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172 · 7%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−19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377440" y="4169663"/>
            <a:ext cx="146304" cy="146304"/>
          </a:xfrm>
          <a:prstGeom prst="rect">
            <a:avLst/>
          </a:prstGeom>
          <a:solidFill>
            <a:srgbClr val="B5473A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578608" y="409651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At risk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578608" y="429768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16 · 1%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9" name="Table 58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880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+57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J-1.e Under JESA PC review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C-6.a Pending SS OCP rejection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C-1.d Pending PO correction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60" name="TextBox 59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61" name="Chart 60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2" name="Rectangle 61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275 · 83%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Rejected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24 · 7%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332720" y="36118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515600" y="35387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515600" y="37398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32 · 10%</a:t>
            </a:r>
          </a:p>
        </p:txBody>
      </p:sp>
      <p:graphicFrame>
        <p:nvGraphicFramePr>
          <p:cNvPr id="71" name="Chart 70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73" name="Table 72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2,611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2,583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2,583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−183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−183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3,531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3,504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3,325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−179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−206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1,556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1,513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1,511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4" name="Chart 73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Water &amp; Env.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Water &amp; Environment: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QC.01872.P03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SWRO Desalination Plant Wave II S…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307.3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QC.01855.P71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SWRO W2E - Decanteurs Lamellaires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144.9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QC.00947.P08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FBS General contractor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104.6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QC.01872.S02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Desalination Wave II Safi EPCM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81.3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QC.01654.P05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Desal Water Pipe S2GM_Pipes Safi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80.8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QC.01432.S05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Water Emergency Program SAFI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80.5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QC.01654.P06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Desal Water Pipe S2G_Pumps Packg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65.1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QC.01872.P47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Reliability SAFI - 2 x 10MLD Trai…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J-1.e Under JESA PC review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56.6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QC.02145.P04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SWRO Desalination plant wave II e…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36.0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QC.01872.P41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SWRO WaveII Safi mechanical Packa…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QC.00947.P08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FBS General contractor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QC.01432.P25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Water Emergency Program - Pckg IS…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QC.01754.P05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Wave 2 Desalination Plant Jorf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QC.01872.P26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SWRO Desalination Plant Wave II S…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QC.00387.S07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TM - Jorf Gypsum Stacking EPCM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QC.01654.P04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Desal Water Pipe S2GM_Pipes MPH t…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1,511 MMAD (−2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(384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Fertilizers &amp; Chemicals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3,219 MMAD (−23 WoW, −15 vs month start); unbilled 79% / unpaid 20% / advance 1% · DSO 376 days (prior 331)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4,601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1,382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3,219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2,556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636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+9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1,758 · 69%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+51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3A9C8C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SS postponed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514 · 20%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−17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219 · 9%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−48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377440" y="4169663"/>
            <a:ext cx="146304" cy="146304"/>
          </a:xfrm>
          <a:prstGeom prst="rect">
            <a:avLst/>
          </a:prstGeom>
          <a:solidFill>
            <a:srgbClr val="B5473A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578608" y="409651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At risk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578608" y="429768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65 · 3%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9" name="Table 58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637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595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514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−17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+44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C-1.b At risk (budget overrun)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C-6.a Pending SS OCP rejection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60" name="TextBox 59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61" name="Chart 60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2" name="Rectangle 61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399 · 63%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Rejected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184 · 29%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332720" y="36118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515600" y="35387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515600" y="37398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53 · 8%</a:t>
            </a:r>
          </a:p>
        </p:txBody>
      </p:sp>
      <p:graphicFrame>
        <p:nvGraphicFramePr>
          <p:cNvPr id="71" name="Chart 70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73" name="Table 72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2,580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2,570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2,556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3,234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3,242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3,219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−23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1,385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1,384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1,382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4" name="Chart 73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Fert. &amp; Chem.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Fertilizers &amp; Chemicals: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QC.01466.P01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Jorf Fertilizer-North Axe, New TS…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262.8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QC.01746.P01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Hub Handling and Storage C+F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108.0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QC.01458.P51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 (JFC1)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91.8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QC.01458.P52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 (JFC4)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85.2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QC.01458.P53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 (JFC2)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80.4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QC.01466.S05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New TSP Hub (2 units)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74.3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QC.01683.S06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PPA DESIGN STUDIES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65.6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QC.01466.P54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New TSP Hub (2 units)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58.4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QC.00029.S06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AHF Project ISBL &amp; OSBL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91.7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QC.01458.P52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 (JFC4)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88.0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QC.01747.P16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Hub OSBL and Piperack cost pl…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59.8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QC.01458.P53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 (JFC2)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50.6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QC.00186.S02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DAP 107 D,E,F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QC.01458.S06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TSP Adaptation Jorf(Define/Design…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QC.01683.P02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Cost + Fee for PAT//PPA/MA…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QC.01873.S05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New CAP Lines (2 Units) JLS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1,382 MMAD (−2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(389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SP2M Ad Hoc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3,236 MMAD (0 WoW, −92 vs month start); unbilled 84% / unpaid 14% / advance 2% · DSO 294 days (prior 268)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6,507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3,271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−314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3,236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−92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2,720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−92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2,396 · 88%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3A9C8C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SS postponed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 · 0%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303 · 11%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377440" y="4169663"/>
            <a:ext cx="146304" cy="146304"/>
          </a:xfrm>
          <a:prstGeom prst="rect">
            <a:avLst/>
          </a:prstGeom>
          <a:solidFill>
            <a:srgbClr val="B5473A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578608" y="409651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At risk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578608" y="429768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21 · 1%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9" name="Table 58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1,576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−96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635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+67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J-3.a Signed by client, pending JESA SS submis…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−60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C-1.d Pending PO correction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J-2.a Pending JESA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C-6.a Pending SS OCP rejection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C-5.b Not signed by client PM, pending OCP SS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60" name="TextBox 59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61" name="Chart 60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2" name="Rectangle 61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56 · 13%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Rejected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388 · 87%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332720" y="36118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515600" y="35387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515600" y="37398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2 · 0%</a:t>
            </a:r>
          </a:p>
        </p:txBody>
      </p:sp>
      <p:graphicFrame>
        <p:nvGraphicFramePr>
          <p:cNvPr id="71" name="Chart 70"/>
          <p:cNvGraphicFramePr>
            <a:graphicFrameLocks noGrp="1"/>
          </p:cNvGraphicFramePr>
          <p:nvPr/>
        </p:nvGraphicFramePr>
        <p:xfrm>
          <a:off x="8503920" y="4251960"/>
          <a:ext cx="3520440" cy="1938528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72" name="TextBox 71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73" name="Table 72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2,812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2,720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2,720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−92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3,328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3,236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3,236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−92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3,585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3,269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3,271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−314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4" name="Chart 73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SP2M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SP2M Ad Hoc Program: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QC.01546.P03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MPH OSBL- Civil Works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177.1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QC.01717.S02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Safi Existing Site and ES-SPH Cor…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123.6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QC.01546.P29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MPH OSBL - Overseas Fabrication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123.0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QC.01725.P03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- Louta Mine TSM package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118.3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QC.01547.P07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Central Axis-PAP-Civil Works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109.5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PAP_Construction &amp; Commssion…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99.2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QC.01547.P35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SP2M_PAP_Cooling Tower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J-3.a Signed by client, pending JE…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78.2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QC.01627.S03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SPH PSA Platforms - Phases 5&amp;6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76.7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QC.01721.P03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- EPC package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201.5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QC.01514.P01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Central axis - GRANULATION (TSP)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79.7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QC.01546.P01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Central axis - piperack &amp; Infrast…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45.3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QC.01724.P06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- BME TSM Package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QC.01547.P42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PAP -SP2M -P1 Vacuum Pump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QC.01544.P01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Central axis - Benguerir extentio…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QC.01725.P06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Louta Mine  Storage &amp; Handling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QC.01627.P88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- SPH PSA Platforming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3,271 MMAD (+2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(222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893 MMAD (−83 WoW, −127 vs month start); unbilled 71% / unpaid 29% / advance 0% · DSO 134 days (prior 135)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1,026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−78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132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893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−83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−127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632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−54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262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−62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−73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699 · 111%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−8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−68 · -11%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B5473A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At risk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 · 0%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423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J-2.a Pending JESA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−151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-24%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PDR PDR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7" name="TextBox 56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8" name="Chart 57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9" name="Rectangle 58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103 · 39%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158 · 61%</a:t>
            </a:r>
          </a:p>
        </p:txBody>
      </p:sp>
      <p:graphicFrame>
        <p:nvGraphicFramePr>
          <p:cNvPr id="65" name="Chart 64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67" name="Table 66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686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652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632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−54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335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1,020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976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893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−83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−127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8" name="Chart 67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AM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AM: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QC.00441.P08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JFC2 Maintenance Acclerate Projec…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26.9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QC.00440.P13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Rehabilitation and shutdown activ…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24.4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QC.02045.P01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JPH Portfolio Support C+F3 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23.3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QC.02091.P07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Réhabilitation du convoyeur UA et…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21.4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QC.01520.P01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Ammonia transfer from U155 to U07…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21.4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QC.01160.P17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JLN TSP2 : SUBS CFR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QC.02065.S01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Mining 5.0 - Fixed Asset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QC.00440.P11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JFC 1 MEE Y4 C+F CAPEX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QC.02091.P06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Inflatable hangars JPH Lot 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QC.02187.P02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JPH Bloc 9 Plant CAPEX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17.1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QC.00440.P21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JFC1 Maintenance Excellence Execu…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13.9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QC.02086.P05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Alimentation Repulpage Flexible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13.0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QC.01536.P11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107 DEF - Amelioratins Et Perform…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QC.01847.P06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CAPEX for Jorf lasfar water facil…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QC.01409.P02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Rénovation Bâtiment Travaux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QC.01847.P04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Jorf Lasfar Water Facilities MEE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132 MMAD (+5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(125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Energy 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500 MMAD (+2 WoW, 0 vs month start); unbilled 73% / unpaid 19% / advance 8% · DSO 190 days (prior 174)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862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362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500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365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94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321 · 88%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3A9C8C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SS postponed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37 · 10%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8 · 2%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C-5.b Not signed by client PM, pending OCP SS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J-5.a Rejected by client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7" name="TextBox 56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8" name="Chart 57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9" name="Rectangle 58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84 · 90%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10 · 10%</a:t>
            </a:r>
          </a:p>
        </p:txBody>
      </p:sp>
      <p:graphicFrame>
        <p:nvGraphicFramePr>
          <p:cNvPr id="65" name="Chart 64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67" name="Table 66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8" name="Chart 67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Energy Ops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Energy Operations: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QC.01877.P03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Construction of a 60/10 kV substa…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76.5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QC.01694.P02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MPH Electrical project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65.3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QC.01523.S03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SPH platform Electrical 400/60KV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QC.01877.S02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PSCA Construction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J-3.c Service sheets postponed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QC.01727.S01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MPH- Power Plant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QC.01694.S01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MPH Electrical project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QC.00464.S04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Jorf Power Plant U220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QC.01627.S02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SPH HV/MV Substations (PSA/SPH PL…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QC.01788.S02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JH2P - Green Ammonia Plant 100KT/Y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QC.01877.P05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PSCA PIPELINE SUBSTATIONS 60/10 KV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QC.01877.P06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PSCA Transmission LINE 60KV BOUGU…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QC.00385.S05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GAPP PMC ROLE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QC.01757.S03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Mines Solar PV Phase 2 constructi…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QC.00929.S01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MCA SENEGAL II POWER PMC ROLE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QC.00385.S06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Green Ammonia Pilot Plant 4T/D -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QC.00926.P03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JPH Electrical Projects Phase 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362 MMAD (0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(362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Global Mining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551 MMAD (0 WoW, −6 vs month start); unbilled 76% / unpaid 24% / advance 0% · DSO 252 days (prior 216)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160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−65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551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−6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273 · 65%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32 · 8%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377440" y="3666744"/>
            <a:ext cx="146304" cy="146304"/>
          </a:xfrm>
          <a:prstGeom prst="rect">
            <a:avLst/>
          </a:prstGeom>
          <a:solidFill>
            <a:srgbClr val="B5473A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78608" y="359359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At risk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578608" y="379476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116 · 27%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6" name="Table 55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C-1.b At risk (budget overrun)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−58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C-5.b Not signed by client PM, pending OCP SS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+59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C-6.a Pending SS OCP rejection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J-1.e Under JESA PC review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-2%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7" name="TextBox 56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8" name="Chart 57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9" name="Rectangle 58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106 · 81%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Rejected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7 · 5%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332720" y="36118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515600" y="35387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37398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18 · 14%</a:t>
            </a:r>
          </a:p>
        </p:txBody>
      </p:sp>
      <p:graphicFrame>
        <p:nvGraphicFramePr>
          <p:cNvPr id="68" name="Chart 67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9" name="TextBox 68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70" name="Table 69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557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−65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1" name="Chart 70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Global Mining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Global Mining: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QC.01661.S01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 - Phase 1 of Phosphate 3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78.4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QC.00365.P01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Fire Fighting system upgrade in 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45.1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QC.01921.S02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Phase 2 of the Phosphate 3 Comple…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33.4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QC.00475.S05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LAAYOUNE WASH PLANT EPCM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21.4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QC.01429.P02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Fire Fighting system upgrade_GANT…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QC.01764.S02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Fire Fighting Construction Casern…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C-5.b Not signed by client PM, pen…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QC.01988.S01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Boucraa Mine Expansion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QC.01751.S04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PEZCN Washplant_Feasability &amp; Con…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QC.01921.S02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Phase 2 of the Phosphate 3 Comple…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46.6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QC.01661.S01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 - Phase 1 of Phosphate 3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QC.00475.P17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LAAYOUNE WASHPLANT CF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QC.01663.P01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Tailings dewatering by Centrifuga…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QC.00475.P12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LAAYOUNE WASHPLANT CF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QC.01764.P02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Construction 3 casernes Cost+Fee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QC.02036.S01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FDM Digital Plant - JESA / WORLEY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QC.02293.S02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MAADEN CAPITAL GROWTH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160 MMAD (−43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(51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Building &amp; Infrastructure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487 MMAD (+1 WoW, +2 vs month start); unbilled 30% / unpaid 70% / advance 0% · DSO 462 days (prior 415)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29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545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58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487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145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108 · 75%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36 · 25%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3" name="Table 52"/>
          <p:cNvGraphicFramePr>
            <a:graphicFrameLocks noGrp="1"/>
          </p:cNvGraphicFramePr>
          <p:nvPr/>
        </p:nvGraphicFramePr>
        <p:xfrm>
          <a:off x="4572000" y="2560320"/>
          <a:ext cx="3840479" cy="17419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J-1.b Pending attachments JESA PA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C-2.a Waiting OCP VAT exemption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5" name="Chart 54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6" name="Rectangle 55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331 · 97%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11 · 3%</a:t>
            </a:r>
          </a:p>
        </p:txBody>
      </p:sp>
      <p:graphicFrame>
        <p:nvGraphicFramePr>
          <p:cNvPr id="62" name="Chart 61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3" name="TextBox 62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340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485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487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B5473A"/>
                          </a:solidFill>
                          <a:latin typeface="Arial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5" name="Chart 64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B&amp;I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Building &amp; Infrastructure: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QC.01726.S01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PORT SAFI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27.6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QC.00673.S04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V01 FOR LAAYOUNE PORT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27.0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QC.00706.S03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PSI GANTOUR Benguerir Youssoufia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QC.01782.S02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Amenagement Mine Verte_Zone Nord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QC.00708.S02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PSI KHOURIBGA REVISION 08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QC.01951.S03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EXTESNION QUAI P1-TER PORT JO…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QC.01368.S01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PORT CASA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QC.00705.S02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PSI Jorf REV 08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QC.01602.S01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UM6P RABAT PMC PHASE 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67.9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QC.02059.S01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PST 2 Benguerir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50.8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QC.01602.S03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Nouveaux  Bâtiments UM6P RABAT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39.4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QC.01659.S01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Green City University Campus Beng…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30.2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QC.02103.S01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Campus UM6P Laayoune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26.2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QC.01860.S02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Hotel RITZ Carlton Phase II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QC.00673.S04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PMC V01 FOR LAAYOUNE PORT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QC.01813.S02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Extension CFMDV Benguerir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58 MMAD (0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(50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JESA Technologies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107 MMAD (−8 WoW, −8 vs month start); unbilled 7% / unpaid 93% / advance 0% · DSO 95 days (prior 107)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359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107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99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5 · 67%</a:t>
            </a:r>
            <a:r>
              <a:rPr sz="850" b="1" i="0">
                <a:solidFill>
                  <a:srgbClr val="7A8794"/>
                </a:solidFill>
                <a:latin typeface="Arial"/>
              </a:rPr>
              <a:t>   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 · 33%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3" name="Table 52"/>
          <p:cNvGraphicFramePr>
            <a:graphicFrameLocks noGrp="1"/>
          </p:cNvGraphicFramePr>
          <p:nvPr/>
        </p:nvGraphicFramePr>
        <p:xfrm>
          <a:off x="4572000" y="2560320"/>
          <a:ext cx="3840479" cy="195681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J-2.a Pending JESA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J-1.f Pending LC by PC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-43%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J-1.d Under JESA finance review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-16%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-14%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5" name="Chart 54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6" name="Rectangle 55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94 · 94%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Rejected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1 · 1%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332720" y="36118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515600" y="35387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515600" y="37398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4 · 4%</a:t>
            </a:r>
          </a:p>
        </p:txBody>
      </p:sp>
      <p:graphicFrame>
        <p:nvGraphicFramePr>
          <p:cNvPr id="65" name="Chart 64"/>
          <p:cNvGraphicFramePr>
            <a:graphicFrameLocks noGrp="1"/>
          </p:cNvGraphicFramePr>
          <p:nvPr/>
        </p:nvGraphicFramePr>
        <p:xfrm>
          <a:off x="8503920" y="4251960"/>
          <a:ext cx="3520440" cy="22402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6" name="TextBox 65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67" name="Table 66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8" name="Chart 67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JESA Tech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JESA Technologies: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QC.01188.S05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Bench Scale Testing for Cadmium 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QC.01661.S03.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Ma’aden Phosphate 3 Project Phase…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J-1.f Pending LC by PC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QC.01969.S01.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OCP TSP+S Pilot Plant Testing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J-7.a Under investigation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QC.00483.P02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Line F OSBL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QC.00923.S06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Fox River Variability Testing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QC.00186.P02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DAP 107 D,E,F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QC.02301.S02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 Granulation Plant Ph3 Ph2…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QC.02232.S01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P2 Capacity Increase Audit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J-1.c Pending LS milestone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QC.01547.P17.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PAP - M'zinda Central Axis-C5 Rea…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33.7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QC.01547.P17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PAP - M'zinda Central Axis-C5 Rea…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QC.02301.S01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Ma'aden Granulation Plant Ph3 Ph2…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QC.01188.S06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SP2M Cd Removal TDP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QC.01756.S02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L&amp;T Proprietary Equipment &amp; Licen…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QC.01970.S02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JTFC DH PAP TDP and PP Testing - 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QC.01426.S07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Jorf North Complex 107 A/B/C Adap…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QC.01238.S07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Nutrien 2026 Core Washing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8404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Unrecognized suppliers – 252 MMAD (0 WoW)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274320" y="4114800"/>
          <a:ext cx="566928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72200" y="3840480"/>
            <a:ext cx="5669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JESA attachments to client – status (3 MMAD)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080760" y="4114800"/>
          <a:ext cx="5852160" cy="23774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Advisory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Total AR 70 MMAD (−3 WoW, −3 vs month start); unbilled 60% / unpaid 40% / advance 0% · DSO 192 days (prior 203)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GROSS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33117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33117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70277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UNRECOGNIZED REVENUE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0277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0277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0277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91914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91914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9074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TOTAL 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9074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70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29074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9074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50711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50711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7871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UNBILLED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87871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42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87871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87871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09508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09508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46668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UNPAID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6668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28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6668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2E7D4F"/>
                </a:solidFill>
                <a:latin typeface="Arial"/>
              </a:rPr>
              <a:t>−4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6668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B5473A"/>
                </a:solidFill>
                <a:latin typeface="Arial"/>
              </a:rPr>
              <a:t>+1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68306" y="1097280"/>
            <a:ext cx="1849069" cy="10515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0068306" y="1207007"/>
            <a:ext cx="64008" cy="832103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05466" y="1161288"/>
            <a:ext cx="1666189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6B7B8C"/>
                </a:solidFill>
                <a:latin typeface="Arial"/>
              </a:rPr>
              <a:t>ADVANCE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05466" y="1371600"/>
            <a:ext cx="1666189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1B2F4B"/>
                </a:solidFill>
                <a:latin typeface="Arial"/>
              </a:rPr>
              <a:t>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05466" y="1636775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WoW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05466" y="1856231"/>
            <a:ext cx="1666189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vs month start  </a:t>
            </a:r>
            <a:r>
              <a:rPr sz="1000" b="1" i="0">
                <a:solidFill>
                  <a:srgbClr val="7A8794"/>
                </a:solidFill>
                <a:latin typeface="Arial"/>
              </a:rP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2286000"/>
            <a:ext cx="402336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Unbilled split by ownership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182880" y="2514600"/>
          <a:ext cx="2103120" cy="2148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6" name="Rectangle 45"/>
          <p:cNvSpPr/>
          <p:nvPr/>
        </p:nvSpPr>
        <p:spPr>
          <a:xfrm>
            <a:off x="2377440" y="2660904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78608" y="258775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OCP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78608" y="278892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28 · 67%</a:t>
            </a:r>
            <a:r>
              <a:rPr sz="850" b="1" i="0">
                <a:solidFill>
                  <a:srgbClr val="B5473A"/>
                </a:solidFill>
                <a:latin typeface="Arial"/>
              </a:rPr>
              <a:t>   +6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377440" y="3163824"/>
            <a:ext cx="146304" cy="146304"/>
          </a:xfrm>
          <a:prstGeom prst="rect">
            <a:avLst/>
          </a:prstGeom>
          <a:solidFill>
            <a:srgbClr val="C9DDEE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78608" y="3090672"/>
            <a:ext cx="182880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50" b="1" i="0">
                <a:solidFill>
                  <a:srgbClr val="1B2F4B"/>
                </a:solidFill>
                <a:latin typeface="Arial"/>
              </a:rPr>
              <a:t>Under JESA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8608" y="3291840"/>
            <a:ext cx="19202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50" b="0" i="0">
                <a:solidFill>
                  <a:srgbClr val="6B7B8C"/>
                </a:solidFill>
                <a:latin typeface="Arial"/>
              </a:rPr>
              <a:t>14 · 33%</a:t>
            </a:r>
            <a:r>
              <a:rPr sz="850" b="1" i="0">
                <a:solidFill>
                  <a:srgbClr val="2E7D4F"/>
                </a:solidFill>
                <a:latin typeface="Arial"/>
              </a:rPr>
              <a:t>   −6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0" y="2286000"/>
            <a:ext cx="38404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Largest unbilled statuses (MMAD)</a:t>
            </a:r>
          </a:p>
        </p:txBody>
      </p:sp>
      <p:graphicFrame>
        <p:nvGraphicFramePr>
          <p:cNvPr id="53" name="Table 52"/>
          <p:cNvGraphicFramePr>
            <a:graphicFrameLocks noGrp="1"/>
          </p:cNvGraphicFramePr>
          <p:nvPr/>
        </p:nvGraphicFramePr>
        <p:xfrm>
          <a:off x="4572000" y="2560320"/>
          <a:ext cx="3840479" cy="152704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359813"/>
                <a:gridCol w="508979"/>
                <a:gridCol w="416437"/>
                <a:gridCol w="555250"/>
              </a:tblGrid>
              <a:tr h="23774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attachment creation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 OCP SS appr…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C-1.c Pending client PO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C-6.a Pending SS OCP rejection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2E7D4F"/>
                          </a:solidFill>
                          <a:latin typeface="Arial"/>
                        </a:rPr>
                        <a:t>−1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54" name="TextBox 53"/>
          <p:cNvSpPr txBox="1"/>
          <p:nvPr/>
        </p:nvSpPr>
        <p:spPr>
          <a:xfrm>
            <a:off x="8641080" y="2286000"/>
            <a:ext cx="33832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Unpaid split</a:t>
            </a:r>
          </a:p>
        </p:txBody>
      </p:sp>
      <p:graphicFrame>
        <p:nvGraphicFramePr>
          <p:cNvPr id="55" name="Chart 54"/>
          <p:cNvGraphicFramePr>
            <a:graphicFrameLocks noGrp="1"/>
          </p:cNvGraphicFramePr>
          <p:nvPr/>
        </p:nvGraphicFramePr>
        <p:xfrm>
          <a:off x="8503920" y="2514600"/>
          <a:ext cx="1737360" cy="1737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6" name="Rectangle 55"/>
          <p:cNvSpPr/>
          <p:nvPr/>
        </p:nvSpPr>
        <p:spPr>
          <a:xfrm>
            <a:off x="10332720" y="2697479"/>
            <a:ext cx="146304" cy="146304"/>
          </a:xfrm>
          <a:prstGeom prst="rect">
            <a:avLst/>
          </a:prstGeom>
          <a:solidFill>
            <a:srgbClr val="0F3B63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515600" y="26243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Past due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15600" y="28254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20 · 71%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332720" y="3154679"/>
            <a:ext cx="146304" cy="146304"/>
          </a:xfrm>
          <a:prstGeom prst="rect">
            <a:avLst/>
          </a:prstGeom>
          <a:solidFill>
            <a:srgbClr val="7A8794"/>
          </a:solidFill>
          <a:ln w="9525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0515600" y="3081528"/>
            <a:ext cx="155448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 i="0">
                <a:solidFill>
                  <a:srgbClr val="1B2F4B"/>
                </a:solidFill>
                <a:latin typeface="Arial"/>
              </a:rPr>
              <a:t>Current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15600" y="3282696"/>
            <a:ext cx="155448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 i="0">
                <a:solidFill>
                  <a:srgbClr val="6B7B8C"/>
                </a:solidFill>
                <a:latin typeface="Arial"/>
              </a:rPr>
              <a:t>8 · 29%</a:t>
            </a:r>
          </a:p>
        </p:txBody>
      </p:sp>
      <p:graphicFrame>
        <p:nvGraphicFramePr>
          <p:cNvPr id="62" name="Chart 61"/>
          <p:cNvGraphicFramePr>
            <a:graphicFrameLocks noGrp="1"/>
          </p:cNvGraphicFramePr>
          <p:nvPr/>
        </p:nvGraphicFramePr>
        <p:xfrm>
          <a:off x="8503920" y="4251960"/>
          <a:ext cx="3520440" cy="1938528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63" name="TextBox 62"/>
          <p:cNvSpPr txBox="1"/>
          <p:nvPr/>
        </p:nvSpPr>
        <p:spPr>
          <a:xfrm>
            <a:off x="365760" y="4709160"/>
            <a:ext cx="41148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Movement (MMAD)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4983480"/>
          <a:ext cx="4114800" cy="13487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05840"/>
                <a:gridCol w="685800"/>
                <a:gridCol w="594360"/>
                <a:gridCol w="594360"/>
                <a:gridCol w="594360"/>
                <a:gridCol w="64008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M. start
07-Oct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14-Oct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20-Oct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WoW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Δ vs MS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Advance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Unbilled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Unpaid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2E7D4F"/>
                          </a:solidFill>
                          <a:latin typeface="Arial"/>
                        </a:rPr>
                        <a:t>−4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B5473A"/>
                          </a:solidFill>
                          <a:latin typeface="Arial"/>
                        </a:rPr>
                        <a:t>+1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Total AR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1F2A37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1">
                          <a:solidFill>
                            <a:srgbClr val="2E7D4F"/>
                          </a:solidFill>
                          <a:latin typeface="Arial"/>
                        </a:rPr>
                        <a:t>−3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Unrecognized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7A879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5" name="Chart 64"/>
          <p:cNvGraphicFramePr>
            <a:graphicFrameLocks noGrp="1"/>
          </p:cNvGraphicFramePr>
          <p:nvPr/>
        </p:nvGraphicFramePr>
        <p:xfrm>
          <a:off x="4572000" y="4617720"/>
          <a:ext cx="3840480" cy="1874519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Zoom – Advisory · projects &amp; unrecognized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Advisory: largest unbilled and unpaid projects at 20-Oct; unrecognized supplier scope by status (incl. markup)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unbilled projects (MMAD)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unb.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QC.02149.S01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Performance Management and Steeri…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J-4.a Ongoing invoicing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9%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QC.02267.S01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Support Entité Integrat Mines SBU…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8%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QC.02254.S01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Support to Nutricrops' Strategy F…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QC.02347.S01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OCP Energy Task Force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QC.02242.S01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Support Structuration Entité Qual…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C-5.a Signed by client PM, pending…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QC.02151.S01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S2PM Supply Chain and Strategic D…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QC.02225.S01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Execution strategy &amp; operating mo…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J-1.a Pending JESA DMR / attachmen…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QC.02266.S01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Financing Strat of Integrated Ind…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C-4.a Pending client PM approval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09728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unpaid projects (MMAD)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371600"/>
          <a:ext cx="5623557" cy="226771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61674"/>
                <a:gridCol w="2040808"/>
                <a:gridCol w="1859402"/>
                <a:gridCol w="453512"/>
                <a:gridCol w="408161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WBS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750"/>
                      </a:pPr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% unp.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QC.02155.S01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Support Operations Supply Chain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20%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QC.02270.S02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SNIM TO Wave 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4.1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QC.02177.S01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Nutricrops Operations Office Tran…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QC.02253.S02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Support Nutricrops' Strat. Op - P…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QC.02250.S02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Sell-Side Advisory Assist. &amp; PMO 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3.0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QC.02243.S01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Etude Opp. Dev Ingénierie Guinée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QC.01816.S03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Suite Accompagnement Management O…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C-7.b Past due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6%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QC.02258.S01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Global Phosphate &amp; Fertilizers St…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C-7.a Current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1.5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750"/>
                      </a:pPr>
                      <a:r>
                        <a:rPr sz="750" b="0">
                          <a:solidFill>
                            <a:srgbClr val="1F2A37"/>
                          </a:solidFill>
                          <a:latin typeface="Arial"/>
                        </a:rPr>
                        <a:t>5%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65760" y="3931920"/>
            <a:ext cx="10972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6B7B8C"/>
                </a:solidFill>
                <a:latin typeface="Arial"/>
              </a:rPr>
              <a:t>No unrecognized supplier scope reported for this business unit.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Backup – Letters of Credit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Largest LC lines by outstanding amount (bank LC situation 19/10, MMAD)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43000"/>
          <a:ext cx="11567157" cy="47183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13854"/>
                <a:gridCol w="2488552"/>
                <a:gridCol w="1382529"/>
                <a:gridCol w="875601"/>
                <a:gridCol w="460843"/>
                <a:gridCol w="783433"/>
                <a:gridCol w="645180"/>
                <a:gridCol w="645180"/>
                <a:gridCol w="645180"/>
                <a:gridCol w="2626805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Project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Supplier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LC reference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Expiry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Ccy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Outstanding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Opened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2026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2027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Action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SP2M-LBE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193.0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24-month rescheduling to finalise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SP2M-BBE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192.9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24-month rescheduling to finalise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SP2M-OSBL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TAKRAF INDIA PRIVATE LIMITED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ILC00155371/0200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30-Jan-27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181.4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Amount to be split by delivery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SP2M-SAP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HOWDEN TURBO GMBH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ILC26A001942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14-Dec-26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163.9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Awaiting LC copy from buyer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SP2M-SAP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THERMAL SYSTEMS (HYDERABAD)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ILC00156200/0200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10-Oct-26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110.7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Amount to be split by delivery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ALFA LAVAL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100.5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SP2M-SAP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THERMAL SYSTEMS (HYDERABAD)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ILC00156199/0200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10-Sep-26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99.7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Amount to be split by delivery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 TECHNOLOGY GROUP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ILC00156325/0200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30-Nov-26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76.5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Awaiting JESA response (suspension)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MILTON ROY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ILC00155203/0200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60.1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SP2M-SAP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WEIR MINERALS US INC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52.5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 TECHNOLOGY GROUP (BBE)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ILC00156422/0200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20-Aug-26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52.4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Amount to be split by delivery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BGRIMM TECHNOLOGY GROUP (Louta)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ILC00156423/0200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20-Aug-26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45.6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Remaining payment pushed to 2027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ENE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XI'AN LONGI HYDROGEN TECHNOLOGY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ILC00154077/0200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37.3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Remaining payment pushed to 2027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GRAPHITE INDIA LIMITED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TF2602316335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20-Jul-26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25.5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Awaiting draft LC (procurement)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HASLER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23.1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MILTON ROY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EUR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19.9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SP2M-PAP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WEIR MINERALS US INC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TF2530996775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21-Feb-26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17.8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 action recorded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SP2M-Corridor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PGP Energies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not opened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USD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10.9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No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0">
                          <a:solidFill>
                            <a:srgbClr val="1F2A37"/>
                          </a:solidFill>
                          <a:latin typeface="Arial"/>
                        </a:rPr>
                        <a:t>Signed WO from client needed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Backup – Accounts Payable detail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Open supplier invoices by BU and origin, and top suppliers (AP file Oct W3, MMAD)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14300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By business unit and origin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417320"/>
          <a:ext cx="5486395" cy="26517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528996"/>
                <a:gridCol w="809468"/>
                <a:gridCol w="809468"/>
                <a:gridCol w="899409"/>
                <a:gridCol w="809468"/>
                <a:gridCol w="629586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4411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Parked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Downpayment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Lines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912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277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476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1,300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348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250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JESA Tech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B&amp;I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Advisory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810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1,036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2,144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1">
                          <a:solidFill>
                            <a:srgbClr val="1F2A37"/>
                          </a:solidFill>
                          <a:latin typeface="Arial"/>
                        </a:rPr>
                        <a:t>2,803</a:t>
                      </a:r>
                    </a:p>
                  </a:txBody>
                  <a:tcPr marL="45720" marR="45720" marT="13716" marB="13716" anchor="ctr">
                    <a:solidFill>
                      <a:srgbClr val="C9DDEE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17920" y="114300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B2F4B"/>
                </a:solidFill>
                <a:latin typeface="Arial"/>
              </a:rPr>
              <a:t>Top 15 suppliers by open payables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17920" y="1417320"/>
          <a:ext cx="5669280" cy="384048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54330"/>
                <a:gridCol w="2657475"/>
                <a:gridCol w="1240155"/>
                <a:gridCol w="708660"/>
                <a:gridCol w="70866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#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Supplier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BU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MMAD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800"/>
                      </a:pPr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of AP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SOGEA MAROC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132.4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6.2%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MMSE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128.3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6.0%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CEGELEC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Global Mining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114.3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5.3%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HAZEMAG Systems GmbH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89.2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4.2%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ATNER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81.3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3.8%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AUSTRUCT INDUSTRIES PTY L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79.6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3.7%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MMSA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72.8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Tianjin Cement Industry Design &amp;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71.9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JIAOZUO CREATION HEAVY INDUSTRY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65.9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3.1%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BUTEC ENERGIES &amp; SERVICES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50.8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2.4%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SAFARELEC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Water &amp; Env.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49.0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EM ENERGIE MAROC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Energy Ops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48.1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2.2%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GRAPHITE INDIA LIMITED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2.2%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MILTON ROY EUROPE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SP2M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46.1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2.1%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PROMINOX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Fert. &amp; Chem.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44.1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defRPr sz="850"/>
                      </a:pPr>
                      <a:r>
                        <a:rPr sz="850" b="0">
                          <a:solidFill>
                            <a:srgbClr val="1F2A37"/>
                          </a:solidFill>
                          <a:latin typeface="Arial"/>
                        </a:rPr>
                        <a:t>2.1%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274320" y="4288536"/>
          <a:ext cx="5669280" cy="211226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54480" cy="91440"/>
          </a:xfrm>
          <a:prstGeom prst="rect">
            <a:avLst/>
          </a:prstGeom>
          <a:solidFill>
            <a:srgbClr val="C897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54480" y="0"/>
            <a:ext cx="10637215" cy="91440"/>
          </a:xfrm>
          <a:prstGeom prst="rect">
            <a:avLst/>
          </a:prstGeom>
          <a:solidFill>
            <a:srgbClr val="0F3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88575" y="164592"/>
            <a:ext cx="173736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2600" b="1" i="0">
                <a:solidFill>
                  <a:srgbClr val="1E3F8F"/>
                </a:solidFill>
                <a:latin typeface="Arial"/>
              </a:rPr>
              <a:t>JESA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8961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 i="0">
                <a:solidFill>
                  <a:srgbClr val="1B2F4B"/>
                </a:solidFill>
                <a:latin typeface="Arial"/>
              </a:rPr>
              <a:t>Sources &amp; definitions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713232"/>
            <a:ext cx="9601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 i="0">
                <a:solidFill>
                  <a:srgbClr val="3A9C8C"/>
                </a:solidFill>
                <a:latin typeface="Arial"/>
              </a:rPr>
              <a:t>Where each figure comes from and how it is defined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0" y="6583680"/>
            <a:ext cx="39319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750" b="0" i="0">
                <a:solidFill>
                  <a:srgbClr val="7A8794"/>
                </a:solidFill>
                <a:latin typeface="Arial"/>
              </a:rPr>
              <a:t>JESA - INTERNAL USE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0" i="0">
                <a:solidFill>
                  <a:srgbClr val="7A8794"/>
                </a:solidFill>
                <a:latin typeface="Arial"/>
              </a:rPr>
              <a:t>37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65760" y="1143000"/>
          <a:ext cx="11430000" cy="25968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120640"/>
                <a:gridCol w="3291840"/>
                <a:gridCol w="3017520"/>
              </a:tblGrid>
              <a:tr h="29260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Figures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defRPr sz="900"/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As of</a:t>
                      </a:r>
                    </a:p>
                  </a:txBody>
                  <a:tcPr marL="45720" marR="45720" marT="13716" marB="13716" anchor="ctr">
                    <a:solidFill>
                      <a:srgbClr val="1B2F4B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Accounts receivable (advance, unbilled, unpaid), statuses, aging, non-OCP, JESA responsibility, collections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AR extract of the week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20 Oct 2026; previous week 14 Oct 2026; month start 07 Oct 2026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Unrecognized revenue by business unit and status, supplier PO book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UR tracking consolidation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21 Oct 2026; previous week and month start from the earlier reviews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DSO excluding advances, group and by business unit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BU meeting report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October 2026 (prior month: September)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Cash position, October paid / approved / pending payments, priority list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Cash flow analysis by business unit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15 Oct 2026; collections to 19/10, payments to 15/10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Supplier payables by business unit, due date, tier and supplier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Supplier invoice extract (4411, parked, downpayments)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AP extract Oct W3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Letters of credit: outstanding, maturity schedule, action status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Bank LC situation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defRPr sz="900"/>
                      </a:pPr>
                      <a:r>
                        <a:rPr sz="900" b="0">
                          <a:solidFill>
                            <a:srgbClr val="1F2A37"/>
                          </a:solidFill>
                          <a:latin typeface="Arial"/>
                        </a:rPr>
                        <a:t>LC situation 19/10</a:t>
                      </a:r>
                    </a:p>
                  </a:txBody>
                  <a:tcPr marL="45720" marR="45720" marT="13716" marB="13716" anchor="ctr">
                    <a:solidFill>
                      <a:srgbClr val="E9F0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65760" y="3794760"/>
            <a:ext cx="11430000" cy="2651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Total AR: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advance payments + unbilled + unpaid, amounts HT in MMAD.</a:t>
            </a:r>
          </a:p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Unbilled: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delivered scope not yet invoiced, excluding unearned amounts on lump-sum contracts; split by ownership of the next action (client / OCP, JESA, service sheets postponed, at risk).</a:t>
            </a:r>
          </a:p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Unpaid: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invoiced, not yet collected; split current / past due / rejected and by OCP processing phase.</a:t>
            </a:r>
          </a:p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Unrecognized revenue: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supplier and equipment scope executed but not yet booked as AR, including the 6% JESA cost + fee.</a:t>
            </a:r>
          </a:p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Gross exposure: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total AR + unrecognized revenue.</a:t>
            </a:r>
          </a:p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Week on week / vs month start: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position at 20-Oct compared with 14-Oct and with the first AR position of the month (07-Oct).</a:t>
            </a:r>
          </a:p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Payments received: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invoices paid by payment date, on the amount-invoiced basis used in the BU meeting report.</a:t>
            </a:r>
          </a:p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Cash position: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procurement (non-labor) cash in and out for the JESA Group including AM; PSR (labor) collections shown net of the AM ring-fence and the Water &amp; Environment reserve.</a:t>
            </a:r>
          </a:p>
          <a:p>
            <a:pPr algn="l">
              <a:lnSpc>
                <a:spcPct val="110000"/>
              </a:lnSpc>
            </a:pPr>
            <a:r>
              <a:rPr sz="900" b="1" i="0">
                <a:solidFill>
                  <a:srgbClr val="1B2F4B"/>
                </a:solidFill>
                <a:latin typeface="Arial"/>
              </a:rPr>
              <a:t>DSO: </a:t>
            </a:r>
            <a:r>
              <a:rPr sz="900" b="0" i="0">
                <a:solidFill>
                  <a:srgbClr val="1F2A37"/>
                </a:solidFill>
                <a:latin typeface="Arial"/>
              </a:rPr>
              <a:t>days sales outstanding excluding advances, as reported in the BU meeting report.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