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71.xml" ContentType="application/vnd.openxmlformats-officedocument.drawingml.chart+xml"/>
  <Override PartName="/ppt/charts/chart72.xml" ContentType="application/vnd.openxmlformats-officedocument.drawingml.chart+xml"/>
  <Override PartName="/ppt/charts/chart73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_rels/chart7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1.xlsx"/></Relationships>
</file>

<file path=ppt/charts/_rels/chart7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2.xlsx"/></Relationships>
</file>

<file path=ppt/charts/_rels/chart7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Δ vs last week (14-Oct)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last week (14-Oct)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7A8794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Δ vs month start (07-Oct)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month start (07-Oct)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B5473A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Unrecognized revenue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0F3B63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dPt>
            <c:idx val="4"/>
            <c:spPr>
              <a:solidFill>
                <a:srgbClr val="2E6DA4"/>
              </a:solidFill>
              <a:ln>
                <a:noFill/>
              </a:ln>
            </c:spPr>
          </c:dPt>
          <c:dPt>
            <c:idx val="5"/>
            <c:spPr>
              <a:solidFill>
                <a:srgbClr val="7A8794"/>
              </a:solidFill>
              <a:ln>
                <a:noFill/>
              </a:ln>
            </c:spPr>
          </c:dPt>
          <c:dPt>
            <c:idx val="6"/>
            <c:spPr>
              <a:solidFill>
                <a:srgbClr val="1B2F4B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SP2M  (+2)</c:v>
                </c:pt>
                <c:pt idx="1">
                  <c:v>Water &amp; Env.  (−2)</c:v>
                </c:pt>
                <c:pt idx="2">
                  <c:v>Fert. &amp; Chem.  (−2)</c:v>
                </c:pt>
                <c:pt idx="3">
                  <c:v>Energy Ops  (0)</c:v>
                </c:pt>
                <c:pt idx="4">
                  <c:v>JESA Tech  (0)</c:v>
                </c:pt>
                <c:pt idx="5">
                  <c:v>Global Mining  (−43)</c:v>
                </c:pt>
                <c:pt idx="6">
                  <c:v>AM  (+5)</c:v>
                </c:pt>
                <c:pt idx="7">
                  <c:v>B&amp;I  (0)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1438.0</c:v>
                </c:pt>
                <c:pt idx="1">
                  <c:v>267.0</c:v>
                </c:pt>
                <c:pt idx="2">
                  <c:v>470.0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Subcontractors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2110.0</c:v>
                </c:pt>
                <c:pt idx="1">
                  <c:v>1226.0</c:v>
                </c:pt>
                <c:pt idx="2">
                  <c:v>1183.0</c:v>
                </c:pt>
                <c:pt idx="3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PSR collections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99.0</c:v>
                </c:pt>
                <c:pt idx="1">
                  <c:v>141.0</c:v>
                </c:pt>
                <c:pt idx="2">
                  <c:v>67.0</c:v>
                </c:pt>
                <c:pt idx="3">
                  <c:v>66.0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Provisions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-98.0</c:v>
                </c:pt>
                <c:pt idx="1">
                  <c:v>-73.0</c:v>
                </c:pt>
                <c:pt idx="2">
                  <c:v>-73.0</c:v>
                </c:pt>
                <c:pt idx="3">
                  <c:v>-55.0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Available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1.0</c:v>
                </c:pt>
                <c:pt idx="1">
                  <c:v>68.0</c:v>
                </c:pt>
                <c:pt idx="2">
                  <c:v>-7.0</c:v>
                </c:pt>
                <c:pt idx="3">
                  <c:v>11.0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3A9C8C"/>
              </a:solidFill>
              <a:ln>
                <a:noFill/>
              </a:ln>
            </c:spPr>
          </c:dPt>
          <c:dPt>
            <c:idx val="4"/>
            <c:spPr>
              <a:solidFill>
                <a:srgbClr val="3A9C8C"/>
              </a:solidFill>
              <a:ln>
                <a:noFill/>
              </a:ln>
            </c:spPr>
          </c:dPt>
          <c:dPt>
            <c:idx val="5"/>
            <c:spPr>
              <a:solidFill>
                <a:srgbClr val="3A9C8C"/>
              </a:solidFill>
              <a:ln>
                <a:noFill/>
              </a:ln>
            </c:spPr>
          </c:dPt>
          <c:dPt>
            <c:idx val="6"/>
            <c:spPr>
              <a:solidFill>
                <a:srgbClr val="3A9C8C"/>
              </a:solidFill>
              <a:ln>
                <a:noFill/>
              </a:ln>
            </c:spPr>
          </c:dPt>
          <c:dPt>
            <c:idx val="7"/>
            <c:spPr>
              <a:solidFill>
                <a:srgbClr val="3A9C8C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AM</c:v>
                </c:pt>
                <c:pt idx="1">
                  <c:v>Water &amp; Env.</c:v>
                </c:pt>
                <c:pt idx="2">
                  <c:v>Advisory</c:v>
                </c:pt>
                <c:pt idx="3">
                  <c:v>Fert. &amp; Chem.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SP2M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199.0</c:v>
                </c:pt>
                <c:pt idx="1">
                  <c:v>102.0</c:v>
                </c:pt>
                <c:pt idx="2">
                  <c:v>25.0</c:v>
                </c:pt>
                <c:pt idx="3">
                  <c:v>18.0</c:v>
                </c:pt>
                <c:pt idx="4">
                  <c:v>10.0</c:v>
                </c:pt>
                <c:pt idx="5">
                  <c:v>9.0</c:v>
                </c:pt>
                <c:pt idx="6">
                  <c:v>5.0</c:v>
                </c:pt>
                <c:pt idx="7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Relationship Id="rId5" Type="http://schemas.openxmlformats.org/officeDocument/2006/relationships/chart" Target="../charts/chart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Relationship Id="rId3" Type="http://schemas.openxmlformats.org/officeDocument/2006/relationships/chart" Target="../charts/chart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Relationship Id="rId3" Type="http://schemas.openxmlformats.org/officeDocument/2006/relationships/chart" Target="../charts/chart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chart" Target="../charts/chart4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Relationship Id="rId3" Type="http://schemas.openxmlformats.org/officeDocument/2006/relationships/chart" Target="../charts/chart4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Relationship Id="rId3" Type="http://schemas.openxmlformats.org/officeDocument/2006/relationships/chart" Target="../charts/chart5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Relationship Id="rId3" Type="http://schemas.openxmlformats.org/officeDocument/2006/relationships/chart" Target="../charts/chart52.xml"/><Relationship Id="rId4" Type="http://schemas.openxmlformats.org/officeDocument/2006/relationships/chart" Target="../charts/chart53.xml"/><Relationship Id="rId5" Type="http://schemas.openxmlformats.org/officeDocument/2006/relationships/chart" Target="../charts/chart5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Relationship Id="rId3" Type="http://schemas.openxmlformats.org/officeDocument/2006/relationships/chart" Target="../charts/chart5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chart" Target="../charts/chart59.xml"/><Relationship Id="rId5" Type="http://schemas.openxmlformats.org/officeDocument/2006/relationships/chart" Target="../charts/chart6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Relationship Id="rId3" Type="http://schemas.openxmlformats.org/officeDocument/2006/relationships/chart" Target="../charts/chart6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Relationship Id="rId3" Type="http://schemas.openxmlformats.org/officeDocument/2006/relationships/chart" Target="../charts/chart64.xml"/><Relationship Id="rId4" Type="http://schemas.openxmlformats.org/officeDocument/2006/relationships/chart" Target="../charts/chart65.xml"/><Relationship Id="rId5" Type="http://schemas.openxmlformats.org/officeDocument/2006/relationships/chart" Target="../charts/chart6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Relationship Id="rId3" Type="http://schemas.openxmlformats.org/officeDocument/2006/relationships/chart" Target="../charts/chart6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9.xml"/><Relationship Id="rId3" Type="http://schemas.openxmlformats.org/officeDocument/2006/relationships/chart" Target="../charts/chart70.xml"/><Relationship Id="rId4" Type="http://schemas.openxmlformats.org/officeDocument/2006/relationships/chart" Target="../charts/chart71.xml"/><Relationship Id="rId5" Type="http://schemas.openxmlformats.org/officeDocument/2006/relationships/chart" Target="../charts/chart7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−332 MDH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24557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24557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−40 MDH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354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354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−292 MDH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2151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2151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−35 MDH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00948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00948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2E7D4F"/>
                </a:solidFill>
                <a:latin typeface="Arial"/>
              </a:rPr>
              <a:t>−257 MDH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59746" y="5897880"/>
            <a:ext cx="1666189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9746" y="5897880"/>
            <a:ext cx="1666189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00" b="0" i="0">
                <a:solidFill>
                  <a:srgbClr val="6B7B8C"/>
                </a:solidFill>
                <a:latin typeface="Arial"/>
              </a:rPr>
              <a:t>vs 14-Oct  </a:t>
            </a:r>
            <a:r>
              <a:rPr sz="1100" b="1" i="0">
                <a:solidFill>
                  <a:srgbClr val="7A8794"/>
                </a:solidFill>
                <a:latin typeface="Arial"/>
              </a:rPr>
              <a:t>0 MDH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Weekly review –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704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070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Headline position: AR, unrecognized revenue, collections, cash, payables and letters of credit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7373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874519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105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Accounts receivable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8470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Executive summary, movement vs last week and vs month start, position by business unit, unbilled and unpaid status, non-OCP clients, unbilled under JESA responsibility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774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4505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4871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Executed scope not yet booked as AR, by business unit and status; supplier PO book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01752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09067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Payments received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12724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Invoices paid in the month and year to date, by business unit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365760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73075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Cash position – 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76732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Cash in versus cash out by month and by business unit; paid, approved and pending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29768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708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4074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Supplier payables by business unit and due date; LC commitments and maturity schedule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9377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0109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Zoom by business unit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0474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Position, movement, projects and unrecognized revenue for each business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55778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6509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Backups &amp;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6875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LC and payables detail; sources and definitions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Total AR 12,397 MMAD: −292 vs 14 Oct, −456 vs 07 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5636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Unbilled 9,479 (−35 WoW), unpaid 2,370 (−257 WoW), advance 548 (0 WoW). Unbilled under JESA responsibility 720 MMAD (PSR 228 / Procurement 492); non-OCP receivables 252 MMAD.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00710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15341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08026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7,128 MMAD (−40 WoW, −424 vs 07 Oct); gross exposure 19,525 MMAD (−332 WoW)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0944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Executed supplier and equipment scope not yet booked as AR, including the 6% JESA cost + fee.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85292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99923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260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Invoices paid in October to 20 Oct: 241 MMAD (+24 vs 14 Oct); 8,082 MMAD year to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5526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Invoices deposited in October: 144 MMAD.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69874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84505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190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Procurement cash Jul–Oct: +150 MMAD on actuals, −107 after approved payments, −171 after pending payments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0108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Cash IN 2,104 MMAD vs cash OUT 1,954 MMAD paid to 15/10 gives +150 MMAD. Approved payments of 258 MMAD (incl. 156 of October LC maturities) bring the position to −107 MMAD; pending payments of 64 MMAD bring it to −171 MMAD.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54456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469087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6177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Supplier payables 2,144 MMAD, of which 1,415 MMAD past due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94690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Parked invoices 1,036, 4411 open items 810, downpayments 297 MMAD (2,803 open lines).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539038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5366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4635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Letters of credit 1,583 MMAD: 912 on opened LCs, 671 still to be opened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7927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156 MMAD matures in October; 630 MMAD in 2026 and 953 MMAD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64008" cy="96012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83480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OCP SHARE OF AR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80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80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29856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229856" y="2514600"/>
            <a:ext cx="64008" cy="960120"/>
          </a:xfrm>
          <a:prstGeom prst="rect">
            <a:avLst/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67016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DSO JESA GROUP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67016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285 days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7016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excl. advances, BU meeting report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13392" y="2514600"/>
            <a:ext cx="22738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613392" y="2514600"/>
            <a:ext cx="64008" cy="960120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50552" y="2560320"/>
            <a:ext cx="204520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6B7B8C"/>
                </a:solidFill>
                <a:latin typeface="Arial"/>
              </a:rPr>
              <a:t>PAID IN OCT TO 20-OCT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50552" y="2761488"/>
            <a:ext cx="2045208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A9C8C"/>
                </a:solidFill>
                <a:latin typeface="Arial"/>
              </a:rPr>
              <a:t>241 MDH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50552" y="3182112"/>
            <a:ext cx="20452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deposited in Oct 144  ·  YTD paid 8,082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4612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What moved by business unit (MMAD) – green = AR down, red = AR up, darker = larger move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20440"/>
          <a:ext cx="6949435" cy="2514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4393"/>
                <a:gridCol w="851866"/>
                <a:gridCol w="762196"/>
                <a:gridCol w="762196"/>
                <a:gridCol w="762196"/>
                <a:gridCol w="762196"/>
                <a:gridCol w="762196"/>
                <a:gridCol w="762196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 AR
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8CCFA3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BE6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B9E2C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3F3E8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219456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9784080" y="3429000"/>
          <a:ext cx="219456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98079" y="6263640"/>
            <a:ext cx="4480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00" b="0" i="1">
                <a:solidFill>
                  <a:srgbClr val="6B7B8C"/>
                </a:solidFill>
                <a:latin typeface="Arial"/>
              </a:rPr>
              <a:t>Movement by component (MMAD): green = AR decreased, red = AR increased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4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95260"/>
                <a:gridCol w="810151"/>
                <a:gridCol w="810151"/>
                <a:gridCol w="810151"/>
                <a:gridCol w="675126"/>
                <a:gridCol w="765142"/>
                <a:gridCol w="765142"/>
                <a:gridCol w="675126"/>
                <a:gridCol w="720134"/>
                <a:gridCol w="675126"/>
                <a:gridCol w="675126"/>
                <a:gridCol w="765142"/>
                <a:gridCol w="810151"/>
                <a:gridCol w="630117"/>
                <a:gridCol w="585109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
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76546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76546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13706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PAID IN OCT TO 20-OCT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3706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3706" y="1810511"/>
            <a:ext cx="196650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50" b="0" i="0">
                <a:solidFill>
                  <a:srgbClr val="6B7B8C"/>
                </a:solidFill>
                <a:latin typeface="Arial"/>
              </a:rPr>
              <a:t>Sep 51  ·  YTD 233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24876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24876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2036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2036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5433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75433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2593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2593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25989" y="1097280"/>
            <a:ext cx="224082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5989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3149" y="116128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3149" y="137160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120637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56750"/>
                <a:gridCol w="656492"/>
                <a:gridCol w="656492"/>
                <a:gridCol w="656492"/>
                <a:gridCol w="481427"/>
                <a:gridCol w="656492"/>
                <a:gridCol w="65649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F2A37"/>
                </a:solidFill>
                <a:latin typeface="Arial"/>
              </a:rPr>
              <a:t>Non-OCP clients carry 252 MMAD, of which Global Mining (Ma'aden) accounts for 201 MMAD. Statuses: C-* pending with the client, J-* pending with JESA.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scope; Procurement = non-labor scope.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under JESA control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= supplier balance (6,725) plus a 6% markup; −40 vs 14-Oct, −424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57784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9495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= unrecognized supplier cost × 1.06 cost-and-fee markup  ·  14-Oct: 7,168  ·  month start: 7,552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88720"/>
            <a:ext cx="5623560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1252728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SUPPLIERS —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1463040"/>
            <a:ext cx="544068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6,725 MMAD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965960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Executed but unbooked supplier &amp; equipment scope (HT, excl. DP)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by Business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33472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6% JESA cost + fee markup included (MMAD)  ·  Δ vs 14-Oct in brackets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274320" y="2880360"/>
          <a:ext cx="57607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576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B5473A"/>
                </a:solidFill>
                <a:latin typeface="Arial"/>
              </a:rPr>
              <a:t>No revenue recognition has been booked on these balances to 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7744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Table 7 — Unrecognized Suppliers by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6692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Executed but unbooked scope, at cost (MMAD)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2834640"/>
          <a:ext cx="58064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63640" y="4754880"/>
          <a:ext cx="5669280" cy="14813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42976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 (Table 7)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Definition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Attachments submitted (PROCORE etc.), under the approval workflow; includes attachments already signed by the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Submission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not yet submitted for approval; may include potential / impending scope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Under CN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via a Change Notice (or a potential CN)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At-Risk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without any formal contract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6364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7B8C"/>
                </a:solidFill>
                <a:latin typeface="Arial"/>
              </a:rPr>
              <a:t>*** Amounts in HT — executed progress, excluding DP amortization. Status split at cost (= revenue ÷ 1.06).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68306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6830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PAID IN 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05466" y="1901952"/>
            <a:ext cx="157474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</a:t>
            </a:r>
            <a:r>
              <a:rPr sz="950" b="1" i="0">
                <a:solidFill>
                  <a:srgbClr val="2E7D4F"/>
                </a:solidFill>
                <a:latin typeface="Arial"/>
              </a:rPr>
              <a:t>+5</a:t>
            </a:r>
            <a:r>
              <a:rPr sz="850" b="0" i="0">
                <a:solidFill>
                  <a:srgbClr val="6B7B8C"/>
                </a:solidFill>
                <a:latin typeface="Arial"/>
              </a:rPr>
              <a:t>  ·  YTD 233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3117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3117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91914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91914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9074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0711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0711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417320"/>
            <a:ext cx="1666189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14300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DEPOSITED IN OCT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90195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by payment date) – October in progress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7178040" y="2651760"/>
          <a:ext cx="4754879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0224"/>
                <a:gridCol w="594360"/>
                <a:gridCol w="594360"/>
                <a:gridCol w="475488"/>
                <a:gridCol w="594360"/>
                <a:gridCol w="475488"/>
                <a:gridCol w="554735"/>
                <a:gridCol w="435864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o/w non-
OCP 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PSR (Labor) Collections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PSR collections 372 MMAD, provisions 299 (AM ring-fence 199, W&amp;E reserve 100) → +73 MMAD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COLLECTIONS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Labor collections per OCP payment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TO 19/10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Sep 67  ·  Aug 141  ·  Jul 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AM RING-FENCE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AM PSR collections cover AM PSR costs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W&amp;E RESERVE PROVISION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100 MDH provision, 33.3 per month Jul–Sep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AVAILABLE AFTER PROVISIONS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Overheads paid 47 MMAD (FYI, not deducted)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035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PSR collections by business unit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51760"/>
          <a:ext cx="6035037" cy="3575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9782"/>
                <a:gridCol w="649927"/>
                <a:gridCol w="649927"/>
                <a:gridCol w="649927"/>
                <a:gridCol w="835620"/>
                <a:gridCol w="742774"/>
                <a:gridCol w="5570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19/10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PSR collections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AM ring-fence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W&amp;E reserve provision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Available after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675120" y="2377440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PSR collections vs provisions (MMAD)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583680" y="2651760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675120" y="4617720"/>
            <a:ext cx="53035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Cumulative PSR collections by BU, Jul–Oct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583680" y="4846320"/>
          <a:ext cx="539496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approved supplier lines by payment status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LCs; parked = invoices parked in SAP pending validation; 4411 = posted supplier open items; downpayments = advance invoices due to suppliers.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Due-date buckets follow the invoice due date; lines without a due date are not bucketed.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46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7 · YTD 2,118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13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+13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88 · YTD 1,502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0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319 · YTD 1,205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149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+7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176 · YTD 1,918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4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46 · YTD 472 · non-OCP Oct 3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8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56 · YTD 438 · non-OCP Oct 8</a:t>
            </a:r>
          </a:p>
        </p:txBody>
      </p:sp>
      <p:graphicFrame>
        <p:nvGraphicFramePr>
          <p:cNvPr id="72" name="Chart 71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 / unpaid 70% / advance 0% · DSO 462 days (prior 415)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9 · YTD 123 · non-OCP Oct 1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95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" name="TextBox 67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11 MMAD (</a:t>
            </a:r>
            <a:r>
              <a:rPr sz="850" b="1" i="0">
                <a:solidFill>
                  <a:srgbClr val="2E7D4F"/>
                </a:solidFill>
                <a:latin typeface="Arial"/>
              </a:rPr>
              <a:t>+5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21 · YTD 236 · non-OCP Oct 8</a:t>
            </a:r>
          </a:p>
        </p:txBody>
      </p:sp>
      <p:graphicFrame>
        <p:nvGraphicFramePr>
          <p:cNvPr id="69" name="Chart 68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590288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84632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6217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1B2F4B"/>
                </a:solidFill>
                <a:latin typeface="Arial"/>
              </a:rPr>
              <a:t>Paid: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Oct to 20-Oct 11 MMAD (</a:t>
            </a:r>
            <a:r>
              <a:rPr sz="850" b="1" i="0">
                <a:solidFill>
                  <a:srgbClr val="7A8794"/>
                </a:solidFill>
                <a:latin typeface="Arial"/>
              </a:rPr>
              <a:t>0</a:t>
            </a:r>
            <a:r>
              <a:rPr sz="850" b="0" i="0">
                <a:solidFill>
                  <a:srgbClr val="1F2A37"/>
                </a:solidFill>
                <a:latin typeface="Arial"/>
              </a:rPr>
              <a:t> vs 14-Oct) · Sep 15 · YTD 68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Sources &amp;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each figure comes from and how it is defined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2596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20640"/>
                <a:gridCol w="3291840"/>
                <a:gridCol w="30175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Figures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As 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Accounts receivable (advance, unbilled, unpaid), statuses, aging, non-OCP, JESA responsibility,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extract of the week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 Oct 2026; previous week 14 Oct 2026; month start 07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business unit and status, supplier PO book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 Oct 2026; previous week and month start from the earlier reviews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DSO excluding advances, group and by business unit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BU meeting report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 month: September)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position, October paid / approved / pending payments, priority list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flow analysis by business unit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 Oct 2026; collections to 19/10, payments to 15/10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payables by business unit, due date, tier and 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(4411, parked, downpayments)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 extract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Letters of credit: outstanding,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Bank LC situation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Total AR: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advance payments + unbilled + unpaid, amounts HT in MMAD.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Unbilled: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delivered scope not yet invoiced, excluding unearned amounts on lump-sum contracts; split by ownership of the next action (client / OCP, JESA, service sheets postponed, at risk).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Unpaid: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invoiced, not yet collected; split current / past due / rejected and by OCP processing phase.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Unrecognized revenue: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supplier and equipment scope executed but not yet booked as AR, including the 6% JESA cost + fee.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Gross exposure: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total AR + unrecognized revenue.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Week on week / vs month start: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position at 20-Oct compared with 14-Oct and with the first AR position of the month (07-Oct).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Payments received: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invoices paid by payment date, on the amount-invoiced basis used in the BU meeting report.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Cash position: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procurement (non-labor) cash in and out for the JESA Group including AM; PSR (labor) collections shown net of the AM ring-fence and the Water &amp; Environment reserve.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DSO: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days sales outstanding excluding advances, as reported in the BU meeting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