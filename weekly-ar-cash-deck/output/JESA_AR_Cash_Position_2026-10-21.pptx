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charts/chart4.xml" ContentType="application/vnd.openxmlformats-officedocument.drawingml.chart+xml"/>
  <Override PartName="/ppt/charts/chart40.xml" ContentType="application/vnd.openxmlformats-officedocument.drawingml.chart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charts/chart43.xml" ContentType="application/vnd.openxmlformats-officedocument.drawingml.chart+xml"/>
  <Override PartName="/ppt/charts/chart44.xml" ContentType="application/vnd.openxmlformats-officedocument.drawingml.chart+xml"/>
  <Override PartName="/ppt/charts/chart45.xml" ContentType="application/vnd.openxmlformats-officedocument.drawingml.chart+xml"/>
  <Override PartName="/ppt/charts/chart46.xml" ContentType="application/vnd.openxmlformats-officedocument.drawingml.chart+xml"/>
  <Override PartName="/ppt/charts/chart47.xml" ContentType="application/vnd.openxmlformats-officedocument.drawingml.chart+xml"/>
  <Override PartName="/ppt/charts/chart48.xml" ContentType="application/vnd.openxmlformats-officedocument.drawingml.chart+xml"/>
  <Override PartName="/ppt/charts/chart49.xml" ContentType="application/vnd.openxmlformats-officedocument.drawingml.chart+xml"/>
  <Override PartName="/ppt/charts/chart5.xml" ContentType="application/vnd.openxmlformats-officedocument.drawingml.chart+xml"/>
  <Override PartName="/ppt/charts/chart50.xml" ContentType="application/vnd.openxmlformats-officedocument.drawingml.chart+xml"/>
  <Override PartName="/ppt/charts/chart51.xml" ContentType="application/vnd.openxmlformats-officedocument.drawingml.chart+xml"/>
  <Override PartName="/ppt/charts/chart52.xml" ContentType="application/vnd.openxmlformats-officedocument.drawingml.chart+xml"/>
  <Override PartName="/ppt/charts/chart53.xml" ContentType="application/vnd.openxmlformats-officedocument.drawingml.chart+xml"/>
  <Override PartName="/ppt/charts/chart54.xml" ContentType="application/vnd.openxmlformats-officedocument.drawingml.chart+xml"/>
  <Override PartName="/ppt/charts/chart55.xml" ContentType="application/vnd.openxmlformats-officedocument.drawingml.chart+xml"/>
  <Override PartName="/ppt/charts/chart56.xml" ContentType="application/vnd.openxmlformats-officedocument.drawingml.chart+xml"/>
  <Override PartName="/ppt/charts/chart57.xml" ContentType="application/vnd.openxmlformats-officedocument.drawingml.chart+xml"/>
  <Override PartName="/ppt/charts/chart58.xml" ContentType="application/vnd.openxmlformats-officedocument.drawingml.chart+xml"/>
  <Override PartName="/ppt/charts/chart59.xml" ContentType="application/vnd.openxmlformats-officedocument.drawingml.chart+xml"/>
  <Override PartName="/ppt/charts/chart6.xml" ContentType="application/vnd.openxmlformats-officedocument.drawingml.chart+xml"/>
  <Override PartName="/ppt/charts/chart60.xml" ContentType="application/vnd.openxmlformats-officedocument.drawingml.chart+xml"/>
  <Override PartName="/ppt/charts/chart61.xml" ContentType="application/vnd.openxmlformats-officedocument.drawingml.chart+xml"/>
  <Override PartName="/ppt/charts/chart62.xml" ContentType="application/vnd.openxmlformats-officedocument.drawingml.chart+xml"/>
  <Override PartName="/ppt/charts/chart63.xml" ContentType="application/vnd.openxmlformats-officedocument.drawingml.chart+xml"/>
  <Override PartName="/ppt/charts/chart64.xml" ContentType="application/vnd.openxmlformats-officedocument.drawingml.chart+xml"/>
  <Override PartName="/ppt/charts/chart65.xml" ContentType="application/vnd.openxmlformats-officedocument.drawingml.chart+xml"/>
  <Override PartName="/ppt/charts/chart66.xml" ContentType="application/vnd.openxmlformats-officedocument.drawingml.chart+xml"/>
  <Override PartName="/ppt/charts/chart67.xml" ContentType="application/vnd.openxmlformats-officedocument.drawingml.chart+xml"/>
  <Override PartName="/ppt/charts/chart68.xml" ContentType="application/vnd.openxmlformats-officedocument.drawingml.chart+xml"/>
  <Override PartName="/ppt/charts/chart69.xml" ContentType="application/vnd.openxmlformats-officedocument.drawingml.chart+xml"/>
  <Override PartName="/ppt/charts/chart7.xml" ContentType="application/vnd.openxmlformats-officedocument.drawingml.chart+xml"/>
  <Override PartName="/ppt/charts/chart70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9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0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1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2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3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4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5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6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7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8.xlsx"/></Relationships>
</file>

<file path=ppt/charts/_rels/chart2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9.xlsx"/></Relationships>
</file>

<file path=ppt/charts/_rels/chart3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0.xlsx"/></Relationships>
</file>

<file path=ppt/charts/_rels/chart3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1.xlsx"/></Relationships>
</file>

<file path=ppt/charts/_rels/chart3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2.xlsx"/></Relationships>
</file>

<file path=ppt/charts/_rels/chart3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3.xlsx"/></Relationships>
</file>

<file path=ppt/charts/_rels/chart3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4.xlsx"/></Relationships>
</file>

<file path=ppt/charts/_rels/chart3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5.xlsx"/></Relationships>
</file>

<file path=ppt/charts/_rels/chart3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6.xlsx"/></Relationships>
</file>

<file path=ppt/charts/_rels/chart3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7.xlsx"/></Relationships>
</file>

<file path=ppt/charts/_rels/chart3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8.xlsx"/></Relationships>
</file>

<file path=ppt/charts/_rels/chart3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9.xlsx"/></Relationships>
</file>

<file path=ppt/charts/_rels/chart4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0.xlsx"/></Relationships>
</file>

<file path=ppt/charts/_rels/chart4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1.xlsx"/></Relationships>
</file>

<file path=ppt/charts/_rels/chart4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2.xlsx"/></Relationships>
</file>

<file path=ppt/charts/_rels/chart4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3.xlsx"/></Relationships>
</file>

<file path=ppt/charts/_rels/chart4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4.xlsx"/></Relationships>
</file>

<file path=ppt/charts/_rels/chart4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5.xlsx"/></Relationships>
</file>

<file path=ppt/charts/_rels/chart4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6.xlsx"/></Relationships>
</file>

<file path=ppt/charts/_rels/chart4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7.xlsx"/></Relationships>
</file>

<file path=ppt/charts/_rels/chart4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8.xlsx"/></Relationships>
</file>

<file path=ppt/charts/_rels/chart4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9.xlsx"/></Relationships>
</file>

<file path=ppt/charts/_rels/chart5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0.xlsx"/></Relationships>
</file>

<file path=ppt/charts/_rels/chart5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1.xlsx"/></Relationships>
</file>

<file path=ppt/charts/_rels/chart5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2.xlsx"/></Relationships>
</file>

<file path=ppt/charts/_rels/chart5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3.xlsx"/></Relationships>
</file>

<file path=ppt/charts/_rels/chart5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4.xlsx"/></Relationships>
</file>

<file path=ppt/charts/_rels/chart5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5.xlsx"/></Relationships>
</file>

<file path=ppt/charts/_rels/chart5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6.xlsx"/></Relationships>
</file>

<file path=ppt/charts/_rels/chart5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7.xlsx"/></Relationships>
</file>

<file path=ppt/charts/_rels/chart5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8.xlsx"/></Relationships>
</file>

<file path=ppt/charts/_rels/chart5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9.xlsx"/></Relationships>
</file>

<file path=ppt/charts/_rels/chart6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0.xlsx"/></Relationships>
</file>

<file path=ppt/charts/_rels/chart6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1.xlsx"/></Relationships>
</file>

<file path=ppt/charts/_rels/chart6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2.xlsx"/></Relationships>
</file>

<file path=ppt/charts/_rels/chart6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3.xlsx"/></Relationships>
</file>

<file path=ppt/charts/_rels/chart6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4.xlsx"/></Relationships>
</file>

<file path=ppt/charts/_rels/chart6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5.xlsx"/></Relationships>
</file>

<file path=ppt/charts/_rels/chart6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6.xlsx"/></Relationships>
</file>

<file path=ppt/charts/_rels/chart6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7.xlsx"/></Relationships>
</file>

<file path=ppt/charts/_rels/chart6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8.xlsx"/></Relationships>
</file>

<file path=ppt/charts/_rels/chart6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9.xlsx"/></Relationships>
</file>

<file path=ppt/charts/_rels/chart7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7A8794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Unbilled</c:v>
                </c:pt>
                <c:pt idx="1">
                  <c:v>Unpaid</c:v>
                </c:pt>
                <c:pt idx="2">
                  <c:v>Advance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9479.103423610219</c:v>
                </c:pt>
                <c:pt idx="1">
                  <c:v>2369.58692128103</c:v>
                </c:pt>
                <c:pt idx="2">
                  <c:v>548.0215817440002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5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Labor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numFmt formatCode="#,##0;−#,##0;&quot;&quot;" sourceLinked="0"/>
            <c:txPr>
              <a:bodyPr/>
              <a:lstStyle/>
              <a:p>
                <a:pPr>
                  <a:defRPr sz="9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Total AR</c:v>
                </c:pt>
                <c:pt idx="1">
                  <c:v>Unbilled</c:v>
                </c:pt>
                <c:pt idx="2">
                  <c:v>Unpaid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4288.0</c:v>
                </c:pt>
                <c:pt idx="1">
                  <c:v>3257.0</c:v>
                </c:pt>
                <c:pt idx="2">
                  <c:v>1030.0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Non-labor</c:v>
                </c:pt>
              </c:strCache>
            </c:strRef>
          </c:tx>
          <c:spPr>
            <a:solidFill>
              <a:srgbClr val="C9DDEE"/>
            </a:solidFill>
            <a:ln>
              <a:noFill/>
            </a:ln>
          </c:spPr>
          <c:dLbls>
            <c:numFmt formatCode="#,##0;−#,##0;&quot;&quot;" sourceLinked="0"/>
            <c:txPr>
              <a:bodyPr/>
              <a:lstStyle/>
              <a:p>
                <a:pPr>
                  <a:defRPr sz="900">
                    <a:solidFill>
                      <a:srgbClr val="1F2A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Total AR</c:v>
                </c:pt>
                <c:pt idx="1">
                  <c:v>Unbilled</c:v>
                </c:pt>
                <c:pt idx="2">
                  <c:v>Unpaid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8109.0</c:v>
                </c:pt>
                <c:pt idx="1">
                  <c:v>6222.0</c:v>
                </c:pt>
                <c:pt idx="2">
                  <c:v>1340.0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9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9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Movement by component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Δ WoW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Advance</c:v>
                </c:pt>
                <c:pt idx="1">
                  <c:v>Unbilled</c:v>
                </c:pt>
                <c:pt idx="2">
                  <c:v>Unpaid</c:v>
                </c:pt>
                <c:pt idx="3">
                  <c:v>Total AR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-35.0</c:v>
                </c:pt>
                <c:pt idx="2">
                  <c:v>-257.0</c:v>
                </c:pt>
                <c:pt idx="3">
                  <c:v>-292.0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Δ vs month start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Advance</c:v>
                </c:pt>
                <c:pt idx="1">
                  <c:v>Unbilled</c:v>
                </c:pt>
                <c:pt idx="2">
                  <c:v>Unpaid</c:v>
                </c:pt>
                <c:pt idx="3">
                  <c:v>Total AR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1.0</c:v>
                </c:pt>
                <c:pt idx="1">
                  <c:v>-205.0</c:v>
                </c:pt>
                <c:pt idx="2">
                  <c:v>-252.0</c:v>
                </c:pt>
                <c:pt idx="3">
                  <c:v>-456.0</c:v>
                </c:pt>
              </c:numCache>
            </c:numRef>
          </c:val>
        </c:ser>
        <c:dLbls>
          <c:numFmt formatCode="+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9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Total AR – Δ week on week by BU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Δ WoW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cat>
            <c:strRef>
              <c:f>Sheet1!$A$2:$A$10</c:f>
              <c:strCache>
                <c:ptCount val="9"/>
                <c:pt idx="0">
                  <c:v>Water &amp; Env.</c:v>
                </c:pt>
                <c:pt idx="1">
                  <c:v>Fert. &amp; Chem.</c:v>
                </c:pt>
                <c:pt idx="2">
                  <c:v>SP2M</c:v>
                </c:pt>
                <c:pt idx="3">
                  <c:v>AM</c:v>
                </c:pt>
                <c:pt idx="4">
                  <c:v>Energy Ops</c:v>
                </c:pt>
                <c:pt idx="5">
                  <c:v>Global Mining</c:v>
                </c:pt>
                <c:pt idx="6">
                  <c:v>B&amp;I</c:v>
                </c:pt>
                <c:pt idx="7">
                  <c:v>JESA Tech</c:v>
                </c:pt>
                <c:pt idx="8">
                  <c:v>Advisory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-179.0</c:v>
                </c:pt>
                <c:pt idx="1">
                  <c:v>-23.0</c:v>
                </c:pt>
                <c:pt idx="2">
                  <c:v>0.0</c:v>
                </c:pt>
                <c:pt idx="3">
                  <c:v>-83.0</c:v>
                </c:pt>
                <c:pt idx="4">
                  <c:v>2.0</c:v>
                </c:pt>
                <c:pt idx="5">
                  <c:v>0.0</c:v>
                </c:pt>
                <c:pt idx="6">
                  <c:v>3.0</c:v>
                </c:pt>
                <c:pt idx="7">
                  <c:v>-8.0</c:v>
                </c:pt>
                <c:pt idx="8">
                  <c:v>-3.0</c:v>
                </c:pt>
              </c:numCache>
            </c:numRef>
          </c:val>
        </c:ser>
        <c:dLbls>
          <c:numFmt formatCode="+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Total AR – Δ vs month start (07-Oct) by BU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Δ vs 07-Oct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Sheet1!$A$2:$A$10</c:f>
              <c:strCache>
                <c:ptCount val="9"/>
                <c:pt idx="0">
                  <c:v>Water &amp; Env.</c:v>
                </c:pt>
                <c:pt idx="1">
                  <c:v>Fert. &amp; Chem.</c:v>
                </c:pt>
                <c:pt idx="2">
                  <c:v>SP2M</c:v>
                </c:pt>
                <c:pt idx="3">
                  <c:v>AM</c:v>
                </c:pt>
                <c:pt idx="4">
                  <c:v>Energy Ops</c:v>
                </c:pt>
                <c:pt idx="5">
                  <c:v>Global Mining</c:v>
                </c:pt>
                <c:pt idx="6">
                  <c:v>B&amp;I</c:v>
                </c:pt>
                <c:pt idx="7">
                  <c:v>JESA Tech</c:v>
                </c:pt>
                <c:pt idx="8">
                  <c:v>Advisory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-206.0</c:v>
                </c:pt>
                <c:pt idx="1">
                  <c:v>-15.0</c:v>
                </c:pt>
                <c:pt idx="2">
                  <c:v>-92.0</c:v>
                </c:pt>
                <c:pt idx="3">
                  <c:v>-127.0</c:v>
                </c:pt>
                <c:pt idx="4">
                  <c:v>0.0</c:v>
                </c:pt>
                <c:pt idx="5">
                  <c:v>-6.0</c:v>
                </c:pt>
                <c:pt idx="6">
                  <c:v>2.0</c:v>
                </c:pt>
                <c:pt idx="7">
                  <c:v>-8.0</c:v>
                </c:pt>
                <c:pt idx="8">
                  <c:v>-3.0</c:v>
                </c:pt>
              </c:numCache>
            </c:numRef>
          </c:val>
        </c:ser>
        <c:dLbls>
          <c:numFmt formatCode="+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status – last week vs this week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14-Oct</c:v>
                </c:pt>
              </c:strCache>
            </c:strRef>
          </c:tx>
          <c:spPr>
            <a:solidFill>
              <a:srgbClr val="C9DDEE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Rejected</c:v>
                </c:pt>
                <c:pt idx="1">
                  <c:v>Treasury</c:v>
                </c:pt>
                <c:pt idx="2">
                  <c:v>OCP subs</c:v>
                </c:pt>
                <c:pt idx="3">
                  <c:v>Ordonnancement</c:v>
                </c:pt>
                <c:pt idx="4">
                  <c:v>Missing reception</c:v>
                </c:pt>
                <c:pt idx="5">
                  <c:v>Other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784.0</c:v>
                </c:pt>
                <c:pt idx="1">
                  <c:v>471.0</c:v>
                </c:pt>
                <c:pt idx="2">
                  <c:v>353.0</c:v>
                </c:pt>
                <c:pt idx="3">
                  <c:v>290.0</c:v>
                </c:pt>
                <c:pt idx="4">
                  <c:v>147.0</c:v>
                </c:pt>
                <c:pt idx="5">
                  <c:v>581.0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20-Oct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Rejected</c:v>
                </c:pt>
                <c:pt idx="1">
                  <c:v>Treasury</c:v>
                </c:pt>
                <c:pt idx="2">
                  <c:v>OCP subs</c:v>
                </c:pt>
                <c:pt idx="3">
                  <c:v>Ordonnancement</c:v>
                </c:pt>
                <c:pt idx="4">
                  <c:v>Missing reception</c:v>
                </c:pt>
                <c:pt idx="5">
                  <c:v>Other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610.0</c:v>
                </c:pt>
                <c:pt idx="1">
                  <c:v>457.0</c:v>
                </c:pt>
                <c:pt idx="2">
                  <c:v>356.0</c:v>
                </c:pt>
                <c:pt idx="3">
                  <c:v>262.0</c:v>
                </c:pt>
                <c:pt idx="4">
                  <c:v>130.0</c:v>
                </c:pt>
                <c:pt idx="5">
                  <c:v>555.0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Previous update</c:v>
                </c:pt>
              </c:strCache>
            </c:strRef>
          </c:tx>
          <c:spPr>
            <a:solidFill>
              <a:srgbClr val="C9DDEE"/>
            </a:solidFill>
            <a:ln>
              <a:noFill/>
            </a:ln>
          </c:spPr>
          <c:cat>
            <c:strRef>
              <c:f>Sheet1!$A$2:$A$9</c:f>
              <c:strCache>
                <c:ptCount val="8"/>
                <c:pt idx="0">
                  <c:v>SP2M</c:v>
                </c:pt>
                <c:pt idx="1">
                  <c:v>Water &amp; Env.</c:v>
                </c:pt>
                <c:pt idx="2">
                  <c:v>Fert. &amp; Chem.</c:v>
                </c:pt>
                <c:pt idx="3">
                  <c:v>Energy Ops</c:v>
                </c:pt>
                <c:pt idx="4">
                  <c:v>JESA Tech</c:v>
                </c:pt>
                <c:pt idx="5">
                  <c:v>Global Mining</c:v>
                </c:pt>
                <c:pt idx="6">
                  <c:v>AM</c:v>
                </c:pt>
                <c:pt idx="7">
                  <c:v>B&amp;I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3467.0</c:v>
                </c:pt>
                <c:pt idx="1">
                  <c:v>1736.0</c:v>
                </c:pt>
                <c:pt idx="2">
                  <c:v>1539.0</c:v>
                </c:pt>
                <c:pt idx="3">
                  <c:v>114.0</c:v>
                </c:pt>
                <c:pt idx="4">
                  <c:v>438.0</c:v>
                </c:pt>
                <c:pt idx="5">
                  <c:v>347.0</c:v>
                </c:pt>
                <c:pt idx="6">
                  <c:v>59.0</c:v>
                </c:pt>
                <c:pt idx="7">
                  <c:v>95.0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Current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cat>
            <c:strRef>
              <c:f>Sheet1!$A$2:$A$9</c:f>
              <c:strCache>
                <c:ptCount val="8"/>
                <c:pt idx="0">
                  <c:v>SP2M</c:v>
                </c:pt>
                <c:pt idx="1">
                  <c:v>Water &amp; Env.</c:v>
                </c:pt>
                <c:pt idx="2">
                  <c:v>Fert. &amp; Chem.</c:v>
                </c:pt>
                <c:pt idx="3">
                  <c:v>Energy Ops</c:v>
                </c:pt>
                <c:pt idx="4">
                  <c:v>JESA Tech</c:v>
                </c:pt>
                <c:pt idx="5">
                  <c:v>Global Mining</c:v>
                </c:pt>
                <c:pt idx="6">
                  <c:v>AM</c:v>
                </c:pt>
                <c:pt idx="7">
                  <c:v>B&amp;I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3271.0</c:v>
                </c:pt>
                <c:pt idx="1">
                  <c:v>1511.0</c:v>
                </c:pt>
                <c:pt idx="2">
                  <c:v>1382.0</c:v>
                </c:pt>
                <c:pt idx="3">
                  <c:v>362.0</c:v>
                </c:pt>
                <c:pt idx="4">
                  <c:v>252.0</c:v>
                </c:pt>
                <c:pt idx="5">
                  <c:v>160.0</c:v>
                </c:pt>
                <c:pt idx="6">
                  <c:v>132.0</c:v>
                </c:pt>
                <c:pt idx="7">
                  <c:v>58.0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9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Attachment pending approval</c:v>
                </c:pt>
                <c:pt idx="1">
                  <c:v>Signed by client</c:v>
                </c:pt>
                <c:pt idx="2">
                  <c:v>Attachment pending submission</c:v>
                </c:pt>
                <c:pt idx="3">
                  <c:v>Scope executed under CN</c:v>
                </c:pt>
                <c:pt idx="4">
                  <c:v>Scope executed 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260.0</c:v>
                </c:pt>
                <c:pt idx="1">
                  <c:v>24.0</c:v>
                </c:pt>
                <c:pt idx="2">
                  <c:v>1524.0</c:v>
                </c:pt>
                <c:pt idx="3">
                  <c:v>498.0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Attachment pending approval</c:v>
                </c:pt>
                <c:pt idx="1">
                  <c:v>Signed by client</c:v>
                </c:pt>
                <c:pt idx="2">
                  <c:v>Attachment pending submission</c:v>
                </c:pt>
                <c:pt idx="3">
                  <c:v>Scope executed under CN</c:v>
                </c:pt>
                <c:pt idx="4">
                  <c:v>Scope executed 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961.0</c:v>
                </c:pt>
                <c:pt idx="1">
                  <c:v>338.0</c:v>
                </c:pt>
                <c:pt idx="2">
                  <c:v>2237.0</c:v>
                </c:pt>
                <c:pt idx="3">
                  <c:v>1254.0</c:v>
                </c:pt>
                <c:pt idx="4">
                  <c:v>5.0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1514.833461418898</c:v>
                </c:pt>
                <c:pt idx="1">
                  <c:v>879.821554311496</c:v>
                </c:pt>
                <c:pt idx="2">
                  <c:v>172.2599169032063</c:v>
                </c:pt>
                <c:pt idx="3">
                  <c:v>16.01562512455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275.4748179027065</c:v>
                </c:pt>
                <c:pt idx="1">
                  <c:v>24.18765480946</c:v>
                </c:pt>
                <c:pt idx="2">
                  <c:v>32.2346680608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Ordonnancement</c:v>
                </c:pt>
                <c:pt idx="1">
                  <c:v>Missing reception</c:v>
                </c:pt>
                <c:pt idx="2">
                  <c:v>Treasury</c:v>
                </c:pt>
                <c:pt idx="3">
                  <c:v>Other</c:v>
                </c:pt>
                <c:pt idx="4">
                  <c:v>Rejected</c:v>
                </c:pt>
                <c:pt idx="5">
                  <c:v>OCP subs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177.0</c:v>
                </c:pt>
                <c:pt idx="1">
                  <c:v>52.0</c:v>
                </c:pt>
                <c:pt idx="2">
                  <c:v>52.0</c:v>
                </c:pt>
                <c:pt idx="3">
                  <c:v>27.0</c:v>
                </c:pt>
                <c:pt idx="4">
                  <c:v>24.0</c:v>
                </c:pt>
                <c:pt idx="5">
                  <c:v>1.0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110.0</c:v>
                </c:pt>
                <c:pt idx="1">
                  <c:v>139.0</c:v>
                </c:pt>
                <c:pt idx="2">
                  <c:v>83.0</c:v>
                </c:pt>
                <c:pt idx="3">
                  <c:v>109.0</c:v>
                </c:pt>
                <c:pt idx="4">
                  <c:v>2142.0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33.0</c:v>
                </c:pt>
                <c:pt idx="1">
                  <c:v>53.0</c:v>
                </c:pt>
                <c:pt idx="2">
                  <c:v>1.0</c:v>
                </c:pt>
                <c:pt idx="3">
                  <c:v>30.0</c:v>
                </c:pt>
                <c:pt idx="4">
                  <c:v>214.0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50.0</c:v>
                </c:pt>
                <c:pt idx="1">
                  <c:v>0.0</c:v>
                </c:pt>
                <c:pt idx="2">
                  <c:v>96.0</c:v>
                </c:pt>
                <c:pt idx="3">
                  <c:v>22.0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334.0</c:v>
                </c:pt>
                <c:pt idx="1">
                  <c:v>0.0</c:v>
                </c:pt>
                <c:pt idx="2">
                  <c:v>150.0</c:v>
                </c:pt>
                <c:pt idx="3">
                  <c:v>859.0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332.0</c:v>
                </c:pt>
                <c:pt idx="1">
                  <c:v>0.0</c:v>
                </c:pt>
                <c:pt idx="2">
                  <c:v>1.0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1758.133196524791</c:v>
                </c:pt>
                <c:pt idx="1">
                  <c:v>513.7128624382163</c:v>
                </c:pt>
                <c:pt idx="2">
                  <c:v>218.7233831843153</c:v>
                </c:pt>
                <c:pt idx="3">
                  <c:v>65.43014347000002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398.8785848512981</c:v>
                </c:pt>
                <c:pt idx="1">
                  <c:v>183.563917609</c:v>
                </c:pt>
                <c:pt idx="2">
                  <c:v>53.25067778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Rejected</c:v>
                </c:pt>
                <c:pt idx="1">
                  <c:v>Non-OCP / OCP sub (…</c:v>
                </c:pt>
                <c:pt idx="2">
                  <c:v>Treasury</c:v>
                </c:pt>
                <c:pt idx="3">
                  <c:v>Other</c:v>
                </c:pt>
                <c:pt idx="4">
                  <c:v>Missing reception</c:v>
                </c:pt>
                <c:pt idx="5">
                  <c:v>Ordonnancement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184.0</c:v>
                </c:pt>
                <c:pt idx="1">
                  <c:v>163.0</c:v>
                </c:pt>
                <c:pt idx="2">
                  <c:v>141.0</c:v>
                </c:pt>
                <c:pt idx="3">
                  <c:v>105.0</c:v>
                </c:pt>
                <c:pt idx="4">
                  <c:v>32.0</c:v>
                </c:pt>
                <c:pt idx="5">
                  <c:v>9.0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114.0</c:v>
                </c:pt>
                <c:pt idx="1">
                  <c:v>68.0</c:v>
                </c:pt>
                <c:pt idx="2">
                  <c:v>125.0</c:v>
                </c:pt>
                <c:pt idx="3">
                  <c:v>52.0</c:v>
                </c:pt>
                <c:pt idx="4">
                  <c:v>2195.0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63.0</c:v>
                </c:pt>
                <c:pt idx="1">
                  <c:v>53.0</c:v>
                </c:pt>
                <c:pt idx="2">
                  <c:v>64.0</c:v>
                </c:pt>
                <c:pt idx="3">
                  <c:v>79.0</c:v>
                </c:pt>
                <c:pt idx="4">
                  <c:v>377.0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73.0</c:v>
                </c:pt>
                <c:pt idx="1">
                  <c:v>20.0</c:v>
                </c:pt>
                <c:pt idx="2">
                  <c:v>112.0</c:v>
                </c:pt>
                <c:pt idx="3">
                  <c:v>173.0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296.0</c:v>
                </c:pt>
                <c:pt idx="1">
                  <c:v>0.0</c:v>
                </c:pt>
                <c:pt idx="2">
                  <c:v>371.0</c:v>
                </c:pt>
                <c:pt idx="3">
                  <c:v>310.0</c:v>
                </c:pt>
                <c:pt idx="4">
                  <c:v>2.0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2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20.0</c:v>
                </c:pt>
                <c:pt idx="1">
                  <c:v>41.0</c:v>
                </c:pt>
                <c:pt idx="2">
                  <c:v>12.0</c:v>
                </c:pt>
                <c:pt idx="3">
                  <c:v>20.0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296.0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2395.844985099107</c:v>
                </c:pt>
                <c:pt idx="1">
                  <c:v>0.68943248</c:v>
                </c:pt>
                <c:pt idx="2">
                  <c:v>303.1807808399995</c:v>
                </c:pt>
                <c:pt idx="3">
                  <c:v>20.55986176999998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56.08578092</c:v>
                </c:pt>
                <c:pt idx="1">
                  <c:v>387.73355299</c:v>
                </c:pt>
                <c:pt idx="2">
                  <c:v>1.649866900000006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Rejected</c:v>
                </c:pt>
                <c:pt idx="1">
                  <c:v>Treasury</c:v>
                </c:pt>
                <c:pt idx="2">
                  <c:v>Other</c:v>
                </c:pt>
                <c:pt idx="3">
                  <c:v>Being processed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388.0</c:v>
                </c:pt>
                <c:pt idx="1">
                  <c:v>53.0</c:v>
                </c:pt>
                <c:pt idx="2">
                  <c:v>3.0</c:v>
                </c:pt>
                <c:pt idx="3">
                  <c:v>2.0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115.0</c:v>
                </c:pt>
                <c:pt idx="1">
                  <c:v>160.0</c:v>
                </c:pt>
                <c:pt idx="2">
                  <c:v>266.0</c:v>
                </c:pt>
                <c:pt idx="3">
                  <c:v>239.0</c:v>
                </c:pt>
                <c:pt idx="4">
                  <c:v>1941.0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2.0</c:v>
                </c:pt>
                <c:pt idx="1">
                  <c:v>53.0</c:v>
                </c:pt>
                <c:pt idx="2">
                  <c:v>0.0</c:v>
                </c:pt>
                <c:pt idx="3">
                  <c:v>12.0</c:v>
                </c:pt>
                <c:pt idx="4">
                  <c:v>379.0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48.0</c:v>
                </c:pt>
                <c:pt idx="1">
                  <c:v>0.0</c:v>
                </c:pt>
                <c:pt idx="2">
                  <c:v>1061.0</c:v>
                </c:pt>
                <c:pt idx="3">
                  <c:v>291.0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175.0</c:v>
                </c:pt>
                <c:pt idx="1">
                  <c:v>0.0</c:v>
                </c:pt>
                <c:pt idx="2">
                  <c:v>1696.0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36.0</c:v>
                </c:pt>
                <c:pt idx="2">
                  <c:v>12.0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175.0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698.8850559242986</c:v>
                </c:pt>
                <c:pt idx="1">
                  <c:v>0.0</c:v>
                </c:pt>
                <c:pt idx="2">
                  <c:v>0.0</c:v>
                </c:pt>
                <c:pt idx="3">
                  <c:v>1.41922638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103.1182487199999</c:v>
                </c:pt>
                <c:pt idx="1">
                  <c:v>0.0</c:v>
                </c:pt>
                <c:pt idx="2">
                  <c:v>158.391421685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Treasury</c:v>
                </c:pt>
                <c:pt idx="1">
                  <c:v>Ordonnancement</c:v>
                </c:pt>
                <c:pt idx="2">
                  <c:v>Missing reception</c:v>
                </c:pt>
                <c:pt idx="3">
                  <c:v>Other</c:v>
                </c:pt>
                <c:pt idx="4">
                  <c:v>Being processed</c:v>
                </c:pt>
                <c:pt idx="5">
                  <c:v>OCP subs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183.0</c:v>
                </c:pt>
                <c:pt idx="1">
                  <c:v>25.0</c:v>
                </c:pt>
                <c:pt idx="2">
                  <c:v>22.0</c:v>
                </c:pt>
                <c:pt idx="3">
                  <c:v>13.0</c:v>
                </c:pt>
                <c:pt idx="4">
                  <c:v>12.0</c:v>
                </c:pt>
                <c:pt idx="5">
                  <c:v>6.0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37.0</c:v>
                </c:pt>
                <c:pt idx="1">
                  <c:v>104.0</c:v>
                </c:pt>
                <c:pt idx="2">
                  <c:v>9.0</c:v>
                </c:pt>
                <c:pt idx="3">
                  <c:v>52.0</c:v>
                </c:pt>
                <c:pt idx="4">
                  <c:v>90.0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160.0</c:v>
                </c:pt>
                <c:pt idx="1">
                  <c:v>57.0</c:v>
                </c:pt>
                <c:pt idx="2">
                  <c:v>0.0</c:v>
                </c:pt>
                <c:pt idx="3">
                  <c:v>2.0</c:v>
                </c:pt>
                <c:pt idx="4">
                  <c:v>41.0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80.0</c:v>
                </c:pt>
                <c:pt idx="1">
                  <c:v>4.0</c:v>
                </c:pt>
                <c:pt idx="2">
                  <c:v>1.0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37.0</c:v>
                </c:pt>
                <c:pt idx="1">
                  <c:v>5.0</c:v>
                </c:pt>
                <c:pt idx="2">
                  <c:v>4.0</c:v>
                </c:pt>
                <c:pt idx="3">
                  <c:v>3.0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73.0</c:v>
                </c:pt>
                <c:pt idx="1">
                  <c:v>0.0</c:v>
                </c:pt>
                <c:pt idx="2">
                  <c:v>7.0</c:v>
                </c:pt>
                <c:pt idx="3">
                  <c:v>4.0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33.0</c:v>
                </c:pt>
                <c:pt idx="1">
                  <c:v>1.0</c:v>
                </c:pt>
                <c:pt idx="2">
                  <c:v>3.0</c:v>
                </c:pt>
                <c:pt idx="3">
                  <c:v>5.0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320.7558998199998</c:v>
                </c:pt>
                <c:pt idx="1">
                  <c:v>36.60798698999999</c:v>
                </c:pt>
                <c:pt idx="2">
                  <c:v>7.9419595653064</c:v>
                </c:pt>
                <c:pt idx="3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84.02500996</c:v>
                </c:pt>
                <c:pt idx="1">
                  <c:v>0.2207168</c:v>
                </c:pt>
                <c:pt idx="2">
                  <c:v>9.609769380442563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OCP subs</c:v>
                </c:pt>
                <c:pt idx="1">
                  <c:v>Ordonnancement</c:v>
                </c:pt>
                <c:pt idx="2">
                  <c:v>Missing reception</c:v>
                </c:pt>
                <c:pt idx="3">
                  <c:v>Other</c:v>
                </c:pt>
                <c:pt idx="4">
                  <c:v>Treasury</c:v>
                </c:pt>
                <c:pt idx="5">
                  <c:v>Rejected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45.0</c:v>
                </c:pt>
                <c:pt idx="1">
                  <c:v>25.0</c:v>
                </c:pt>
                <c:pt idx="2">
                  <c:v>11.0</c:v>
                </c:pt>
                <c:pt idx="3">
                  <c:v>10.0</c:v>
                </c:pt>
                <c:pt idx="4">
                  <c:v>3.0</c:v>
                </c:pt>
                <c:pt idx="5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17.0</c:v>
                </c:pt>
                <c:pt idx="1">
                  <c:v>11.0</c:v>
                </c:pt>
                <c:pt idx="2">
                  <c:v>52.0</c:v>
                </c:pt>
                <c:pt idx="3">
                  <c:v>0.0</c:v>
                </c:pt>
                <c:pt idx="4">
                  <c:v>283.0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10.0</c:v>
                </c:pt>
                <c:pt idx="1">
                  <c:v>27.0</c:v>
                </c:pt>
                <c:pt idx="2">
                  <c:v>10.0</c:v>
                </c:pt>
                <c:pt idx="3">
                  <c:v>4.0</c:v>
                </c:pt>
                <c:pt idx="4">
                  <c:v>43.0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30.0</c:v>
                </c:pt>
                <c:pt idx="1">
                  <c:v>331.0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4.0</c:v>
                </c:pt>
                <c:pt idx="1">
                  <c:v>0.0</c:v>
                </c:pt>
                <c:pt idx="2">
                  <c:v>26.0</c:v>
                </c:pt>
                <c:pt idx="3">
                  <c:v>331.0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273.3557867714</c:v>
                </c:pt>
                <c:pt idx="1">
                  <c:v>0.0</c:v>
                </c:pt>
                <c:pt idx="2">
                  <c:v>32.18865181340009</c:v>
                </c:pt>
                <c:pt idx="3">
                  <c:v>115.5879811200001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105.91895148941</c:v>
                </c:pt>
                <c:pt idx="1">
                  <c:v>6.598109278571422</c:v>
                </c:pt>
                <c:pt idx="2">
                  <c:v>17.619626319692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Non-OCP / OCP sub (…</c:v>
                </c:pt>
                <c:pt idx="1">
                  <c:v>Treasury</c:v>
                </c:pt>
                <c:pt idx="2">
                  <c:v>Ordonnancement</c:v>
                </c:pt>
                <c:pt idx="3">
                  <c:v>Other</c:v>
                </c:pt>
                <c:pt idx="4">
                  <c:v>Rejected</c:v>
                </c:pt>
                <c:pt idx="5">
                  <c:v>Missing reception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81.0</c:v>
                </c:pt>
                <c:pt idx="1">
                  <c:v>17.0</c:v>
                </c:pt>
                <c:pt idx="2">
                  <c:v>12.0</c:v>
                </c:pt>
                <c:pt idx="3">
                  <c:v>11.0</c:v>
                </c:pt>
                <c:pt idx="4">
                  <c:v>7.0</c:v>
                </c:pt>
                <c:pt idx="5">
                  <c:v>2.0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47.0</c:v>
                </c:pt>
                <c:pt idx="1">
                  <c:v>10.0</c:v>
                </c:pt>
                <c:pt idx="2">
                  <c:v>11.0</c:v>
                </c:pt>
                <c:pt idx="3">
                  <c:v>25.0</c:v>
                </c:pt>
                <c:pt idx="4">
                  <c:v>328.0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18.0</c:v>
                </c:pt>
                <c:pt idx="1">
                  <c:v>53.0</c:v>
                </c:pt>
                <c:pt idx="2">
                  <c:v>3.0</c:v>
                </c:pt>
                <c:pt idx="3">
                  <c:v>2.0</c:v>
                </c:pt>
                <c:pt idx="4">
                  <c:v>56.0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6.0</c:v>
                </c:pt>
                <c:pt idx="1">
                  <c:v>0.0</c:v>
                </c:pt>
                <c:pt idx="2">
                  <c:v>5.0</c:v>
                </c:pt>
                <c:pt idx="3">
                  <c:v>11.0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42.0</c:v>
                </c:pt>
                <c:pt idx="1">
                  <c:v>0.0</c:v>
                </c:pt>
                <c:pt idx="2">
                  <c:v>15.0</c:v>
                </c:pt>
                <c:pt idx="3">
                  <c:v>76.0</c:v>
                </c:pt>
                <c:pt idx="4">
                  <c:v>3.0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24.0</c:v>
                </c:pt>
                <c:pt idx="1">
                  <c:v>18.0</c:v>
                </c:pt>
                <c:pt idx="2">
                  <c:v>0.0</c:v>
                </c:pt>
                <c:pt idx="3">
                  <c:v>3.0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110.03816402</c:v>
                </c:pt>
                <c:pt idx="1">
                  <c:v>0.0</c:v>
                </c:pt>
                <c:pt idx="2">
                  <c:v>36.25880292000014</c:v>
                </c:pt>
                <c:pt idx="3">
                  <c:v>0.425162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330.868192730476</c:v>
                </c:pt>
                <c:pt idx="1">
                  <c:v>0.0</c:v>
                </c:pt>
                <c:pt idx="2">
                  <c:v>11.12884361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OCP subs</c:v>
                </c:pt>
                <c:pt idx="1">
                  <c:v>Other</c:v>
                </c:pt>
                <c:pt idx="2">
                  <c:v>Ordonnancement</c:v>
                </c:pt>
                <c:pt idx="3">
                  <c:v>Missing reception</c:v>
                </c:pt>
                <c:pt idx="4">
                  <c:v>Rejected</c:v>
                </c:pt>
                <c:pt idx="5">
                  <c:v>Treasury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302.0</c:v>
                </c:pt>
                <c:pt idx="1">
                  <c:v>22.0</c:v>
                </c:pt>
                <c:pt idx="2">
                  <c:v>14.0</c:v>
                </c:pt>
                <c:pt idx="3">
                  <c:v>3.0</c:v>
                </c:pt>
                <c:pt idx="4">
                  <c:v>1.0</c:v>
                </c:pt>
                <c:pt idx="5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16.0</c:v>
                </c:pt>
                <c:pt idx="1">
                  <c:v>8.0</c:v>
                </c:pt>
                <c:pt idx="2">
                  <c:v>20.0</c:v>
                </c:pt>
                <c:pt idx="3">
                  <c:v>15.0</c:v>
                </c:pt>
                <c:pt idx="4">
                  <c:v>89.0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11.0</c:v>
                </c:pt>
                <c:pt idx="1">
                  <c:v>3.0</c:v>
                </c:pt>
                <c:pt idx="2">
                  <c:v>2.0</c:v>
                </c:pt>
                <c:pt idx="3">
                  <c:v>12.0</c:v>
                </c:pt>
                <c:pt idx="4">
                  <c:v>313.0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48.0</c:v>
                </c:pt>
                <c:pt idx="1">
                  <c:v>2.0</c:v>
                </c:pt>
                <c:pt idx="2">
                  <c:v>1.0</c:v>
                </c:pt>
                <c:pt idx="3">
                  <c:v>6.0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1.0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43.0</c:v>
                </c:pt>
                <c:pt idx="1">
                  <c:v>0.0</c:v>
                </c:pt>
                <c:pt idx="2">
                  <c:v>5.0</c:v>
                </c:pt>
                <c:pt idx="3">
                  <c:v>2.0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5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4.892148413371475</c:v>
                </c:pt>
                <c:pt idx="1">
                  <c:v>0.0</c:v>
                </c:pt>
                <c:pt idx="2">
                  <c:v>2.386849003392</c:v>
                </c:pt>
                <c:pt idx="3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5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93.72287720217099</c:v>
                </c:pt>
                <c:pt idx="1">
                  <c:v>1.27293828302</c:v>
                </c:pt>
                <c:pt idx="2">
                  <c:v>4.357662997185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5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Other</c:v>
                </c:pt>
                <c:pt idx="1">
                  <c:v>Treasury</c:v>
                </c:pt>
                <c:pt idx="2">
                  <c:v>Missing reception</c:v>
                </c:pt>
                <c:pt idx="3">
                  <c:v>Rejected</c:v>
                </c:pt>
                <c:pt idx="4">
                  <c:v>Being processed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84.0</c:v>
                </c:pt>
                <c:pt idx="1">
                  <c:v>9.0</c:v>
                </c:pt>
                <c:pt idx="2">
                  <c:v>5.0</c:v>
                </c:pt>
                <c:pt idx="3">
                  <c:v>1.0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5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-0.0</c:v>
                </c:pt>
                <c:pt idx="1">
                  <c:v>3.0</c:v>
                </c:pt>
                <c:pt idx="2">
                  <c:v>1.0</c:v>
                </c:pt>
                <c:pt idx="3">
                  <c:v>-3.0</c:v>
                </c:pt>
                <c:pt idx="4">
                  <c:v>7.0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4.0</c:v>
                </c:pt>
                <c:pt idx="1">
                  <c:v>0.0</c:v>
                </c:pt>
                <c:pt idx="2">
                  <c:v>42.0</c:v>
                </c:pt>
                <c:pt idx="3">
                  <c:v>34.0</c:v>
                </c:pt>
                <c:pt idx="4">
                  <c:v>18.0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5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3.0</c:v>
                </c:pt>
                <c:pt idx="1">
                  <c:v>0.0</c:v>
                </c:pt>
                <c:pt idx="2">
                  <c:v>249.0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5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3.0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5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27.89248495</c:v>
                </c:pt>
                <c:pt idx="1">
                  <c:v>0.0</c:v>
                </c:pt>
                <c:pt idx="2">
                  <c:v>13.6966085955</c:v>
                </c:pt>
                <c:pt idx="3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5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20.0097067618</c:v>
                </c:pt>
                <c:pt idx="1">
                  <c:v>0.0</c:v>
                </c:pt>
                <c:pt idx="2">
                  <c:v>8.241983000000001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5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Other</c:v>
                </c:pt>
                <c:pt idx="1">
                  <c:v>Rejected</c:v>
                </c:pt>
                <c:pt idx="2">
                  <c:v>Missing reception</c:v>
                </c:pt>
                <c:pt idx="3">
                  <c:v>Treasury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19.0</c:v>
                </c:pt>
                <c:pt idx="1">
                  <c:v>6.0</c:v>
                </c:pt>
                <c:pt idx="2">
                  <c:v>3.0</c:v>
                </c:pt>
                <c:pt idx="3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8.0</c:v>
                </c:pt>
                <c:pt idx="1">
                  <c:v>3.0</c:v>
                </c:pt>
                <c:pt idx="2">
                  <c:v>5.0</c:v>
                </c:pt>
                <c:pt idx="3">
                  <c:v>2.0</c:v>
                </c:pt>
                <c:pt idx="4">
                  <c:v>24.0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6.0</c:v>
                </c:pt>
                <c:pt idx="1">
                  <c:v>0.0</c:v>
                </c:pt>
                <c:pt idx="2">
                  <c:v>3.0</c:v>
                </c:pt>
                <c:pt idx="3">
                  <c:v>10.0</c:v>
                </c:pt>
                <c:pt idx="4">
                  <c:v>8.0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Labor (PSR)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numFmt formatCode="#,##0;−#,##0;&quot;&quot;" sourceLinked="0"/>
            <c:txPr>
              <a:bodyPr/>
              <a:lstStyle/>
              <a:p>
                <a:pPr>
                  <a:defRPr sz="75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586.0</c:v>
                </c:pt>
                <c:pt idx="1">
                  <c:v>467.0</c:v>
                </c:pt>
                <c:pt idx="2">
                  <c:v>171.0</c:v>
                </c:pt>
                <c:pt idx="3">
                  <c:v>91.0</c:v>
                </c:pt>
                <c:pt idx="4">
                  <c:v>117.0</c:v>
                </c:pt>
                <c:pt idx="5">
                  <c:v>95.0</c:v>
                </c:pt>
                <c:pt idx="6">
                  <c:v>133.0</c:v>
                </c:pt>
                <c:pt idx="7">
                  <c:v>152.0</c:v>
                </c:pt>
                <c:pt idx="8">
                  <c:v>214.0</c:v>
                </c:pt>
                <c:pt idx="9">
                  <c:v>91.0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Non-labor (procurement)</c:v>
                </c:pt>
              </c:strCache>
            </c:strRef>
          </c:tx>
          <c:spPr>
            <a:solidFill>
              <a:srgbClr val="E08A2E"/>
            </a:solidFill>
            <a:ln>
              <a:noFill/>
            </a:ln>
          </c:spPr>
          <c:dLbls>
            <c:numFmt formatCode="#,##0;−#,##0;&quot;&quot;" sourceLinked="0"/>
            <c:txPr>
              <a:bodyPr/>
              <a:lstStyle/>
              <a:p>
                <a:pPr>
                  <a:defRPr sz="750">
                    <a:solidFill>
                      <a:srgbClr val="1F2A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1662.0</c:v>
                </c:pt>
                <c:pt idx="1">
                  <c:v>1251.0</c:v>
                </c:pt>
                <c:pt idx="2">
                  <c:v>355.0</c:v>
                </c:pt>
                <c:pt idx="3">
                  <c:v>126.0</c:v>
                </c:pt>
                <c:pt idx="4">
                  <c:v>360.0</c:v>
                </c:pt>
                <c:pt idx="5">
                  <c:v>106.0</c:v>
                </c:pt>
                <c:pt idx="6">
                  <c:v>657.0</c:v>
                </c:pt>
                <c:pt idx="7">
                  <c:v>775.0</c:v>
                </c:pt>
                <c:pt idx="8">
                  <c:v>523.0</c:v>
                </c:pt>
                <c:pt idx="9">
                  <c:v>151.0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9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Cash IN</c:v>
                </c:pt>
              </c:strCache>
            </c:strRef>
          </c:tx>
          <c:spPr>
            <a:solidFill>
              <a:srgbClr val="3A9C8C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Jul</c:v>
                </c:pt>
                <c:pt idx="1">
                  <c:v>Aug</c:v>
                </c:pt>
                <c:pt idx="2">
                  <c:v>Sep</c:v>
                </c:pt>
                <c:pt idx="3">
                  <c:v>Oct to date</c:v>
                </c:pt>
                <c:pt idx="4">
                  <c:v>Oct commitments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712.0</c:v>
                </c:pt>
                <c:pt idx="1">
                  <c:v>715.0</c:v>
                </c:pt>
                <c:pt idx="2">
                  <c:v>526.0</c:v>
                </c:pt>
                <c:pt idx="3">
                  <c:v>151.0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Cash OUT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Jul</c:v>
                </c:pt>
                <c:pt idx="1">
                  <c:v>Aug</c:v>
                </c:pt>
                <c:pt idx="2">
                  <c:v>Sep</c:v>
                </c:pt>
                <c:pt idx="3">
                  <c:v>Oct to date</c:v>
                </c:pt>
                <c:pt idx="4">
                  <c:v>Oct commitments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548.0</c:v>
                </c:pt>
                <c:pt idx="1">
                  <c:v>296.0</c:v>
                </c:pt>
                <c:pt idx="2">
                  <c:v>889.0</c:v>
                </c:pt>
                <c:pt idx="3">
                  <c:v>220.0</c:v>
                </c:pt>
                <c:pt idx="4">
                  <c:v>321.0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Net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Jul</c:v>
                </c:pt>
                <c:pt idx="1">
                  <c:v>Aug</c:v>
                </c:pt>
                <c:pt idx="2">
                  <c:v>Sep</c:v>
                </c:pt>
                <c:pt idx="3">
                  <c:v>Oct to date</c:v>
                </c:pt>
                <c:pt idx="4">
                  <c:v>Oct commitments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164.0</c:v>
                </c:pt>
                <c:pt idx="1">
                  <c:v>419.0</c:v>
                </c:pt>
                <c:pt idx="2">
                  <c:v>-363.0</c:v>
                </c:pt>
                <c:pt idx="3">
                  <c:v>-69.0</c:v>
                </c:pt>
                <c:pt idx="4">
                  <c:v>-321.0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9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Cash IN vs cash OUT by BU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Cash IN</c:v>
                </c:pt>
              </c:strCache>
            </c:strRef>
          </c:tx>
          <c:spPr>
            <a:solidFill>
              <a:srgbClr val="3A9C8C"/>
            </a:solidFill>
            <a:ln>
              <a:noFill/>
            </a:ln>
          </c:spPr>
          <c:cat>
            <c:strRef>
              <c:f>Sheet1!$A$2:$A$11</c:f>
              <c:strCache>
                <c:ptCount val="10"/>
                <c:pt idx="0">
                  <c:v>Water &amp; Env.</c:v>
                </c:pt>
                <c:pt idx="1">
                  <c:v>Fert. &amp; Chem.</c:v>
                </c:pt>
                <c:pt idx="2">
                  <c:v>AM</c:v>
                </c:pt>
                <c:pt idx="3">
                  <c:v>SP2M</c:v>
                </c:pt>
                <c:pt idx="4">
                  <c:v>JESA Tech</c:v>
                </c:pt>
                <c:pt idx="5">
                  <c:v>Energy Ops</c:v>
                </c:pt>
                <c:pt idx="6">
                  <c:v>Global Mining</c:v>
                </c:pt>
                <c:pt idx="7">
                  <c:v>B&amp;I</c:v>
                </c:pt>
                <c:pt idx="8">
                  <c:v>Advisory</c:v>
                </c:pt>
                <c:pt idx="9">
                  <c:v>B&amp;C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632.0</c:v>
                </c:pt>
                <c:pt idx="1">
                  <c:v>527.0</c:v>
                </c:pt>
                <c:pt idx="2">
                  <c:v>402.0</c:v>
                </c:pt>
                <c:pt idx="3">
                  <c:v>307.0</c:v>
                </c:pt>
                <c:pt idx="4">
                  <c:v>111.0</c:v>
                </c:pt>
                <c:pt idx="5">
                  <c:v>65.0</c:v>
                </c:pt>
                <c:pt idx="6">
                  <c:v>51.0</c:v>
                </c:pt>
                <c:pt idx="7">
                  <c:v>10.0</c:v>
                </c:pt>
                <c:pt idx="8">
                  <c:v>0.0</c:v>
                </c:pt>
                <c:pt idx="9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Cash OUT (incl. commitments)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Sheet1!$A$2:$A$11</c:f>
              <c:strCache>
                <c:ptCount val="10"/>
                <c:pt idx="0">
                  <c:v>Water &amp; Env.</c:v>
                </c:pt>
                <c:pt idx="1">
                  <c:v>Fert. &amp; Chem.</c:v>
                </c:pt>
                <c:pt idx="2">
                  <c:v>AM</c:v>
                </c:pt>
                <c:pt idx="3">
                  <c:v>SP2M</c:v>
                </c:pt>
                <c:pt idx="4">
                  <c:v>JESA Tech</c:v>
                </c:pt>
                <c:pt idx="5">
                  <c:v>Energy Ops</c:v>
                </c:pt>
                <c:pt idx="6">
                  <c:v>Global Mining</c:v>
                </c:pt>
                <c:pt idx="7">
                  <c:v>B&amp;I</c:v>
                </c:pt>
                <c:pt idx="8">
                  <c:v>Advisory</c:v>
                </c:pt>
                <c:pt idx="9">
                  <c:v>B&amp;C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619.0</c:v>
                </c:pt>
                <c:pt idx="1">
                  <c:v>452.0</c:v>
                </c:pt>
                <c:pt idx="2">
                  <c:v>358.0</c:v>
                </c:pt>
                <c:pt idx="3">
                  <c:v>640.0</c:v>
                </c:pt>
                <c:pt idx="4">
                  <c:v>106.0</c:v>
                </c:pt>
                <c:pt idx="5">
                  <c:v>16.0</c:v>
                </c:pt>
                <c:pt idx="6">
                  <c:v>58.0</c:v>
                </c:pt>
                <c:pt idx="7">
                  <c:v>11.0</c:v>
                </c:pt>
                <c:pt idx="8">
                  <c:v>15.0</c:v>
                </c:pt>
                <c:pt idx="9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Net balance after all ongoing commitments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Net after all ongoing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dPt>
            <c:idx val="0"/>
            <c:spPr>
              <a:solidFill>
                <a:srgbClr val="2E7D4F"/>
              </a:solidFill>
              <a:ln>
                <a:noFill/>
              </a:ln>
            </c:spPr>
          </c:dPt>
          <c:dPt>
            <c:idx val="1"/>
            <c:spPr>
              <a:solidFill>
                <a:srgbClr val="2E7D4F"/>
              </a:solidFill>
              <a:ln>
                <a:noFill/>
              </a:ln>
            </c:spPr>
          </c:dPt>
          <c:dPt>
            <c:idx val="2"/>
            <c:spPr>
              <a:solidFill>
                <a:srgbClr val="2E7D4F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dPt>
            <c:idx val="4"/>
            <c:spPr>
              <a:solidFill>
                <a:srgbClr val="2E7D4F"/>
              </a:solidFill>
              <a:ln>
                <a:noFill/>
              </a:ln>
            </c:spPr>
          </c:dPt>
          <c:dPt>
            <c:idx val="5"/>
            <c:spPr>
              <a:solidFill>
                <a:srgbClr val="2E7D4F"/>
              </a:solidFill>
              <a:ln>
                <a:noFill/>
              </a:ln>
            </c:spPr>
          </c:dPt>
          <c:dPt>
            <c:idx val="6"/>
            <c:spPr>
              <a:solidFill>
                <a:srgbClr val="B5473A"/>
              </a:solidFill>
              <a:ln>
                <a:noFill/>
              </a:ln>
            </c:spPr>
          </c:dPt>
          <c:dPt>
            <c:idx val="7"/>
            <c:spPr>
              <a:solidFill>
                <a:srgbClr val="B5473A"/>
              </a:solidFill>
              <a:ln>
                <a:noFill/>
              </a:ln>
            </c:spPr>
          </c:dPt>
          <c:dPt>
            <c:idx val="8"/>
            <c:spPr>
              <a:solidFill>
                <a:srgbClr val="B5473A"/>
              </a:solidFill>
              <a:ln>
                <a:noFill/>
              </a:ln>
            </c:spPr>
          </c:dPt>
          <c:dPt>
            <c:idx val="9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Sheet1!$A$2:$A$11</c:f>
              <c:strCache>
                <c:ptCount val="10"/>
                <c:pt idx="0">
                  <c:v>Water &amp; Env.</c:v>
                </c:pt>
                <c:pt idx="1">
                  <c:v>Fert. &amp; Chem.</c:v>
                </c:pt>
                <c:pt idx="2">
                  <c:v>AM</c:v>
                </c:pt>
                <c:pt idx="3">
                  <c:v>SP2M</c:v>
                </c:pt>
                <c:pt idx="4">
                  <c:v>JESA Tech</c:v>
                </c:pt>
                <c:pt idx="5">
                  <c:v>Energy Ops</c:v>
                </c:pt>
                <c:pt idx="6">
                  <c:v>Global Mining</c:v>
                </c:pt>
                <c:pt idx="7">
                  <c:v>B&amp;I</c:v>
                </c:pt>
                <c:pt idx="8">
                  <c:v>Advisory</c:v>
                </c:pt>
                <c:pt idx="9">
                  <c:v>B&amp;C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13.0</c:v>
                </c:pt>
                <c:pt idx="1">
                  <c:v>75.0</c:v>
                </c:pt>
                <c:pt idx="2">
                  <c:v>44.0</c:v>
                </c:pt>
                <c:pt idx="3">
                  <c:v>-333.0</c:v>
                </c:pt>
                <c:pt idx="4">
                  <c:v>5.0</c:v>
                </c:pt>
                <c:pt idx="5">
                  <c:v>49.0</c:v>
                </c:pt>
                <c:pt idx="6">
                  <c:v>-7.0</c:v>
                </c:pt>
                <c:pt idx="7">
                  <c:v>-2.0</c:v>
                </c:pt>
                <c:pt idx="8">
                  <c:v>-15.0</c:v>
                </c:pt>
                <c:pt idx="9">
                  <c:v>-0.0</c:v>
                </c:pt>
              </c:numCache>
            </c:numRef>
          </c:val>
        </c:ser>
        <c:dLbls>
          <c:numFmt formatCode="+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Paid to 15/10</c:v>
                </c:pt>
                <c:pt idx="1">
                  <c:v>Approved – LC maturities</c:v>
                </c:pt>
                <c:pt idx="2">
                  <c:v>Approved – supplier invoices</c:v>
                </c:pt>
                <c:pt idx="3">
                  <c:v>Pending approval</c:v>
                </c:pt>
                <c:pt idx="4">
                  <c:v>Total October outflow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220.27320822</c:v>
                </c:pt>
                <c:pt idx="2">
                  <c:v>376.7167884441774</c:v>
                </c:pt>
                <c:pt idx="3">
                  <c:v>477.7994740509534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value</c:v>
                </c:pt>
              </c:strCache>
            </c:strRef>
          </c:tx>
          <c:spPr>
            <a:ln>
              <a:noFill/>
            </a:ln>
          </c:spPr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8972B"/>
              </a:solidFill>
              <a:ln>
                <a:noFill/>
              </a:ln>
            </c:spPr>
          </c:dPt>
          <c:dPt>
            <c:idx val="2"/>
            <c:spPr>
              <a:solidFill>
                <a:srgbClr val="C8972B"/>
              </a:solidFill>
              <a:ln>
                <a:noFill/>
              </a:ln>
            </c:spPr>
          </c:dPt>
          <c:dPt>
            <c:idx val="3"/>
            <c:spPr>
              <a:solidFill>
                <a:srgbClr val="E08A2E"/>
              </a:solidFill>
              <a:ln>
                <a:noFill/>
              </a:ln>
            </c:spPr>
          </c:dPt>
          <c:dPt>
            <c:idx val="4"/>
            <c:spPr>
              <a:solidFill>
                <a:srgbClr val="0F3B63"/>
              </a:solidFill>
              <a:ln>
                <a:noFill/>
              </a:ln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850" b="1">
                        <a:solidFill>
                          <a:srgbClr val="FFFFFF"/>
                        </a:solidFill>
                        <a:latin typeface="Arial"/>
                      </a:rPr>
                      <a:t>220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850" b="1">
                        <a:solidFill>
                          <a:srgbClr val="FFFFFF"/>
                        </a:solidFill>
                        <a:latin typeface="Arial"/>
                      </a:rPr>
                      <a:t>+156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850" b="1">
                        <a:solidFill>
                          <a:srgbClr val="FFFFFF"/>
                        </a:solidFill>
                        <a:latin typeface="Arial"/>
                      </a:rPr>
                      <a:t>+101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850" b="1">
                        <a:solidFill>
                          <a:srgbClr val="FFFFFF"/>
                        </a:solidFill>
                        <a:latin typeface="Arial"/>
                      </a:rPr>
                      <a:t>+64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850" b="1">
                        <a:solidFill>
                          <a:srgbClr val="FFFFFF"/>
                        </a:solidFill>
                        <a:latin typeface="Arial"/>
                      </a:rPr>
                      <a:t>541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Paid to 15/10</c:v>
                </c:pt>
                <c:pt idx="1">
                  <c:v>Approved – LC maturities</c:v>
                </c:pt>
                <c:pt idx="2">
                  <c:v>Approved – supplier invoices</c:v>
                </c:pt>
                <c:pt idx="3">
                  <c:v>Pending approval</c:v>
                </c:pt>
                <c:pt idx="4">
                  <c:v>Total October outflow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220.27320822</c:v>
                </c:pt>
                <c:pt idx="1">
                  <c:v>156.4435802241774</c:v>
                </c:pt>
                <c:pt idx="2">
                  <c:v>101.082685606776</c:v>
                </c:pt>
                <c:pt idx="3">
                  <c:v>63.92444617999999</c:v>
                </c:pt>
                <c:pt idx="4">
                  <c:v>541</c:v>
                </c:pt>
              </c:numCache>
            </c:numRef>
          </c:val>
        </c:ser>
        <c:gapWidth val="4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Arial"/>
        </a:defRPr>
      </a:pPr>
      <a:endParaRPr lang="en-US"/>
    </a:p>
  </c:txPr>
  <c:externalData r:id="rId1">
    <c:autoUpdate val="0"/>
  </c:externalData>
</c:chartSpace>
</file>

<file path=ppt/charts/chart6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Approved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cat>
            <c:strRef>
              <c:f>Sheet1!$A$2:$A$8</c:f>
              <c:strCache>
                <c:ptCount val="7"/>
                <c:pt idx="0">
                  <c:v>Pending AP (unpaid)</c:v>
                </c:pt>
                <c:pt idx="1">
                  <c:v>Paid after cut-off, awaiting SAP</c:v>
                </c:pt>
                <c:pt idx="2">
                  <c:v>Pending Treasury (unpaid)</c:v>
                </c:pt>
                <c:pt idx="3">
                  <c:v>Paid per log, not yet in SAP</c:v>
                </c:pt>
                <c:pt idx="4">
                  <c:v>Paid, SAP clearing reversed</c:v>
                </c:pt>
                <c:pt idx="5">
                  <c:v>Paid per log, no date</c:v>
                </c:pt>
                <c:pt idx="6">
                  <c:v>Cancelled – to review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44.0</c:v>
                </c:pt>
                <c:pt idx="1">
                  <c:v>23.8</c:v>
                </c:pt>
                <c:pt idx="2">
                  <c:v>13.2</c:v>
                </c:pt>
                <c:pt idx="3">
                  <c:v>11.3</c:v>
                </c:pt>
                <c:pt idx="4">
                  <c:v>2.3</c:v>
                </c:pt>
                <c:pt idx="5">
                  <c:v>0.8</c:v>
                </c:pt>
                <c:pt idx="6">
                  <c:v>0.2</c:v>
                </c:pt>
              </c:numCache>
            </c:numRef>
          </c:val>
        </c:ser>
        <c:dLbls>
          <c:numFmt formatCode="#,##0.0;−#,##0.0;&quot;&quot;" sourceLinked="0"/>
          <c:txPr>
            <a:bodyPr/>
            <a:lstStyle/>
            <a:p>
              <a:pPr>
                <a:defRPr sz="8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4411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2"/>
              <c:delete val="1"/>
            </c:dLbl>
            <c:dLbl>
              <c:idx val="3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Overdue</c:v>
                </c:pt>
                <c:pt idx="1">
                  <c:v>Due ≤ 30d</c:v>
                </c:pt>
                <c:pt idx="2">
                  <c:v>Due 31–60d</c:v>
                </c:pt>
                <c:pt idx="3">
                  <c:v>Due &gt; 60d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721.0</c:v>
                </c:pt>
                <c:pt idx="1">
                  <c:v>71.0</c:v>
                </c:pt>
                <c:pt idx="2">
                  <c:v>16.0</c:v>
                </c:pt>
                <c:pt idx="3">
                  <c:v>2.0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Parked Invoice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Overdue</c:v>
                </c:pt>
                <c:pt idx="1">
                  <c:v>Due ≤ 30d</c:v>
                </c:pt>
                <c:pt idx="2">
                  <c:v>Due 31–60d</c:v>
                </c:pt>
                <c:pt idx="3">
                  <c:v>Due &gt; 60d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431.0</c:v>
                </c:pt>
                <c:pt idx="1">
                  <c:v>184.0</c:v>
                </c:pt>
                <c:pt idx="2">
                  <c:v>303.0</c:v>
                </c:pt>
                <c:pt idx="3">
                  <c:v>118.0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Downpayment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1F2A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Overdue</c:v>
                </c:pt>
                <c:pt idx="1">
                  <c:v>Due ≤ 30d</c:v>
                </c:pt>
                <c:pt idx="2">
                  <c:v>Due 31–60d</c:v>
                </c:pt>
                <c:pt idx="3">
                  <c:v>Due &gt; 60d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262.0</c:v>
                </c:pt>
                <c:pt idx="1">
                  <c:v>8.0</c:v>
                </c:pt>
                <c:pt idx="2">
                  <c:v>27.0</c:v>
                </c:pt>
                <c:pt idx="3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Maturities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Sheet1!$A$2:$A$15</c:f>
              <c:strCache>
                <c:ptCount val="14"/>
                <c:pt idx="0">
                  <c:v>Oct-26</c:v>
                </c:pt>
                <c:pt idx="1">
                  <c:v>Nov-26</c:v>
                </c:pt>
                <c:pt idx="2">
                  <c:v>Dec-26</c:v>
                </c:pt>
                <c:pt idx="3">
                  <c:v>Jan-27</c:v>
                </c:pt>
                <c:pt idx="4">
                  <c:v>Feb-27</c:v>
                </c:pt>
                <c:pt idx="5">
                  <c:v>Mar-27</c:v>
                </c:pt>
                <c:pt idx="6">
                  <c:v>Apr-27</c:v>
                </c:pt>
                <c:pt idx="7">
                  <c:v>May-27</c:v>
                </c:pt>
                <c:pt idx="8">
                  <c:v>Jun-27</c:v>
                </c:pt>
                <c:pt idx="9">
                  <c:v>Jul-27</c:v>
                </c:pt>
                <c:pt idx="10">
                  <c:v>Aug-27</c:v>
                </c:pt>
                <c:pt idx="11">
                  <c:v>Sep-27</c:v>
                </c:pt>
                <c:pt idx="12">
                  <c:v>Oct-27</c:v>
                </c:pt>
                <c:pt idx="13">
                  <c:v>Nov-27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156.0</c:v>
                </c:pt>
                <c:pt idx="1">
                  <c:v>344.0</c:v>
                </c:pt>
                <c:pt idx="2">
                  <c:v>130.0</c:v>
                </c:pt>
                <c:pt idx="3">
                  <c:v>358.0</c:v>
                </c:pt>
                <c:pt idx="4">
                  <c:v>22.0</c:v>
                </c:pt>
                <c:pt idx="5">
                  <c:v>122.0</c:v>
                </c:pt>
                <c:pt idx="6">
                  <c:v>0.0</c:v>
                </c:pt>
                <c:pt idx="7">
                  <c:v>0.0</c:v>
                </c:pt>
                <c:pt idx="8">
                  <c:v>70.0</c:v>
                </c:pt>
                <c:pt idx="9">
                  <c:v>334.0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47.0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Encours</c:v>
                </c:pt>
              </c:strCache>
            </c:strRef>
          </c:tx>
          <c:spPr>
            <a:solidFill>
              <a:srgbClr val="3A9C8C"/>
            </a:solidFill>
            <a:ln>
              <a:noFill/>
            </a:ln>
          </c:spPr>
          <c:cat>
            <c:strRef>
              <c:f>Sheet1!$A$2:$A$10</c:f>
              <c:strCache>
                <c:ptCount val="9"/>
                <c:pt idx="0">
                  <c:v>Amount to be split by delivery</c:v>
                </c:pt>
                <c:pt idx="1">
                  <c:v>24-month rescheduling to finalise</c:v>
                </c:pt>
                <c:pt idx="2">
                  <c:v>No action recorded</c:v>
                </c:pt>
                <c:pt idx="3">
                  <c:v>Awaiting LC copy from buyer</c:v>
                </c:pt>
                <c:pt idx="4">
                  <c:v>Remaining payment pushed to 2027</c:v>
                </c:pt>
                <c:pt idx="5">
                  <c:v>Awaiting JESA response (suspension)</c:v>
                </c:pt>
                <c:pt idx="6">
                  <c:v>Finance to check with bank</c:v>
                </c:pt>
                <c:pt idx="7">
                  <c:v>LC to close</c:v>
                </c:pt>
                <c:pt idx="8">
                  <c:v>Other actions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449.0</c:v>
                </c:pt>
                <c:pt idx="1">
                  <c:v>386.0</c:v>
                </c:pt>
                <c:pt idx="2">
                  <c:v>286.0</c:v>
                </c:pt>
                <c:pt idx="3">
                  <c:v>164.0</c:v>
                </c:pt>
                <c:pt idx="4">
                  <c:v>102.0</c:v>
                </c:pt>
                <c:pt idx="5">
                  <c:v>76.0</c:v>
                </c:pt>
                <c:pt idx="6">
                  <c:v>30.0</c:v>
                </c:pt>
                <c:pt idx="7">
                  <c:v>27.0</c:v>
                </c:pt>
                <c:pt idx="8">
                  <c:v>64.0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7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Due-date buckets by origin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4411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Overdue</c:v>
                </c:pt>
                <c:pt idx="1">
                  <c:v>Due ≤ 30d</c:v>
                </c:pt>
                <c:pt idx="2">
                  <c:v>Due 31–60d</c:v>
                </c:pt>
                <c:pt idx="3">
                  <c:v>Due &gt; 60d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721.0</c:v>
                </c:pt>
                <c:pt idx="1">
                  <c:v>71.0</c:v>
                </c:pt>
                <c:pt idx="2">
                  <c:v>16.0</c:v>
                </c:pt>
                <c:pt idx="3">
                  <c:v>2.0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Parked Invoice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Overdue</c:v>
                </c:pt>
                <c:pt idx="1">
                  <c:v>Due ≤ 30d</c:v>
                </c:pt>
                <c:pt idx="2">
                  <c:v>Due 31–60d</c:v>
                </c:pt>
                <c:pt idx="3">
                  <c:v>Due &gt; 60d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431.0</c:v>
                </c:pt>
                <c:pt idx="1">
                  <c:v>184.0</c:v>
                </c:pt>
                <c:pt idx="2">
                  <c:v>303.0</c:v>
                </c:pt>
                <c:pt idx="3">
                  <c:v>118.0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Downpayment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Overdue</c:v>
                </c:pt>
                <c:pt idx="1">
                  <c:v>Due ≤ 30d</c:v>
                </c:pt>
                <c:pt idx="2">
                  <c:v>Due 31–60d</c:v>
                </c:pt>
                <c:pt idx="3">
                  <c:v>Due &gt; 60d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262.0</c:v>
                </c:pt>
                <c:pt idx="1">
                  <c:v>8.0</c:v>
                </c:pt>
                <c:pt idx="2">
                  <c:v>27.0</c:v>
                </c:pt>
                <c:pt idx="3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Relationship Id="rId3" Type="http://schemas.openxmlformats.org/officeDocument/2006/relationships/chart" Target="../charts/chart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Relationship Id="rId3" Type="http://schemas.openxmlformats.org/officeDocument/2006/relationships/chart" Target="../charts/chart10.xml"/><Relationship Id="rId4" Type="http://schemas.openxmlformats.org/officeDocument/2006/relationships/chart" Target="../charts/chart11.xml"/><Relationship Id="rId5" Type="http://schemas.openxmlformats.org/officeDocument/2006/relationships/chart" Target="../charts/chart1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3.xml"/><Relationship Id="rId3" Type="http://schemas.openxmlformats.org/officeDocument/2006/relationships/chart" Target="../charts/chart1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5.xml"/><Relationship Id="rId3" Type="http://schemas.openxmlformats.org/officeDocument/2006/relationships/chart" Target="../charts/chart16.xml"/><Relationship Id="rId4" Type="http://schemas.openxmlformats.org/officeDocument/2006/relationships/chart" Target="../charts/chart17.xml"/><Relationship Id="rId5" Type="http://schemas.openxmlformats.org/officeDocument/2006/relationships/chart" Target="../charts/chart1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9.xml"/><Relationship Id="rId3" Type="http://schemas.openxmlformats.org/officeDocument/2006/relationships/chart" Target="../charts/chart2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1.xml"/><Relationship Id="rId3" Type="http://schemas.openxmlformats.org/officeDocument/2006/relationships/chart" Target="../charts/chart22.xml"/><Relationship Id="rId4" Type="http://schemas.openxmlformats.org/officeDocument/2006/relationships/chart" Target="../charts/chart23.xml"/><Relationship Id="rId5" Type="http://schemas.openxmlformats.org/officeDocument/2006/relationships/chart" Target="../charts/chart2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5.xml"/><Relationship Id="rId3" Type="http://schemas.openxmlformats.org/officeDocument/2006/relationships/chart" Target="../charts/chart2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7.xml"/><Relationship Id="rId3" Type="http://schemas.openxmlformats.org/officeDocument/2006/relationships/chart" Target="../charts/chart28.xml"/><Relationship Id="rId4" Type="http://schemas.openxmlformats.org/officeDocument/2006/relationships/chart" Target="../charts/chart29.xml"/><Relationship Id="rId5" Type="http://schemas.openxmlformats.org/officeDocument/2006/relationships/chart" Target="../charts/chart3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1.xml"/><Relationship Id="rId3" Type="http://schemas.openxmlformats.org/officeDocument/2006/relationships/chart" Target="../charts/chart3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3.xml"/><Relationship Id="rId3" Type="http://schemas.openxmlformats.org/officeDocument/2006/relationships/chart" Target="../charts/chart34.xml"/><Relationship Id="rId4" Type="http://schemas.openxmlformats.org/officeDocument/2006/relationships/chart" Target="../charts/chart35.xml"/><Relationship Id="rId5" Type="http://schemas.openxmlformats.org/officeDocument/2006/relationships/chart" Target="../charts/chart3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7.xml"/><Relationship Id="rId3" Type="http://schemas.openxmlformats.org/officeDocument/2006/relationships/chart" Target="../charts/chart3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9.xml"/><Relationship Id="rId3" Type="http://schemas.openxmlformats.org/officeDocument/2006/relationships/chart" Target="../charts/chart40.xml"/><Relationship Id="rId4" Type="http://schemas.openxmlformats.org/officeDocument/2006/relationships/chart" Target="../charts/chart41.xml"/><Relationship Id="rId5" Type="http://schemas.openxmlformats.org/officeDocument/2006/relationships/chart" Target="../charts/chart4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3.xml"/><Relationship Id="rId3" Type="http://schemas.openxmlformats.org/officeDocument/2006/relationships/chart" Target="../charts/chart4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5.xml"/><Relationship Id="rId3" Type="http://schemas.openxmlformats.org/officeDocument/2006/relationships/chart" Target="../charts/chart46.xml"/><Relationship Id="rId4" Type="http://schemas.openxmlformats.org/officeDocument/2006/relationships/chart" Target="../charts/chart47.xml"/><Relationship Id="rId5" Type="http://schemas.openxmlformats.org/officeDocument/2006/relationships/chart" Target="../charts/chart4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9.xml"/><Relationship Id="rId3" Type="http://schemas.openxmlformats.org/officeDocument/2006/relationships/chart" Target="../charts/chart5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1.xml"/><Relationship Id="rId3" Type="http://schemas.openxmlformats.org/officeDocument/2006/relationships/chart" Target="../charts/chart52.xml"/><Relationship Id="rId4" Type="http://schemas.openxmlformats.org/officeDocument/2006/relationships/chart" Target="../charts/chart53.xml"/><Relationship Id="rId5" Type="http://schemas.openxmlformats.org/officeDocument/2006/relationships/chart" Target="../charts/chart5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5.xml"/><Relationship Id="rId3" Type="http://schemas.openxmlformats.org/officeDocument/2006/relationships/chart" Target="../charts/chart5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7.xml"/><Relationship Id="rId3" Type="http://schemas.openxmlformats.org/officeDocument/2006/relationships/chart" Target="../charts/chart58.xml"/><Relationship Id="rId4" Type="http://schemas.openxmlformats.org/officeDocument/2006/relationships/chart" Target="../charts/chart59.xml"/><Relationship Id="rId5" Type="http://schemas.openxmlformats.org/officeDocument/2006/relationships/chart" Target="../charts/chart6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3.xml"/><Relationship Id="rId3" Type="http://schemas.openxmlformats.org/officeDocument/2006/relationships/chart" Target="../charts/chart6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5.xml"/><Relationship Id="rId3" Type="http://schemas.openxmlformats.org/officeDocument/2006/relationships/chart" Target="../charts/chart6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8.xml"/><Relationship Id="rId3" Type="http://schemas.openxmlformats.org/officeDocument/2006/relationships/chart" Target="../charts/chart6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0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371600"/>
            <a:ext cx="8229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C8972B"/>
                </a:solidFill>
                <a:latin typeface="Arial"/>
              </a:rPr>
              <a:t>JESA  ·  ACCOUNTS RECEIVABLE, CASH &amp; PAYABLES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10515600" cy="10058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4400" b="1" i="0">
                <a:solidFill>
                  <a:srgbClr val="1B2F4B"/>
                </a:solidFill>
                <a:latin typeface="Arial"/>
              </a:rPr>
              <a:t>AR, Cash &amp; Payables Position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971800"/>
            <a:ext cx="1737360" cy="36576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108960"/>
            <a:ext cx="82296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B2F4B"/>
                </a:solidFill>
                <a:latin typeface="Arial"/>
              </a:rPr>
              <a:t>Weekly Executive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611880"/>
            <a:ext cx="10515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0" i="0">
                <a:solidFill>
                  <a:srgbClr val="6B7B8C"/>
                </a:solidFill>
                <a:latin typeface="Arial"/>
              </a:rPr>
              <a:t>Deck as of 21 Oct 2026   ·   AR snapshot 20 Oct 2026 (vs 14 Oct 2026 and 07 Oct 2026 baseline)   ·   Cash to 19/10   ·   Figures in MMAD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5074920"/>
            <a:ext cx="1849069" cy="1234440"/>
          </a:xfrm>
          <a:prstGeom prst="roundRect">
            <a:avLst>
              <a:gd name="adj" fmla="val 12000"/>
            </a:avLst>
          </a:prstGeom>
          <a:solidFill>
            <a:srgbClr val="B54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513892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GROSS EXPOSURE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349240"/>
            <a:ext cx="1666189" cy="441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19,525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035040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Incl. unrecognized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33117" y="5074920"/>
            <a:ext cx="1849069" cy="1234440"/>
          </a:xfrm>
          <a:prstGeom prst="roundRect">
            <a:avLst>
              <a:gd name="adj" fmla="val 12000"/>
            </a:avLst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24557" y="513892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UNRECOGNIZED REVENUE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24557" y="5349240"/>
            <a:ext cx="1666189" cy="441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7,128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24557" y="6035040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Not yet booked as AR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1914" y="5074920"/>
            <a:ext cx="1849069" cy="1234440"/>
          </a:xfrm>
          <a:prstGeom prst="roundRect">
            <a:avLst>
              <a:gd name="adj" fmla="val 12000"/>
            </a:avLst>
          </a:prstGeom>
          <a:solidFill>
            <a:srgbClr val="6B7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83354" y="513892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TOTAL 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83354" y="5349240"/>
            <a:ext cx="1666189" cy="441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12,397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83354" y="6035040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Recognized AR balance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0711" y="5074920"/>
            <a:ext cx="1849069" cy="1234440"/>
          </a:xfrm>
          <a:prstGeom prst="roundRect">
            <a:avLst>
              <a:gd name="adj" fmla="val 12000"/>
            </a:avLst>
          </a:prstGeom>
          <a:solidFill>
            <a:srgbClr val="3A9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2151" y="513892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UNBILLED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42151" y="5349240"/>
            <a:ext cx="1666189" cy="441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9,479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2151" y="6035040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Delivered, not billed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09508" y="5074920"/>
            <a:ext cx="1849069" cy="1234440"/>
          </a:xfrm>
          <a:prstGeom prst="roundRect">
            <a:avLst>
              <a:gd name="adj" fmla="val 12000"/>
            </a:avLst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00948" y="513892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UNPAID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00948" y="5349240"/>
            <a:ext cx="1666189" cy="441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2,370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00948" y="6035040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Billed, not collected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68306" y="5074920"/>
            <a:ext cx="1849069" cy="1234440"/>
          </a:xfrm>
          <a:prstGeom prst="roundRect">
            <a:avLst>
              <a:gd name="adj" fmla="val 12000"/>
            </a:avLst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59746" y="513892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ADVANCE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59746" y="5349240"/>
            <a:ext cx="1666189" cy="441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548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59746" y="6035040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Advance payment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Key Messages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The AR, cash and payables position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</a:t>
            </a:r>
          </a:p>
        </p:txBody>
      </p:sp>
      <p:sp>
        <p:nvSpPr>
          <p:cNvPr id="9" name="Oval 8"/>
          <p:cNvSpPr/>
          <p:nvPr/>
        </p:nvSpPr>
        <p:spPr>
          <a:xfrm>
            <a:off x="502920" y="1307592"/>
            <a:ext cx="438912" cy="438912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234440"/>
            <a:ext cx="10515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 i="0">
                <a:solidFill>
                  <a:srgbClr val="1B2F4B"/>
                </a:solidFill>
                <a:latin typeface="Arial"/>
              </a:rPr>
              <a:t>Total AR down 292 MMAD vs last week and down 456 MMAD vs the month-start (07 Oct) baseline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600200"/>
            <a:ext cx="10515600" cy="4480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1F2A37"/>
                </a:solidFill>
                <a:latin typeface="Arial"/>
              </a:rPr>
              <a:t>Total AR stands at 12,397 MMAD (−292 WoW, −456 vs month start). Adding 7,128 MMAD of unrecognized revenue (−666 vs the previous BU update), gross exposure is 19,525 MMAD. Unbilled is 9,479 MMAD (76% of AR, −35 WoW); unpaid is 2,370 MMAD (−258 WoW, −252 vs baseline).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8720" y="2176272"/>
            <a:ext cx="1051560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02920" y="2322576"/>
            <a:ext cx="438912" cy="438912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249424"/>
            <a:ext cx="10515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 i="0">
                <a:solidFill>
                  <a:srgbClr val="1B2F4B"/>
                </a:solidFill>
                <a:latin typeface="Arial"/>
              </a:rPr>
              <a:t>Collections: 241 MMAD received in October to date (+24 WoW), 8,082 MMAD YTD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2615184"/>
            <a:ext cx="10515600" cy="4480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1F2A37"/>
                </a:solidFill>
                <a:latin typeface="Arial"/>
              </a:rPr>
              <a:t>Invoices paid moved from 217 to 241 MMAD this month (payment date basis, amount invoiced). YTD payments received reach 8,082 MMAD (8.08 Bn MAD).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88720" y="3191256"/>
            <a:ext cx="1051560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02920" y="3337560"/>
            <a:ext cx="438912" cy="438912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3264408"/>
            <a:ext cx="10515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 i="0">
                <a:solidFill>
                  <a:srgbClr val="1B2F4B"/>
                </a:solidFill>
                <a:latin typeface="Arial"/>
              </a:rPr>
              <a:t>Procurement cash position: net −171 MMAD Jul–Oct including October commitments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630168"/>
            <a:ext cx="10515600" cy="4480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1F2A37"/>
                </a:solidFill>
                <a:latin typeface="Arial"/>
              </a:rPr>
              <a:t>Cumulative procurement cash IN of 2,104 MMAD vs cash OUT of 2,276 MMAD (Jul–Sep actuals, Oct actuals to 15/10, plus 321 MMAD of approved and pending October commitments). October alone: 151 MMAD in vs 220 MMAD paid, 321 MMAD still to pay.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88720" y="4206240"/>
            <a:ext cx="1051560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02920" y="4352544"/>
            <a:ext cx="438912" cy="438912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4279392"/>
            <a:ext cx="10515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 i="0">
                <a:solidFill>
                  <a:srgbClr val="1B2F4B"/>
                </a:solidFill>
                <a:latin typeface="Arial"/>
              </a:rPr>
              <a:t>Payables: 2,144 MMAD of supplier invoices in AP (4411 + parked + downpayments), 1,415 MMAD past due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4645152"/>
            <a:ext cx="10515600" cy="4480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1F2A37"/>
                </a:solidFill>
                <a:latin typeface="Arial"/>
              </a:rPr>
              <a:t>2,803 open supplier lines. Parked invoices and 4411 open items dominate; see the AP slide for due-date buckets, tiers and top suppliers.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88720" y="5221224"/>
            <a:ext cx="1051560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02920" y="5367528"/>
            <a:ext cx="438912" cy="438912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5294376"/>
            <a:ext cx="10515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 i="0">
                <a:solidFill>
                  <a:srgbClr val="1B2F4B"/>
                </a:solidFill>
                <a:latin typeface="Arial"/>
              </a:rPr>
              <a:t>Letters of credit: 912 MMAD outstanding on opened LCs, 1,583 MMAD including LCs still to be opened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5660136"/>
            <a:ext cx="10515600" cy="4480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1F2A37"/>
                </a:solidFill>
                <a:latin typeface="Arial"/>
              </a:rPr>
              <a:t>October LC maturities of 156 MMAD are counted as approved payments in the cash position. 675 MMAD falls in 2026 and 908 MMAD in 2027 per the maturity schedule.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AR Executive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Unbilled is 76% of total AR; AR −292 MMAD week on week and −456 vs the month-start baseline (07-Oct)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143000"/>
            <a:ext cx="1849069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52728"/>
            <a:ext cx="64008" cy="92354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20700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41732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19,525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773936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−958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143000"/>
            <a:ext cx="1849069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52728"/>
            <a:ext cx="64008" cy="92354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20700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41732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7,128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773936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−666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91914" y="1143000"/>
            <a:ext cx="1849069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91914" y="1252728"/>
            <a:ext cx="64008" cy="92354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29074" y="120700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29074" y="141732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12,397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773936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−292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993392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−456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50711" y="1143000"/>
            <a:ext cx="1849069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50711" y="1252728"/>
            <a:ext cx="64008" cy="92354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87871" y="120700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87871" y="141732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9,479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773936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993392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−205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09508" y="1143000"/>
            <a:ext cx="1849069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09508" y="1252728"/>
            <a:ext cx="64008" cy="92354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46668" y="120700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46668" y="141732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2,370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773936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−257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993392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−252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068306" y="1143000"/>
            <a:ext cx="1849069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068306" y="1252728"/>
            <a:ext cx="64008" cy="92354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05466" y="120700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05466" y="141732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548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773936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993392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2468880"/>
            <a:ext cx="5029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B2F4B"/>
                </a:solidFill>
                <a:latin typeface="Arial"/>
              </a:rPr>
              <a:t>AR by component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2761488"/>
            <a:ext cx="5029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B8C"/>
                </a:solidFill>
                <a:latin typeface="Arial"/>
              </a:rPr>
              <a:t>Unbilled dominates the receivable book (MMAD)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/>
        </p:nvGraphicFramePr>
        <p:xfrm>
          <a:off x="182880" y="3017520"/>
          <a:ext cx="27432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6" name="Rectangle 45"/>
          <p:cNvSpPr/>
          <p:nvPr/>
        </p:nvSpPr>
        <p:spPr>
          <a:xfrm>
            <a:off x="3063240" y="3639312"/>
            <a:ext cx="201168" cy="201168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337560" y="3566160"/>
            <a:ext cx="14630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B2F4B"/>
                </a:solidFill>
                <a:latin typeface="Arial"/>
              </a:rPr>
              <a:t>Unbilled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337560" y="3840480"/>
            <a:ext cx="14630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 i="0">
                <a:solidFill>
                  <a:srgbClr val="6B7B8C"/>
                </a:solidFill>
                <a:latin typeface="Arial"/>
              </a:rPr>
              <a:t>9,479  ·  76% of AR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063240" y="4416552"/>
            <a:ext cx="201168" cy="201168"/>
          </a:xfrm>
          <a:prstGeom prst="rect">
            <a:avLst/>
          </a:prstGeom>
          <a:solidFill>
            <a:srgbClr val="7A87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37560" y="4343400"/>
            <a:ext cx="14630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B2F4B"/>
                </a:solidFill>
                <a:latin typeface="Arial"/>
              </a:rPr>
              <a:t>Unpaid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37560" y="4617720"/>
            <a:ext cx="14630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 i="0">
                <a:solidFill>
                  <a:srgbClr val="6B7B8C"/>
                </a:solidFill>
                <a:latin typeface="Arial"/>
              </a:rPr>
              <a:t>2,370  ·  19% of AR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063240" y="5193792"/>
            <a:ext cx="201168" cy="201168"/>
          </a:xfrm>
          <a:prstGeom prst="rect">
            <a:avLst/>
          </a:prstGeom>
          <a:solidFill>
            <a:srgbClr val="C9D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337560" y="5120640"/>
            <a:ext cx="14630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B2F4B"/>
                </a:solidFill>
                <a:latin typeface="Arial"/>
              </a:rPr>
              <a:t>Advance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337560" y="5394959"/>
            <a:ext cx="14630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 i="0">
                <a:solidFill>
                  <a:srgbClr val="6B7B8C"/>
                </a:solidFill>
                <a:latin typeface="Arial"/>
              </a:rPr>
              <a:t>548  ·  4% of AR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846320" y="2514600"/>
            <a:ext cx="704088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846320" y="2514600"/>
            <a:ext cx="73152" cy="10058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74920" y="2560320"/>
            <a:ext cx="2011680" cy="8229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3600" b="1" i="0">
                <a:solidFill>
                  <a:srgbClr val="2E6DA4"/>
                </a:solidFill>
                <a:latin typeface="Arial"/>
              </a:rPr>
              <a:t>98%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40880" y="2606040"/>
            <a:ext cx="4754880" cy="8686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500" b="1" i="0">
                <a:solidFill>
                  <a:srgbClr val="1B2F4B"/>
                </a:solidFill>
                <a:latin typeface="Arial"/>
              </a:rPr>
              <a:t>of AR is OCP-related</a:t>
            </a:r>
          </a:p>
          <a:p>
            <a:pPr algn="l"/>
            <a:r>
              <a:rPr sz="1100" b="0" i="0">
                <a:solidFill>
                  <a:srgbClr val="6B7B8C"/>
                </a:solidFill>
                <a:latin typeface="Arial"/>
              </a:rPr>
              <a:t>OCP 12,145  ·  Non-OCP 252 (2.0%)</a:t>
            </a:r>
          </a:p>
          <a:p>
            <a:pPr algn="l"/>
            <a:r>
              <a:rPr sz="1000" b="0" i="0">
                <a:solidFill>
                  <a:srgbClr val="6B7B8C"/>
                </a:solidFill>
                <a:latin typeface="Arial"/>
              </a:rPr>
              <a:t>Receivables remain almost entirely concentrated with OCP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937760" y="3657600"/>
            <a:ext cx="6400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B2F4B"/>
                </a:solidFill>
                <a:latin typeface="Arial"/>
              </a:rPr>
              <a:t>Labor vs non-labor split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937760" y="3950208"/>
            <a:ext cx="6400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B8C"/>
                </a:solidFill>
                <a:latin typeface="Arial"/>
              </a:rPr>
              <a:t>65% of the book is non-labor (procurement scope)</a:t>
            </a:r>
          </a:p>
        </p:txBody>
      </p:sp>
      <p:graphicFrame>
        <p:nvGraphicFramePr>
          <p:cNvPr id="61" name="Chart 60"/>
          <p:cNvGraphicFramePr>
            <a:graphicFrameLocks noGrp="1"/>
          </p:cNvGraphicFramePr>
          <p:nvPr/>
        </p:nvGraphicFramePr>
        <p:xfrm>
          <a:off x="4846320" y="4160520"/>
          <a:ext cx="7040880" cy="2331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AR Movement – week on week and vs baseline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This week 20-Oct vs last week 14-Oct and vs the month-start baseline (07-Oct AR position)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1188720"/>
          <a:ext cx="6949437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872387"/>
                <a:gridCol w="792164"/>
                <a:gridCol w="792164"/>
                <a:gridCol w="792164"/>
                <a:gridCol w="648134"/>
                <a:gridCol w="648134"/>
                <a:gridCol w="720149"/>
                <a:gridCol w="684141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Component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Month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Last week
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This week
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Δ%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vs
month start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Δ% vs
month start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548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548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+0.1%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+0.1%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9,684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9,514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9,479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−35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−0.4%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−205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−2.1%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2,622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2,627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2,370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−258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−9.8%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−252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−9.6%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12,853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12,689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12,397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−292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−2.3%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−456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−3.5%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Unrecognized revenue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7,794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7,128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−666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−8.5%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Gross exposure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20,483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19,525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−958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−4.7%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65760" y="3429000"/>
            <a:ext cx="69494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What moved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703320"/>
            <a:ext cx="6949440" cy="18288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B2F4B"/>
                </a:solidFill>
                <a:latin typeface="Arial"/>
              </a:rPr>
              <a:t>Unbilled −35 WoW: </a:t>
            </a:r>
            <a:r>
              <a:rPr sz="950" b="0" i="0">
                <a:solidFill>
                  <a:srgbClr val="1F2A37"/>
                </a:solidFill>
                <a:latin typeface="Arial"/>
              </a:rPr>
              <a:t>decreases AM −20, Fert. &amp; Chem. −14, Energy Ops −1, JESA Tech −1</a:t>
            </a:r>
            <a:r>
              <a:rPr sz="950" b="0" i="0">
                <a:solidFill>
                  <a:srgbClr val="1F2A37"/>
                </a:solidFill>
                <a:latin typeface="Arial"/>
              </a:rPr>
              <a:t>; increases B&amp;I +1</a:t>
            </a:r>
          </a:p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B2F4B"/>
                </a:solidFill>
                <a:latin typeface="Arial"/>
              </a:rPr>
              <a:t>Unpaid −257 WoW: </a:t>
            </a:r>
            <a:r>
              <a:rPr sz="950" b="0" i="0">
                <a:solidFill>
                  <a:srgbClr val="1F2A37"/>
                </a:solidFill>
                <a:latin typeface="Arial"/>
              </a:rPr>
              <a:t>decreases Water &amp; Env. −183, AM −62, Fert. &amp; Chem. −9, JESA Tech −4</a:t>
            </a:r>
            <a:r>
              <a:rPr sz="950" b="0" i="0">
                <a:solidFill>
                  <a:srgbClr val="1F2A37"/>
                </a:solidFill>
                <a:latin typeface="Arial"/>
              </a:rPr>
              <a:t>; increases Energy Ops +3, B&amp;I +1</a:t>
            </a:r>
          </a:p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B2F4B"/>
                </a:solidFill>
                <a:latin typeface="Arial"/>
              </a:rPr>
              <a:t>Total AR −292 WoW: </a:t>
            </a:r>
            <a:r>
              <a:rPr sz="950" b="0" i="0">
                <a:solidFill>
                  <a:srgbClr val="1F2A37"/>
                </a:solidFill>
                <a:latin typeface="Arial"/>
              </a:rPr>
              <a:t>decreases Water &amp; Env. −179, AM −83, Fert. &amp; Chem. −23, JESA Tech −8</a:t>
            </a:r>
            <a:r>
              <a:rPr sz="950" b="0" i="0">
                <a:solidFill>
                  <a:srgbClr val="1F2A37"/>
                </a:solidFill>
                <a:latin typeface="Arial"/>
              </a:rPr>
              <a:t>; increases B&amp;I +3, Energy Ops +2</a:t>
            </a:r>
          </a:p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B2F4B"/>
                </a:solidFill>
                <a:latin typeface="Arial"/>
              </a:rPr>
              <a:t>Unbilled −205 vs month start: </a:t>
            </a:r>
            <a:r>
              <a:rPr sz="950" b="0" i="0">
                <a:solidFill>
                  <a:srgbClr val="1F2A37"/>
                </a:solidFill>
                <a:latin typeface="Arial"/>
              </a:rPr>
              <a:t>decreases SP2M −92, AM −54, Water &amp; Env. −28, Fert. &amp; Chem. −24</a:t>
            </a:r>
            <a:r>
              <a:rPr sz="950" b="0" i="0">
                <a:solidFill>
                  <a:srgbClr val="1F2A37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B2F4B"/>
                </a:solidFill>
                <a:latin typeface="Arial"/>
              </a:rPr>
              <a:t>Unpaid −252 vs month start: </a:t>
            </a:r>
            <a:r>
              <a:rPr sz="950" b="0" i="0">
                <a:solidFill>
                  <a:srgbClr val="1F2A37"/>
                </a:solidFill>
                <a:latin typeface="Arial"/>
              </a:rPr>
              <a:t>decreases Water &amp; Env. −183, AM −73, Global Mining −6, JESA Tech −4</a:t>
            </a:r>
            <a:r>
              <a:rPr sz="950" b="0" i="0">
                <a:solidFill>
                  <a:srgbClr val="1F2A37"/>
                </a:solidFill>
                <a:latin typeface="Arial"/>
              </a:rPr>
              <a:t>; increases Fert. &amp; Chem. +9, B&amp;I +2, Advisory +1</a:t>
            </a:r>
          </a:p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B2F4B"/>
                </a:solidFill>
                <a:latin typeface="Arial"/>
              </a:rPr>
              <a:t>Total AR −456 vs month start: </a:t>
            </a:r>
            <a:r>
              <a:rPr sz="950" b="0" i="0">
                <a:solidFill>
                  <a:srgbClr val="1F2A37"/>
                </a:solidFill>
                <a:latin typeface="Arial"/>
              </a:rPr>
              <a:t>decreases Water &amp; Env. −206, AM −127, SP2M −92, Fert. &amp; Chem. −15</a:t>
            </a:r>
            <a:r>
              <a:rPr sz="950" b="0" i="0">
                <a:solidFill>
                  <a:srgbClr val="1F2A37"/>
                </a:solidFill>
                <a:latin typeface="Arial"/>
              </a:rPr>
              <a:t>; increases B&amp;I +2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1143000"/>
            <a:ext cx="42976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AR aging by year of origin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589520" y="1463040"/>
          <a:ext cx="4297678" cy="184708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37371"/>
                <a:gridCol w="666881"/>
                <a:gridCol w="666881"/>
                <a:gridCol w="666881"/>
                <a:gridCol w="592783"/>
                <a:gridCol w="666881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Year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vs
m. start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2022 &amp; before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2023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2024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2025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4,212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4,204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4,014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−191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−198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8,277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8,121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8,019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−102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−258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12,853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12,689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12,397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−292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−456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7498079" y="3429000"/>
          <a:ext cx="4480560" cy="3017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AR Position by Business Unit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by BU: this week vs last week and vs the month-start baseline (07-Oct) (MMAD)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5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43000"/>
          <a:ext cx="11567153" cy="312267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530285"/>
                <a:gridCol w="900168"/>
                <a:gridCol w="900168"/>
                <a:gridCol w="900168"/>
                <a:gridCol w="765142"/>
                <a:gridCol w="855159"/>
                <a:gridCol w="855159"/>
                <a:gridCol w="765142"/>
                <a:gridCol w="810151"/>
                <a:gridCol w="765142"/>
                <a:gridCol w="765142"/>
                <a:gridCol w="855159"/>
                <a:gridCol w="900168"/>
              </a:tblGrid>
              <a:tr h="45720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Business Unit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Month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Last week
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This week
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Δ vs
month start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Unrecog.
revenue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Gross
exposure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3,531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3,504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3,325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−179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−206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2,583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−183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410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1,511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4,836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3,234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3,242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3,219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−23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2,556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636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1,382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4,601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3,328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3,236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3,236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−92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2,720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3,271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6,507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1,020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976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893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−83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−127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632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−62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1,026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498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365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362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862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557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551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551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712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487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486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489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359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B&amp;C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Total JESA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12,853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12,689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12,397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−292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−456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9,479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−35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2,370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−258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548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7,128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19,525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274320" y="4448556"/>
          <a:ext cx="5760720" cy="1997963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6172200" y="4448556"/>
          <a:ext cx="5760720" cy="1997963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Unbilled &amp; Unpaid – status 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Where the receivable book sits in the process, with week-on-week movement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14300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Unbilled by ownership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463040"/>
          <a:ext cx="5669275" cy="16824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49289"/>
                <a:gridCol w="724644"/>
                <a:gridCol w="724644"/>
                <a:gridCol w="724644"/>
                <a:gridCol w="596766"/>
                <a:gridCol w="682018"/>
                <a:gridCol w="76727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Category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% AR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vs
m. start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Under OCP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7,154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7,099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7,109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+10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SS postponed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1,389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1,389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1,431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+42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+42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Under JESA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928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814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−208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At risk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Unbilled total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9,684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9,514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9,479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−35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−205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65760" y="342900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749039"/>
          <a:ext cx="5669280" cy="24963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40080"/>
                <a:gridCol w="2926080"/>
                <a:gridCol w="731520"/>
                <a:gridCol w="73152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Owner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OCP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3,924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3,796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−128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OCP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1,628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1,701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+72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OCP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J-3.c Service sheets postponed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1,389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1,431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OCP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1,177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1,178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JESA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J-3.a Signed by client, pending JESA SS sub…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266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At Risk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C-1.b At risk (budget overrun)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JESA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+194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OCP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C-5.b Not signed by client PM, pending OCP 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+63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OCP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C-1.d Pending PO correction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355080" y="114300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Unpaid by OCP processing status (MMAD)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355080" y="1463040"/>
          <a:ext cx="5532117" cy="223113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58078"/>
                <a:gridCol w="686154"/>
                <a:gridCol w="686154"/>
                <a:gridCol w="686154"/>
                <a:gridCol w="643269"/>
                <a:gridCol w="643269"/>
                <a:gridCol w="729039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% unpaid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vs
m. start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Rejected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829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784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610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−174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−219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Treasury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471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457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19%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+27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OCP subs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353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356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Ordonnancement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261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−28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Missing reception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−17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−55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566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581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555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−27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−11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Unpaid total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2,622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2,627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2,370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−257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−252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6309360" y="3703320"/>
          <a:ext cx="5623560" cy="27889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Unrecognized Revenue &amp; Suppliers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Unrecognized revenue of 7,128 MMAD incl. markup (−666 vs the previous BU update): executed scope not yet booked as 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88720"/>
            <a:ext cx="5486400" cy="1051560"/>
          </a:xfrm>
          <a:prstGeom prst="roundRect">
            <a:avLst>
              <a:gd name="adj" fmla="val 12000"/>
            </a:avLst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252728"/>
            <a:ext cx="530352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UNRECOGNIZED REVENUE (INCL. JESA COST + FEE)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463040"/>
            <a:ext cx="5303520" cy="441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7,128 MMAD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65960"/>
            <a:ext cx="530352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Supplier scope 7,100 + lines to be adjusted 28  ·  previous BU update 7,794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188720"/>
            <a:ext cx="5715000" cy="1051560"/>
          </a:xfrm>
          <a:prstGeom prst="roundRect">
            <a:avLst>
              <a:gd name="adj" fmla="val 12000"/>
            </a:avLst>
          </a:prstGeom>
          <a:solidFill>
            <a:srgbClr val="1B2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3640" y="1252728"/>
            <a:ext cx="553212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SUPPLIER PO 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1463040"/>
            <a:ext cx="5532120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21,831 MMAD contract value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1965960"/>
            <a:ext cx="553212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Recognized (SAP GR) 10,694  ·  unrecognized 4,485  ·  remaining to execute 6,653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233172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1B2F4B"/>
                </a:solidFill>
                <a:latin typeface="Arial"/>
              </a:rPr>
              <a:t>By business unit – previous BU update vs current (MMAD)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274320" y="2606040"/>
          <a:ext cx="5669280" cy="3886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172200" y="233172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1B2F4B"/>
                </a:solidFill>
                <a:latin typeface="Arial"/>
              </a:rPr>
              <a:t>Unrecognized suppliers by status (MMAD)</a:t>
            </a:r>
          </a:p>
        </p:txBody>
      </p:sp>
      <p:graphicFrame>
        <p:nvGraphicFramePr>
          <p:cNvPr id="20" name="Chart 19"/>
          <p:cNvGraphicFramePr>
            <a:graphicFrameLocks noGrp="1"/>
          </p:cNvGraphicFramePr>
          <p:nvPr/>
        </p:nvGraphicFramePr>
        <p:xfrm>
          <a:off x="6080760" y="2606040"/>
          <a:ext cx="5852160" cy="2148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6172200" y="480060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B2F4B"/>
                </a:solidFill>
                <a:latin typeface="Arial"/>
              </a:rPr>
              <a:t>Supplier PO book by business unit (MMAD)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6172200" y="4983480"/>
          <a:ext cx="5715000" cy="153619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645920"/>
                <a:gridCol w="1097280"/>
                <a:gridCol w="1005840"/>
                <a:gridCol w="1005840"/>
                <a:gridCol w="960120"/>
              </a:tblGrid>
              <a:tr h="219456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Contract value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Recognized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Remaining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10,177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3,739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2,036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4,401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5,717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4,266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617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834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3,056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1,443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982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1,173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432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400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789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286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578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337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Other BUs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−18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1F2A37"/>
                          </a:solidFill>
                          <a:latin typeface="Arial"/>
                        </a:rPr>
                        <a:t>Total (all BUs)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>
                          <a:solidFill>
                            <a:srgbClr val="1F2A37"/>
                          </a:solidFill>
                          <a:latin typeface="Arial"/>
                        </a:rPr>
                        <a:t>21,831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>
                          <a:solidFill>
                            <a:srgbClr val="1F2A37"/>
                          </a:solidFill>
                          <a:latin typeface="Arial"/>
                        </a:rPr>
                        <a:t>10,694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>
                          <a:solidFill>
                            <a:srgbClr val="1F2A37"/>
                          </a:solidFill>
                          <a:latin typeface="Arial"/>
                        </a:rPr>
                        <a:t>4,485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>
                          <a:solidFill>
                            <a:srgbClr val="1F2A37"/>
                          </a:solidFill>
                          <a:latin typeface="Arial"/>
                        </a:rPr>
                        <a:t>6,653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Water &amp; Environment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3,325 MMAD (−179 WoW, −206 vs month start); unbilled 78%, unpaid 10%, advance 12% of 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4,836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−404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1,511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−225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3,325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−179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−206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2,583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−28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332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−183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−183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410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4" name="Chart 43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5" name="Rectangle 44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1,515 · 59%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−45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3A9C8C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SS postponed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880 · 34%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+56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377440" y="3666744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578608" y="359359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578608" y="379476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172 · 7%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−19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377440" y="4169663"/>
            <a:ext cx="146304" cy="146304"/>
          </a:xfrm>
          <a:prstGeom prst="rect">
            <a:avLst/>
          </a:prstGeom>
          <a:solidFill>
            <a:srgbClr val="B5473A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578608" y="409651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At risk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78608" y="429768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16 · 1%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8" name="Table 57"/>
          <p:cNvGraphicFramePr>
            <a:graphicFrameLocks noGrp="1"/>
          </p:cNvGraphicFramePr>
          <p:nvPr/>
        </p:nvGraphicFramePr>
        <p:xfrm>
          <a:off x="4572000" y="2560320"/>
          <a:ext cx="3840479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59813"/>
                <a:gridCol w="508979"/>
                <a:gridCol w="416437"/>
                <a:gridCol w="55525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J-3.c Service sheets postponed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880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+57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appr…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723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458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−67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J-1.e Under JESA PC review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−19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C-6.a Pending SS OCP rejection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C-1.d Pending PO correction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59" name="TextBox 58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60" name="Chart 59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1" name="Rectangle 60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275 · 83%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Rejected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24 · 7%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0332720" y="3611879"/>
            <a:ext cx="146304" cy="146304"/>
          </a:xfrm>
          <a:prstGeom prst="rect">
            <a:avLst/>
          </a:prstGeom>
          <a:solidFill>
            <a:srgbClr val="7A8794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515600" y="35387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515600" y="37398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32 · 10%</a:t>
            </a:r>
          </a:p>
        </p:txBody>
      </p:sp>
      <p:graphicFrame>
        <p:nvGraphicFramePr>
          <p:cNvPr id="70" name="Chart 69"/>
          <p:cNvGraphicFramePr>
            <a:graphicFrameLocks noGrp="1"/>
          </p:cNvGraphicFramePr>
          <p:nvPr/>
        </p:nvGraphicFramePr>
        <p:xfrm>
          <a:off x="8503920" y="4251960"/>
          <a:ext cx="3520440" cy="22402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71" name="TextBox 70"/>
          <p:cNvSpPr txBox="1"/>
          <p:nvPr/>
        </p:nvSpPr>
        <p:spPr>
          <a:xfrm>
            <a:off x="365760" y="470916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72" name="Table 71"/>
          <p:cNvGraphicFramePr>
            <a:graphicFrameLocks noGrp="1"/>
          </p:cNvGraphicFramePr>
          <p:nvPr/>
        </p:nvGraphicFramePr>
        <p:xfrm>
          <a:off x="365760" y="498348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405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410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2,611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2,583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2,583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−28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−183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−183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3,531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3,504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3,325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−179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−206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1,736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1,511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−225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3" name="Chart 72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Water &amp; Env.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Water &amp; Environment: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unb.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QC.01872.P03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SWRO Desalination Plant Wave II S…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307.3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QC.01855.P71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SWRO W2E - Decanteurs Lamellaires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144.9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QC.00947.P08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FBS General contractor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J-3.c Service sheets postponed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104.6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QC.01872.S02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Desalination Wave II Safi EPCM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81.3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QC.01654.P05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Desal Water Pipe S2GM_Pipes Safi 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J-3.c Service sheets postponed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80.8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QC.01432.S05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Water Emergency Program SAFI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80.5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QC.01654.P06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Desal Water Pipe S2G_Pumps Packg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65.1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QC.01872.P47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Reliability SAFI - 2 x 10MLD Trai…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J-1.e Under JESA PC review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56.6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unp.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QC.02145.P04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SWRO Desalination plant wave II e…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36.0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QC.01872.P41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SWRO WaveII Safi mechanical Packa…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29.7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QC.00947.P08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FBS General contractor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19.1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QC.01432.P25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Water Emergency Program - Pckg IS…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18.0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QC.01754.P05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Wave 2 Desalination Plant Jorf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18.0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QC.01872.P26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SWRO Desalination Plant Wave II S…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16.4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QC.00387.S07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TM - Jorf Gypsum Stacking EPCM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QC.01654.P04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Desal Water Pipe S2GM_Pipes MPH t…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8404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Unrecognized suppliers – 1,511 MMAD (−225 vs prev. update)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274320" y="4114800"/>
          <a:ext cx="566928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172200" y="384048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JESA attachments to client – status (384 MMAD)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080760" y="4114800"/>
          <a:ext cx="585216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Fertilizers &amp; Chemicals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3,219 MMAD (−23 WoW, −15 vs month start); unbilled 79%, unpaid 20%, advance 1% of 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4,601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−180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1,382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−157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3,219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2,556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636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+9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4" name="Chart 43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5" name="Rectangle 44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1,758 · 69%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+51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3A9C8C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SS postponed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514 · 20%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−17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377440" y="3666744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578608" y="359359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578608" y="379476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219 · 9%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−48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377440" y="4169663"/>
            <a:ext cx="146304" cy="146304"/>
          </a:xfrm>
          <a:prstGeom prst="rect">
            <a:avLst/>
          </a:prstGeom>
          <a:solidFill>
            <a:srgbClr val="B5473A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578608" y="409651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At risk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78608" y="429768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65 · 3%</a:t>
            </a:r>
            <a:r>
              <a:rPr sz="850" b="1" i="0">
                <a:solidFill>
                  <a:srgbClr val="7A8794"/>
                </a:solidFill>
                <a:latin typeface="Arial"/>
              </a:rPr>
              <a:t>   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8" name="Table 57"/>
          <p:cNvGraphicFramePr>
            <a:graphicFrameLocks noGrp="1"/>
          </p:cNvGraphicFramePr>
          <p:nvPr/>
        </p:nvGraphicFramePr>
        <p:xfrm>
          <a:off x="4572000" y="2560320"/>
          <a:ext cx="3840479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59813"/>
                <a:gridCol w="508979"/>
                <a:gridCol w="416437"/>
                <a:gridCol w="55525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appr…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637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595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J-3.c Service sheets postponed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514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−17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+44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C-1.b At risk (budget overrun)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C-6.a Pending SS OCP rejection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59" name="TextBox 58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60" name="Chart 59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1" name="Rectangle 60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399 · 63%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Rejected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184 · 29%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0332720" y="3611879"/>
            <a:ext cx="146304" cy="146304"/>
          </a:xfrm>
          <a:prstGeom prst="rect">
            <a:avLst/>
          </a:prstGeom>
          <a:solidFill>
            <a:srgbClr val="7A8794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515600" y="35387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515600" y="37398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53 · 8%</a:t>
            </a:r>
          </a:p>
        </p:txBody>
      </p:sp>
      <p:graphicFrame>
        <p:nvGraphicFramePr>
          <p:cNvPr id="70" name="Chart 69"/>
          <p:cNvGraphicFramePr>
            <a:graphicFrameLocks noGrp="1"/>
          </p:cNvGraphicFramePr>
          <p:nvPr/>
        </p:nvGraphicFramePr>
        <p:xfrm>
          <a:off x="8503920" y="4251960"/>
          <a:ext cx="3520440" cy="22402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71" name="TextBox 70"/>
          <p:cNvSpPr txBox="1"/>
          <p:nvPr/>
        </p:nvSpPr>
        <p:spPr>
          <a:xfrm>
            <a:off x="365760" y="470916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72" name="Table 71"/>
          <p:cNvGraphicFramePr>
            <a:graphicFrameLocks noGrp="1"/>
          </p:cNvGraphicFramePr>
          <p:nvPr/>
        </p:nvGraphicFramePr>
        <p:xfrm>
          <a:off x="365760" y="498348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2,580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2,570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2,556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−24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3,234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3,242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3,219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−23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−15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1,539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1,382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−157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3" name="Chart 72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Fert. &amp; Chem.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Fertilizers &amp; Chemicals: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unb.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QC.01466.P01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Jorf Fertilizer-North Axe, New TS…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J-3.c Service sheets postponed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262.8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QC.01746.P01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TSP Hub Handling and Storage C+F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J-4.a Ongoing invoicing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108.0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QC.01458.P51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TSP Adaptation JORF (JFC1)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91.8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QC.01458.P52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TSP Adaptation JORF (JFC4)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85.2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QC.01458.P53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TSP Adaptation JORF (JFC2)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80.4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QC.01466.S05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New TSP Hub (2 units)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74.3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QC.01683.S06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PPA DESIGN STUDIES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65.6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QC.01466.P54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New TSP Hub (2 units)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58.4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unp.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QC.00029.S06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AHF Project ISBL &amp; OSBL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91.7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QC.01458.P52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TSP Adaptation JORF (JFC4)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88.0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QC.01747.P16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TSP Hub OSBL and Piperack cost pl…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59.8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QC.01458.P53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TSP Adaptation JORF (JFC2)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50.6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QC.00186.S02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DAP 107 D,E,F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25.3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QC.01458.S06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TSP Adaptation Jorf(Define/Design…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19.0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QC.01683.P02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Global Cost + Fee for PAT//PPA/MA…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18.1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QC.01873.S05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New CAP Lines (2 Units) JLS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16.2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8404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Unrecognized suppliers – 1,382 MMAD (−157 vs prev. update)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274320" y="4114800"/>
          <a:ext cx="566928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172200" y="384048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JESA attachments to client – status (389 MMAD)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080760" y="4114800"/>
          <a:ext cx="585216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SP2M Ad Hoc Program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3,236 MMAD (0 WoW, −92 vs month start); unbilled 84%, unpaid 14%, advance 2% of 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6,507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−196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3,271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−196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3,236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−92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2,720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−92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445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70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4" name="Chart 43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5" name="Rectangle 44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2,396 · 88%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3A9C8C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SS postponed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 · 0%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377440" y="3666744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578608" y="359359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578608" y="379476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303 · 11%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377440" y="4169663"/>
            <a:ext cx="146304" cy="146304"/>
          </a:xfrm>
          <a:prstGeom prst="rect">
            <a:avLst/>
          </a:prstGeom>
          <a:solidFill>
            <a:srgbClr val="B5473A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578608" y="409651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At risk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78608" y="429768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21 · 1%</a:t>
            </a:r>
            <a:r>
              <a:rPr sz="850" b="1" i="0">
                <a:solidFill>
                  <a:srgbClr val="7A8794"/>
                </a:solidFill>
                <a:latin typeface="Arial"/>
              </a:rPr>
              <a:t>   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8" name="Table 57"/>
          <p:cNvGraphicFramePr>
            <a:graphicFrameLocks noGrp="1"/>
          </p:cNvGraphicFramePr>
          <p:nvPr/>
        </p:nvGraphicFramePr>
        <p:xfrm>
          <a:off x="4572000" y="2560320"/>
          <a:ext cx="3840479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59813"/>
                <a:gridCol w="508979"/>
                <a:gridCol w="416437"/>
                <a:gridCol w="55525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appr…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1,576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−96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635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+67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J-3.a Signed by client, pending JESA SS submis…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−60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C-1.d Pending PO correction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J-2.a Pending JESA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C-6.a Pending SS OCP rejection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C-5.b Not signed by client PM, pending OCP SS 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59" name="TextBox 58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60" name="Chart 59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1" name="Rectangle 60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56 · 13%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Rejected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388 · 87%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0332720" y="3611879"/>
            <a:ext cx="146304" cy="146304"/>
          </a:xfrm>
          <a:prstGeom prst="rect">
            <a:avLst/>
          </a:prstGeom>
          <a:solidFill>
            <a:srgbClr val="7A8794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515600" y="35387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515600" y="37398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2 · 0%</a:t>
            </a:r>
          </a:p>
        </p:txBody>
      </p:sp>
      <p:graphicFrame>
        <p:nvGraphicFramePr>
          <p:cNvPr id="70" name="Chart 69"/>
          <p:cNvGraphicFramePr>
            <a:graphicFrameLocks noGrp="1"/>
          </p:cNvGraphicFramePr>
          <p:nvPr/>
        </p:nvGraphicFramePr>
        <p:xfrm>
          <a:off x="8503920" y="4251960"/>
          <a:ext cx="3520440" cy="1938528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71" name="TextBox 70"/>
          <p:cNvSpPr txBox="1"/>
          <p:nvPr/>
        </p:nvSpPr>
        <p:spPr>
          <a:xfrm>
            <a:off x="365760" y="470916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72" name="Table 71"/>
          <p:cNvGraphicFramePr>
            <a:graphicFrameLocks noGrp="1"/>
          </p:cNvGraphicFramePr>
          <p:nvPr/>
        </p:nvGraphicFramePr>
        <p:xfrm>
          <a:off x="365760" y="498348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2,812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2,720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2,720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−92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3,328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3,236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3,236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−92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3,467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3,271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−196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3" name="Chart 72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SP2M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SP2M Ad Hoc Program: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unb.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QC.01546.P03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MPH OSBL- Civil Works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177.1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QC.01717.S02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Safi Existing Site and ES-SPH Cor…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123.6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QC.01546.P29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MPH OSBL - Overseas Fabrication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123.0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QC.01725.P03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SP2M - Louta Mine TSM package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118.3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QC.01547.P07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Central Axis-PAP-Civil Works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109.5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QC.01547.S02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SP2M PAP_Construction &amp; Commssion…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99.2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QC.01547.P35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SP2M_PAP_Cooling Tower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J-3.a Signed by client, pending JE…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78.2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QC.01627.S03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SPH PSA Platforms - Phases 5&amp;6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76.7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unp.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QC.01721.P03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SP2M - EPC package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201.5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QC.01514.P01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Central axis - GRANULATION (TSP) 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79.7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QC.01546.P01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Central axis - piperack &amp; Infrast…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45.3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QC.01724.P06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SP2M - BME TSM Package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34.8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QC.01547.P42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PAP -SP2M -P1 Vacuum Pump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29.9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QC.01544.P01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Central axis - Benguerir extentio…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15.4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QC.01725.P06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Louta Mine  Storage &amp; Handling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QC.01627.P88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SP2M - SPH PSA Platforming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8404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Unrecognized suppliers – 3,271 MMAD (−196 vs prev. update)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274320" y="4114800"/>
          <a:ext cx="566928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172200" y="384048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JESA attachments to client – status (222 MMAD)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080760" y="4114800"/>
          <a:ext cx="585216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893 MMAD (−83 WoW, −127 vs month start); unbilled 71%, unpaid 29%, advance 0% of 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1,026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132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+74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893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−83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−127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632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−54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262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−62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−73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4" name="Chart 43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5" name="Rectangle 44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699 · 111%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−8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−68 · -11%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−13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377440" y="3666744"/>
            <a:ext cx="146304" cy="146304"/>
          </a:xfrm>
          <a:prstGeom prst="rect">
            <a:avLst/>
          </a:prstGeom>
          <a:solidFill>
            <a:srgbClr val="B5473A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578608" y="359359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At risk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578608" y="379476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 · 0%</a:t>
            </a:r>
            <a:r>
              <a:rPr sz="850" b="1" i="0">
                <a:solidFill>
                  <a:srgbClr val="7A8794"/>
                </a:solidFill>
                <a:latin typeface="Arial"/>
              </a:rPr>
              <a:t>   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4572000" y="2560320"/>
          <a:ext cx="3840479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59813"/>
                <a:gridCol w="508979"/>
                <a:gridCol w="416437"/>
                <a:gridCol w="55525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appr…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423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−19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J-2.a Pending JESA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−151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-24%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PDR PDR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J-4.a Ongoing invoicing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56" name="TextBox 55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57" name="Chart 56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8" name="Rectangle 57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103 · 39%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7A8794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158 · 61%</a:t>
            </a:r>
          </a:p>
        </p:txBody>
      </p:sp>
      <p:graphicFrame>
        <p:nvGraphicFramePr>
          <p:cNvPr id="64" name="Chart 63"/>
          <p:cNvGraphicFramePr>
            <a:graphicFrameLocks noGrp="1"/>
          </p:cNvGraphicFramePr>
          <p:nvPr/>
        </p:nvGraphicFramePr>
        <p:xfrm>
          <a:off x="8503920" y="4251960"/>
          <a:ext cx="3520440" cy="22402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365760" y="470916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66" name="Table 65"/>
          <p:cNvGraphicFramePr>
            <a:graphicFrameLocks noGrp="1"/>
          </p:cNvGraphicFramePr>
          <p:nvPr/>
        </p:nvGraphicFramePr>
        <p:xfrm>
          <a:off x="365760" y="498348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686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652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632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−54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335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324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−62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1,020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976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893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−83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−127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+74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7" name="Chart 66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AM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AM: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unb.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QC.00441.P08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JFC2 Maintenance Acclerate Projec…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26.9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QC.00440.P13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Rehabilitation and shutdown activ…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24.4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QC.02045.P01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JPH Portfolio Support C+F3 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23.3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QC.02091.P07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Réhabilitation du convoyeur UA et…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21.4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QC.01520.P01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Ammonia transfer from U155 to U07…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21.4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QC.01160.P17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JLN TSP2 : SUBS CFR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16.7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QC.02065.S01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Mining 5.0 - Fixed Asset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16.4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QC.00440.P11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JFC 1 MEE Y4 C+F CAPEX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15.6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unp.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QC.02091.P06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Inflatable hangars JPH Lot I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19.2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QC.02187.P02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JPH Bloc 9 Plant CAPEX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17.1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QC.00440.P21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JFC1 Maintenance Excellence Execu…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13.9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QC.02086.P05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Alimentation Repulpage Flexible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13.0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QC.01536.P11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107 DEF - Amelioratins Et Perform…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QC.01847.P06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CAPEX for Jorf lasfar water facil…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QC.01409.P02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Rénovation Bâtiment Travaux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QC.01847.P04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Jorf Lasfar Water Facilities MEE 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8404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Unrecognized suppliers – 132 MMAD (+73 vs prev. update)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274320" y="4114800"/>
          <a:ext cx="566928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172200" y="384048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JESA attachments to client – status (125 MMAD)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080760" y="4114800"/>
          <a:ext cx="585216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Energy Operations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500 MMAD (+2 WoW, 0 vs month start); unbilled 73%, unpaid 19%, advance 8% of 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862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+250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362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+248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500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365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94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+1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4" name="Chart 43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5" name="Rectangle 44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321 · 88%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3A9C8C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SS postponed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37 · 10%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377440" y="3666744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578608" y="359359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578608" y="379476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8 · 2%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4572000" y="2560320"/>
          <a:ext cx="3840479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59813"/>
                <a:gridCol w="508979"/>
                <a:gridCol w="416437"/>
                <a:gridCol w="55525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appr…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278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J-3.c Service sheets postponed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C-5.b Not signed by client PM, pending OCP SS 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J-4.a Ongoing invoicing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56" name="TextBox 55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57" name="Chart 56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8" name="Rectangle 57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84 · 90%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7A8794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10 · 10%</a:t>
            </a:r>
          </a:p>
        </p:txBody>
      </p:sp>
      <p:graphicFrame>
        <p:nvGraphicFramePr>
          <p:cNvPr id="64" name="Chart 63"/>
          <p:cNvGraphicFramePr>
            <a:graphicFrameLocks noGrp="1"/>
          </p:cNvGraphicFramePr>
          <p:nvPr/>
        </p:nvGraphicFramePr>
        <p:xfrm>
          <a:off x="8503920" y="4251960"/>
          <a:ext cx="3520440" cy="22402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365760" y="470916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66" name="Table 65"/>
          <p:cNvGraphicFramePr>
            <a:graphicFrameLocks noGrp="1"/>
          </p:cNvGraphicFramePr>
          <p:nvPr/>
        </p:nvGraphicFramePr>
        <p:xfrm>
          <a:off x="365760" y="498348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366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366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365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498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362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+248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7" name="Chart 66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Energy Ops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Energy Operations: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unb.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QC.01877.P03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Construction of a 60/10 kV substa…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76.5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QC.01694.P02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MPH Electrical project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65.3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QC.01523.S03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SPH platform Electrical 400/60KV 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25.9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QC.01877.S02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PSCA Construction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J-3.c Service sheets postponed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25.0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QC.01727.S01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MPH- Power Plant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22.9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QC.01694.S01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MPH Electrical project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19.8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QC.00464.S04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Jorf Power Plant U220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15.3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QC.01627.S02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SPH HV/MV Substations (PSA/SPH PL…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unp.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QC.01788.S02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JH2P - Green Ammonia Plant 100KT/Y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29.0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QC.01877.P05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PSCA PIPELINE SUBSTATIONS 60/10 KV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15.4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16%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QC.01877.P06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PSCA Transmission LINE 60KV BOUGU…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QC.00385.S05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GAPP PMC ROLE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QC.01757.S03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Mines Solar PV Phase 2 constructi…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QC.00929.S01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MCA SENEGAL II POWER PMC ROLE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QC.00385.S06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Green Ammonia Pilot Plant 4T/D - 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QC.00926.P03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JPH Electrical Projects Phase 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8404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Unrecognized suppliers – 362 MMAD (+248 vs prev. update)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274320" y="4114800"/>
          <a:ext cx="566928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172200" y="384048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JESA attachments to client – status (362 MMAD)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080760" y="4114800"/>
          <a:ext cx="585216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Global Mining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551 MMAD (0 WoW, −6 vs month start); unbilled 76%, unpaid 24%, advance 0% of 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712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−187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160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−187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551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−6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130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−6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4" name="Chart 43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5" name="Rectangle 44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273 · 65%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32 · 8%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377440" y="3666744"/>
            <a:ext cx="146304" cy="146304"/>
          </a:xfrm>
          <a:prstGeom prst="rect">
            <a:avLst/>
          </a:prstGeom>
          <a:solidFill>
            <a:srgbClr val="B5473A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578608" y="359359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At risk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578608" y="379476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116 · 27%</a:t>
            </a:r>
            <a:r>
              <a:rPr sz="850" b="1" i="0">
                <a:solidFill>
                  <a:srgbClr val="7A8794"/>
                </a:solidFill>
                <a:latin typeface="Arial"/>
              </a:rPr>
              <a:t>   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4572000" y="2560320"/>
          <a:ext cx="3840479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59813"/>
                <a:gridCol w="508979"/>
                <a:gridCol w="416437"/>
                <a:gridCol w="55525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C-1.b At risk (budget overrun)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appr…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−58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C-5.b Not signed by client PM, pending OCP SS 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+59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C-6.a Pending SS OCP rejection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J-1.e Under JESA PC review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−10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-2%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56" name="TextBox 55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57" name="Chart 56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8" name="Rectangle 57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106 · 81%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Rejected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7 · 5%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0332720" y="3611879"/>
            <a:ext cx="146304" cy="146304"/>
          </a:xfrm>
          <a:prstGeom prst="rect">
            <a:avLst/>
          </a:prstGeom>
          <a:solidFill>
            <a:srgbClr val="7A8794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515600" y="35387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15600" y="37398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18 · 14%</a:t>
            </a:r>
          </a:p>
        </p:txBody>
      </p:sp>
      <p:graphicFrame>
        <p:nvGraphicFramePr>
          <p:cNvPr id="67" name="Chart 66"/>
          <p:cNvGraphicFramePr>
            <a:graphicFrameLocks noGrp="1"/>
          </p:cNvGraphicFramePr>
          <p:nvPr/>
        </p:nvGraphicFramePr>
        <p:xfrm>
          <a:off x="8503920" y="4251960"/>
          <a:ext cx="3520440" cy="22402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68" name="TextBox 67"/>
          <p:cNvSpPr txBox="1"/>
          <p:nvPr/>
        </p:nvSpPr>
        <p:spPr>
          <a:xfrm>
            <a:off x="365760" y="470916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69" name="Table 68"/>
          <p:cNvGraphicFramePr>
            <a:graphicFrameLocks noGrp="1"/>
          </p:cNvGraphicFramePr>
          <p:nvPr/>
        </p:nvGraphicFramePr>
        <p:xfrm>
          <a:off x="365760" y="498348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557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551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551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−187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0" name="Chart 69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Global Mining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Global Mining: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unb.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QC.01661.S01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Ma'aden - Phase 1 of Phosphate 3 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78.4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QC.00365.P01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Fire Fighting system upgrade in O…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45.1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QC.01921.S02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Phase 2 of the Phosphate 3 Comple…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33.4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QC.00475.S05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LAAYOUNE WASH PLANT EPCM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21.4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QC.01429.P02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Fire Fighting system upgrade_GANT…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14.8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QC.01764.S02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Fire Fighting Construction Casern…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C-5.b Not signed by client PM, pen…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QC.01988.S01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Boucraa Mine Expansion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QC.01751.S04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PEZCN Washplant_Feasability &amp; Con…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unp.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QC.01921.S02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Phase 2 of the Phosphate 3 Comple…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46.6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QC.01661.S01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Ma'aden - Phase 1 of Phosphate 3 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29.1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QC.00475.P17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LAAYOUNE WASHPLANT CF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QC.01663.P01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Tailings dewatering by Centrifuga…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QC.00475.P12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LAAYOUNE WASHPLANT CF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QC.01764.P02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Construction 3 casernes Cost+Fee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QC.02036.S01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FDM Digital Plant - JESA / WORLEY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QC.02293.S02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MAADEN CAPITAL GROWTH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8404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Unrecognized suppliers – 160 MMAD (−187 vs prev. update)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274320" y="4114800"/>
          <a:ext cx="566928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172200" y="384048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JESA attachments to client – status (51 MMAD)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080760" y="4114800"/>
          <a:ext cx="585216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Building &amp; Infrastructure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489 MMAD (+3 WoW, +2 vs month start); unbilled 30%, unpaid 70%, advance 0% of 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547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58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489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+2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147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342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+2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4" name="Chart 43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5" name="Rectangle 44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110 · 75%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36 · 25%</a:t>
            </a:r>
            <a:r>
              <a:rPr sz="850" b="1" i="0">
                <a:solidFill>
                  <a:srgbClr val="7A8794"/>
                </a:solidFill>
                <a:latin typeface="Arial"/>
              </a:rPr>
              <a:t>   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2" name="Table 51"/>
          <p:cNvGraphicFramePr>
            <a:graphicFrameLocks noGrp="1"/>
          </p:cNvGraphicFramePr>
          <p:nvPr/>
        </p:nvGraphicFramePr>
        <p:xfrm>
          <a:off x="4572000" y="2560320"/>
          <a:ext cx="3840479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59813"/>
                <a:gridCol w="508979"/>
                <a:gridCol w="416437"/>
                <a:gridCol w="55525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appr…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J-1.c Pending LS milestone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C-3.a Pending DP payment / clearing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J-1.b Pending attachments JESA PA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C-2.a Waiting OCP VAT exemption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53" name="TextBox 52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54" name="Chart 53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5" name="Rectangle 54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331 · 97%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7A8794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11 · 3%</a:t>
            </a:r>
          </a:p>
        </p:txBody>
      </p:sp>
      <p:graphicFrame>
        <p:nvGraphicFramePr>
          <p:cNvPr id="61" name="Chart 60"/>
          <p:cNvGraphicFramePr>
            <a:graphicFrameLocks noGrp="1"/>
          </p:cNvGraphicFramePr>
          <p:nvPr/>
        </p:nvGraphicFramePr>
        <p:xfrm>
          <a:off x="8503920" y="4251960"/>
          <a:ext cx="3520440" cy="22402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62" name="TextBox 61"/>
          <p:cNvSpPr txBox="1"/>
          <p:nvPr/>
        </p:nvSpPr>
        <p:spPr>
          <a:xfrm>
            <a:off x="365760" y="470916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498348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340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487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486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489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B5473A"/>
                          </a:solidFill>
                          <a:latin typeface="Arial"/>
                        </a:rPr>
                        <a:t>+3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−37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4" name="Chart 63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B&amp;I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Building &amp; Infrastructure: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unb.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QC.01726.S01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PMC PORT SAFI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27.6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QC.00673.S04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PMC V01 FOR LAAYOUNE PORT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27.0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QC.00706.S03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PSI GANTOUR Benguerir Youssoufia 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QC.01782.S02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Amenagement Mine Verte_Zone Nord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QC.00708.S02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PSI KHOURIBGA REVISION 08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QC.01951.S03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PMC EXTESNION QUAI P1-TER PORT JO…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QC.01368.S01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PMC PORT CASA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QC.00705.S02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PSI Jorf REV 08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unp.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QC.01602.S01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UM6P RABAT PMC PHASE 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67.9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QC.02059.S01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PST 2 Benguerir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50.8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QC.01602.S03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Nouveaux  Bâtiments UM6P RABAT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39.4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QC.01659.S01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Green City University Campus Beng…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30.2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QC.02103.S01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Campus UM6P Laayoune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26.2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QC.01860.S02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PMC Hotel RITZ Carlton Phase II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22.6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QC.00673.S04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PMC V01 FOR LAAYOUNE PORT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14.5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QC.01813.S02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Extension CFMDV Benguerir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8404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Unrecognized suppliers – 58 MMAD (−37 vs prev. update)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274320" y="4114800"/>
          <a:ext cx="566928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172200" y="384048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JESA attachments to client – status (50 MMAD)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080760" y="4114800"/>
          <a:ext cx="585216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JESA Technologies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107 MMAD (−8 WoW, −8 vs month start); unbilled 7%, unpaid 93%, advance 0% of 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359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−194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252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−186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107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−8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99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4" name="Chart 43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5" name="Rectangle 44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5 · 67%</a:t>
            </a:r>
            <a:r>
              <a:rPr sz="850" b="1" i="0">
                <a:solidFill>
                  <a:srgbClr val="7A8794"/>
                </a:solidFill>
                <a:latin typeface="Arial"/>
              </a:rPr>
              <a:t>   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2 · 33%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2" name="Table 51"/>
          <p:cNvGraphicFramePr>
            <a:graphicFrameLocks noGrp="1"/>
          </p:cNvGraphicFramePr>
          <p:nvPr/>
        </p:nvGraphicFramePr>
        <p:xfrm>
          <a:off x="4572000" y="2560320"/>
          <a:ext cx="3840479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59813"/>
                <a:gridCol w="508979"/>
                <a:gridCol w="416437"/>
                <a:gridCol w="55525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J-2.a Pending JESA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J-1.c Pending LS milestone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J-1.f Pending LC by PC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-43%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appr…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J-1.d Under JESA finance review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-16%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-14%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53" name="TextBox 52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54" name="Chart 53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5" name="Rectangle 54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94 · 94%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Rejected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1 · 1%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332720" y="3611879"/>
            <a:ext cx="146304" cy="146304"/>
          </a:xfrm>
          <a:prstGeom prst="rect">
            <a:avLst/>
          </a:prstGeom>
          <a:solidFill>
            <a:srgbClr val="7A8794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515600" y="35387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515600" y="37398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4 · 4%</a:t>
            </a:r>
          </a:p>
        </p:txBody>
      </p:sp>
      <p:graphicFrame>
        <p:nvGraphicFramePr>
          <p:cNvPr id="64" name="Chart 63"/>
          <p:cNvGraphicFramePr>
            <a:graphicFrameLocks noGrp="1"/>
          </p:cNvGraphicFramePr>
          <p:nvPr/>
        </p:nvGraphicFramePr>
        <p:xfrm>
          <a:off x="8503920" y="4251960"/>
          <a:ext cx="3520440" cy="22402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365760" y="470916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66" name="Table 65"/>
          <p:cNvGraphicFramePr>
            <a:graphicFrameLocks noGrp="1"/>
          </p:cNvGraphicFramePr>
          <p:nvPr/>
        </p:nvGraphicFramePr>
        <p:xfrm>
          <a:off x="365760" y="498348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438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−186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7" name="Chart 66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JESA Tech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JESA Technologies: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unb.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QC.01188.S05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Bench Scale Testing for Cadmium R…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QC.01661.S03.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Ma’aden Phosphate 3 Project Phase…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J-1.f Pending LC by PC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QC.01969.S01.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OCP TSP+S Pilot Plant Testing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QC.00483.P02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Line F OSBL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QC.00923.S06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Fox River Variability Testing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J-1.c Pending LS milestone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QC.00186.P02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DAP 107 D,E,F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QC.02301.S02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Ma'aden Granulation Plant Ph3 Ph2…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J-1.c Pending LS milestone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QC.02232.S01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P2 Capacity Increase Audit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J-1.c Pending LS milestone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unp.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QC.01547.P17.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PAP - M'zinda Central Axis-C5 Rea…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33.7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QC.01547.P17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PAP - M'zinda Central Axis-C5 Rea…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29.4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QC.02301.S01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Ma'aden Granulation Plant Ph3 Ph2…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QC.01188.S06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SP2M Cd Removal TDP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QC.01756.S02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L&amp;T Proprietary Equipment &amp; Licen…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QC.01970.S02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JTFC DH PAP TDP and PP Testing - 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QC.01426.S07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Jorf North Complex 107 A/B/C Adap…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QC.01238.S07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Nutrien 2026 Core Washing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8404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Unrecognized suppliers – 252 MMAD (−186 vs prev. update)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274320" y="4114800"/>
          <a:ext cx="566928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172200" y="384048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JESA attachments to client – status (3 MMAD)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080760" y="4114800"/>
          <a:ext cx="585216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Advisory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70 MMAD (−3 WoW, −3 vs month start); unbilled 60%, unpaid 40%, advance 0% of 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70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70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+1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4" name="Chart 43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5" name="Rectangle 44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28 · 67%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+6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14 · 33%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2" name="Table 51"/>
          <p:cNvGraphicFramePr>
            <a:graphicFrameLocks noGrp="1"/>
          </p:cNvGraphicFramePr>
          <p:nvPr/>
        </p:nvGraphicFramePr>
        <p:xfrm>
          <a:off x="4572000" y="2560320"/>
          <a:ext cx="3840479" cy="152704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59813"/>
                <a:gridCol w="508979"/>
                <a:gridCol w="416437"/>
                <a:gridCol w="55525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29%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appr…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J-4.a Ongoing invoicing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C-6.a Pending SS OCP rejection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53" name="TextBox 52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54" name="Chart 53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5" name="Rectangle 54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20 · 71%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7A8794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8 · 29%</a:t>
            </a:r>
          </a:p>
        </p:txBody>
      </p:sp>
      <p:graphicFrame>
        <p:nvGraphicFramePr>
          <p:cNvPr id="61" name="Chart 60"/>
          <p:cNvGraphicFramePr>
            <a:graphicFrameLocks noGrp="1"/>
          </p:cNvGraphicFramePr>
          <p:nvPr/>
        </p:nvGraphicFramePr>
        <p:xfrm>
          <a:off x="8503920" y="4251960"/>
          <a:ext cx="3520440" cy="1938528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62" name="TextBox 61"/>
          <p:cNvSpPr txBox="1"/>
          <p:nvPr/>
        </p:nvSpPr>
        <p:spPr>
          <a:xfrm>
            <a:off x="365760" y="470916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498348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4" name="Chart 63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Advisory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Advisory: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unb.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QC.02149.S01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Performance Management and Steeri…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J-4.a Ongoing invoicing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QC.02267.S01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Support Entité Integrat Mines SBU…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QC.02254.S01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Support to Nutricrops' Strategy F…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QC.02347.S01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OCP Energy Task Force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QC.02242.S01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Support Structuration Entité Qual…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QC.02151.S01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S2PM Supply Chain and Strategic D…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QC.02225.S01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Execution strategy &amp; operating mo…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QC.02266.S01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Financing Strat of Integrated Ind…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unp.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QC.02155.S01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Support Operations Supply Chain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QC.02270.S02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SNIM TO Wave 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QC.02177.S01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Nutricrops Operations Office Tran…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QC.02253.S02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Support Nutricrops' Strat. Op - P…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QC.02250.S02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Sell-Side Advisory Assist. &amp; PMO 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QC.02243.S01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Etude Opp. Dev Ingénierie Guinée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QC.01816.S03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Suite Accompagnement Management O…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1.6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QC.02258.S01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Global Phosphate &amp; Fertilizers St…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931920"/>
            <a:ext cx="10972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6B7B8C"/>
                </a:solidFill>
                <a:latin typeface="Arial"/>
              </a:rPr>
              <a:t>No unrecognized supplier scope reported for this business unit in the UR consolidation.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Payments Received (Collections)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241 MMAD of invoices paid in October to 20-Oct (+24 vs 14-Oct); 8.08 Bn MAD year to date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143000"/>
            <a:ext cx="2240828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52728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OCTOBER TO DATE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241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901952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+24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24876" y="1143000"/>
            <a:ext cx="2240828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24876" y="1252728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6203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SEPTEMBER (FULL MONTH)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62036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737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75433" y="1143000"/>
            <a:ext cx="2240828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75433" y="1252728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12593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YTD RECEIVED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12593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8,082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12593" y="1901952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+24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25989" y="1143000"/>
            <a:ext cx="2240828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25989" y="1252728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63149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LABOR / NON-LABOR YTD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63149" y="1417320"/>
            <a:ext cx="2057948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2E6DA4"/>
                </a:solidFill>
                <a:latin typeface="Arial"/>
              </a:rPr>
              <a:t>2,117 </a:t>
            </a:r>
            <a:r>
              <a:rPr sz="900" b="0" i="0">
                <a:solidFill>
                  <a:srgbClr val="6B7B8C"/>
                </a:solidFill>
                <a:latin typeface="Arial"/>
              </a:rPr>
              <a:t>· 26% labor</a:t>
            </a:r>
          </a:p>
          <a:p>
            <a:pPr algn="l"/>
            <a:r>
              <a:rPr sz="1600" b="1" i="0">
                <a:solidFill>
                  <a:srgbClr val="E08A2E"/>
                </a:solidFill>
                <a:latin typeface="Arial"/>
              </a:rPr>
              <a:t>5,964 </a:t>
            </a:r>
            <a:r>
              <a:rPr sz="900" b="0" i="0">
                <a:solidFill>
                  <a:srgbClr val="6B7B8C"/>
                </a:solidFill>
                <a:latin typeface="Arial"/>
              </a:rPr>
              <a:t>· 74% non-labor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76546" y="1143000"/>
            <a:ext cx="2240828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76546" y="1252728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1370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INVOICES DEPOSITED IN OCT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13706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144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13706" y="1901952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4,125 invoices paid YTD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2377440"/>
            <a:ext cx="6400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1B2F4B"/>
                </a:solidFill>
                <a:latin typeface="Arial"/>
              </a:rPr>
              <a:t>Monthly payments received 2026 (MMAD, amount invoiced by payment date) – October in progress</a:t>
            </a:r>
          </a:p>
        </p:txBody>
      </p:sp>
      <p:graphicFrame>
        <p:nvGraphicFramePr>
          <p:cNvPr id="33" name="Chart 32"/>
          <p:cNvGraphicFramePr>
            <a:graphicFrameLocks noGrp="1"/>
          </p:cNvGraphicFramePr>
          <p:nvPr/>
        </p:nvGraphicFramePr>
        <p:xfrm>
          <a:off x="274320" y="2651760"/>
          <a:ext cx="6675120" cy="3840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7178040" y="2377440"/>
            <a:ext cx="47548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By business unit (MMAD)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7178040" y="2651760"/>
          <a:ext cx="4754876" cy="29809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47729"/>
                <a:gridCol w="655845"/>
                <a:gridCol w="655845"/>
                <a:gridCol w="573864"/>
                <a:gridCol w="573864"/>
                <a:gridCol w="655845"/>
                <a:gridCol w="491884"/>
              </a:tblGrid>
              <a:tr h="36576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Oct to 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Oct to 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Sep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YTD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YTD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2,118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+6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1,918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+13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1,502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319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1,205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472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438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B&amp;C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217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+24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737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8,082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Cash Position – Procurement (JESA Group incl. AM)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Jul–Oct 2026: cash IN 2,104 vs cash OUT 2,276 MMAD incl. October commitments → net −171 MMAD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143000"/>
            <a:ext cx="2240828" cy="1051560"/>
          </a:xfrm>
          <a:prstGeom prst="roundRect">
            <a:avLst>
              <a:gd name="adj" fmla="val 12000"/>
            </a:avLst>
          </a:prstGeom>
          <a:solidFill>
            <a:srgbClr val="3A9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CASH IN JUL–OCT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2,104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920240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OCP payments 1,919 + dividends 185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24876" y="1143000"/>
            <a:ext cx="2240828" cy="1051560"/>
          </a:xfrm>
          <a:prstGeom prst="roundRect">
            <a:avLst>
              <a:gd name="adj" fmla="val 12000"/>
            </a:avLst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1631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CASH OUT ACTUALS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16316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1,954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16316" y="1920240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Jul–Sep 1,734 + Oct to 15/10 220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75433" y="1143000"/>
            <a:ext cx="2240828" cy="1051560"/>
          </a:xfrm>
          <a:prstGeom prst="roundRect">
            <a:avLst>
              <a:gd name="adj" fmla="val 12000"/>
            </a:avLst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66873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OCTOBER COMMITMENTS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66873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321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6873" y="1920240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Approved 258 (LC 156) + pending 64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25989" y="1143000"/>
            <a:ext cx="2240828" cy="1051560"/>
          </a:xfrm>
          <a:prstGeom prst="roundRect">
            <a:avLst>
              <a:gd name="adj" fmla="val 12000"/>
            </a:avLst>
          </a:prstGeom>
          <a:solidFill>
            <a:srgbClr val="B54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17429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NET POSITION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17429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−171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17429" y="1920240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Cash IN + cash OUT incl. commitments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76546" y="1143000"/>
            <a:ext cx="2240828" cy="1051560"/>
          </a:xfrm>
          <a:prstGeom prst="roundRect">
            <a:avLst>
              <a:gd name="adj" fmla="val 12000"/>
            </a:avLst>
          </a:prstGeom>
          <a:solidFill>
            <a:srgbClr val="6B7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6798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PSR (LABOR) 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67986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+73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67986" y="1920240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Collections 372 less provisions 299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377440"/>
            <a:ext cx="6400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Monthly cash IN vs cash OUT – procurement (MMAD)</a:t>
            </a:r>
          </a:p>
        </p:txBody>
      </p:sp>
      <p:graphicFrame>
        <p:nvGraphicFramePr>
          <p:cNvPr id="30" name="Chart 29"/>
          <p:cNvGraphicFramePr>
            <a:graphicFrameLocks noGrp="1"/>
          </p:cNvGraphicFramePr>
          <p:nvPr/>
        </p:nvGraphicFramePr>
        <p:xfrm>
          <a:off x="274320" y="2651760"/>
          <a:ext cx="630936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6812280" y="2377440"/>
            <a:ext cx="51206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Cash position by month (MMAD)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6812280" y="2651760"/>
          <a:ext cx="5120634" cy="304495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680210"/>
                <a:gridCol w="520064"/>
                <a:gridCol w="520064"/>
                <a:gridCol w="520064"/>
                <a:gridCol w="640079"/>
                <a:gridCol w="640079"/>
                <a:gridCol w="600074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Jul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Aug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Sep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Oct to 15/10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Oct ongoing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Cumul.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OCP procurement collections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712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1,919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Dividends / PROC compensable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Total cash IN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712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715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526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2,104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Suppliers (by tier)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−431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−236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−797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−198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−167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−1,829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LC payments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−49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−18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−156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−266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Customs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−78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−43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−55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−24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−201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Total cash OUT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−548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−296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−889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−220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−321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−2,276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NET position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2E7D4F"/>
                          </a:solidFill>
                          <a:latin typeface="Arial"/>
                        </a:rPr>
                        <a:t>+164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2E7D4F"/>
                          </a:solidFill>
                          <a:latin typeface="Arial"/>
                        </a:rPr>
                        <a:t>+419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B5473A"/>
                          </a:solidFill>
                          <a:latin typeface="Arial"/>
                        </a:rPr>
                        <a:t>−363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B5473A"/>
                          </a:solidFill>
                          <a:latin typeface="Arial"/>
                        </a:rPr>
                        <a:t>−69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B5473A"/>
                          </a:solidFill>
                          <a:latin typeface="Arial"/>
                        </a:rPr>
                        <a:t>−321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B5473A"/>
                          </a:solidFill>
                          <a:latin typeface="Arial"/>
                        </a:rPr>
                        <a:t>−171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PSR collections (labor)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372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PSR provisions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−98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−73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−73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−55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−299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NET PSR after provisions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+68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+11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+73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6812280" y="5989320"/>
            <a:ext cx="512064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700" b="0" i="1">
                <a:solidFill>
                  <a:srgbClr val="7A8794"/>
                </a:solidFill>
                <a:latin typeface="Arial"/>
              </a:rPr>
              <a:t>Totals computed on unrounded values. Basis: Jul–Aug–Sep actuals + Oct actuals (collections to 19/10, payments to 15/10) + October LC maturities per bank LC situation 19/10 v003 (156.4M, counted as approved) + open October commitments (approved + pending)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Cash Position by Business Unit – Procurement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Cumulative Jul–Oct 2026 cash IN, cash OUT and net balance by BU, before and after October commitments (MMAD)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28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43000"/>
          <a:ext cx="11567156" cy="3099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63602"/>
                <a:gridCol w="1037413"/>
                <a:gridCol w="1141154"/>
                <a:gridCol w="933672"/>
                <a:gridCol w="1037413"/>
                <a:gridCol w="1089284"/>
                <a:gridCol w="1089284"/>
                <a:gridCol w="1244896"/>
                <a:gridCol w="1037413"/>
                <a:gridCol w="1193025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Business Unit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Cash IN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Paid suppliers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Paid LC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Paid customs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Net actuals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Oct approved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Net after approved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Oct pending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Net all ongoing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554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+48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527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393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+108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+75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+75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+117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+44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+44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248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−182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−288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−333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+57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+56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+49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B&amp;C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Total BUs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2,104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1,644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+150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258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−107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−171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274320" y="4425696"/>
          <a:ext cx="5760720" cy="2020823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6172200" y="4425696"/>
          <a:ext cx="5760720" cy="2020823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October Payments – paid, approved and pending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220 MMAD paid to 15/10; 258 MMAD approved (incl. 156 LC maturities) and 64 MMAD pending approval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14300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October cash OUT: actual and committed (MMAD)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274320" y="1417320"/>
          <a:ext cx="5760720" cy="2240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65760" y="370332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October by business unit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977639"/>
          <a:ext cx="5669280" cy="247345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71600"/>
                <a:gridCol w="914400"/>
                <a:gridCol w="914400"/>
                <a:gridCol w="914400"/>
                <a:gridCol w="822960"/>
                <a:gridCol w="73152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Cash IN to date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Paid to 15/10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Ongoing suppliers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Ongoing LC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Net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−190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−92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−51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B&amp;C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B5473A"/>
                          </a:solidFill>
                          <a:latin typeface="Arial"/>
                        </a:rPr>
                        <a:t>−390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355080" y="1143000"/>
            <a:ext cx="55778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Approved supplier invoices – status vs payment tracking log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1417320"/>
            <a:ext cx="55778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 i="0">
                <a:solidFill>
                  <a:srgbClr val="6B7B8C"/>
                </a:solidFill>
                <a:latin typeface="Arial"/>
              </a:rPr>
              <a:t>96 MMAD / 211 lines checked against the log (approved position excl. LC: 101 MMAD)</a:t>
            </a:r>
          </a:p>
        </p:txBody>
      </p:sp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6263640" y="1691640"/>
          <a:ext cx="5669280" cy="2286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355080" y="4069080"/>
          <a:ext cx="5577837" cy="188366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403427"/>
                <a:gridCol w="661777"/>
                <a:gridCol w="850856"/>
                <a:gridCol w="661777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Tracking-log 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Lines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Pending AP (unpaid)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44.0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Paid after cut-off, awaiting SAP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23.8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Pending Treasury (unpaid)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Paid per log, not yet in SAP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11.3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Paid, SAP clearing reversed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Paid per log, no date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0.8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Cancelled – to review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Total approved supplier payments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95.6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355080" y="6044183"/>
            <a:ext cx="55778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1B2F4B"/>
                </a:solidFill>
                <a:latin typeface="Arial"/>
              </a:rPr>
              <a:t>Priority list (02.10): </a:t>
            </a:r>
            <a:r>
              <a:rPr sz="900" b="0" i="0">
                <a:solidFill>
                  <a:srgbClr val="1F2A37"/>
                </a:solidFill>
                <a:latin typeface="Arial"/>
              </a:rPr>
              <a:t>92 MMAD approved for payment — P1 6 · P2 45 · P3 41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Accounts Payable – supplier payables &amp; LC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Payables incl. LC of 3,055 MMAD (+91 WoW): parked 1,036, 4411 810, downpayments 297, LC 912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143000"/>
            <a:ext cx="2240828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52728"/>
            <a:ext cx="64008" cy="74066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PAYABLES INCL. LC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3,055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10511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+91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24876" y="1143000"/>
            <a:ext cx="2240828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24876" y="1252728"/>
            <a:ext cx="64008" cy="74066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6203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PARKED INVOICES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62036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1,036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62036" y="1810511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+128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975433" y="1143000"/>
            <a:ext cx="2240828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75433" y="1252728"/>
            <a:ext cx="64008" cy="74066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12593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INVOICES 4411 (OPEN ITEMS)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12593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810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12593" y="1810511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25989" y="1143000"/>
            <a:ext cx="2240828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25989" y="1252728"/>
            <a:ext cx="64008" cy="74066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63149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DOWNPAYMENTS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63149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297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63149" y="1810511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+3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676546" y="1143000"/>
            <a:ext cx="2240828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676546" y="1252728"/>
            <a:ext cx="64008" cy="74066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1370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LC OPENED (BANK SITUATION)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13706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912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3706" y="1810511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2240280"/>
            <a:ext cx="5943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Payables by business unit – this week and Δ WoW (MMAD)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365760" y="2514600"/>
          <a:ext cx="5943598" cy="334670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71600"/>
                <a:gridCol w="822960"/>
                <a:gridCol w="731520"/>
                <a:gridCol w="731520"/>
                <a:gridCol w="731520"/>
                <a:gridCol w="777239"/>
                <a:gridCol w="777239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Down-payment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Parked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4411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LC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392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1,685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534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361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+38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270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1,036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810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912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3,055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+91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36" name="TextBox 35"/>
          <p:cNvSpPr txBox="1"/>
          <p:nvPr/>
        </p:nvSpPr>
        <p:spPr>
          <a:xfrm>
            <a:off x="365760" y="5952744"/>
            <a:ext cx="59436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1">
                <a:solidFill>
                  <a:srgbClr val="7A8794"/>
                </a:solidFill>
                <a:latin typeface="Arial"/>
              </a:rPr>
              <a:t>LC = outstanding on opened LCs (bank LC situation); parked = invoices parked in SAP pending validation; 4411 = posted supplier open items; downpayments = advance invoices due to suppliers. Previous week = 14-Oct AP extract.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0" y="2240280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Open supplier invoices by due date – AP file Oct W3 (MMAD)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2514600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 i="0">
                <a:solidFill>
                  <a:srgbClr val="6B7B8C"/>
                </a:solidFill>
                <a:latin typeface="Arial"/>
              </a:rPr>
              <a:t>2,144 MMAD of open lines, of which 1,415 MMAD (66%) past due at 21 Oct 2026</a:t>
            </a:r>
          </a:p>
        </p:txBody>
      </p:sp>
      <p:graphicFrame>
        <p:nvGraphicFramePr>
          <p:cNvPr id="39" name="Chart 38"/>
          <p:cNvGraphicFramePr>
            <a:graphicFrameLocks noGrp="1"/>
          </p:cNvGraphicFramePr>
          <p:nvPr/>
        </p:nvGraphicFramePr>
        <p:xfrm>
          <a:off x="6492240" y="2743200"/>
          <a:ext cx="5486400" cy="2240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0" name="TextBox 39"/>
          <p:cNvSpPr txBox="1"/>
          <p:nvPr/>
        </p:nvSpPr>
        <p:spPr>
          <a:xfrm>
            <a:off x="6583680" y="4983480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B2F4B"/>
                </a:solidFill>
                <a:latin typeface="Arial"/>
              </a:rPr>
              <a:t>By supplier tier (MMAD)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6583680" y="5230368"/>
          <a:ext cx="5394958" cy="84124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90496"/>
                <a:gridCol w="1302231"/>
                <a:gridCol w="1302231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Tier group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National (tiers 1–3)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1,363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International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694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Other / not tiered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2" name="TextBox 41"/>
          <p:cNvSpPr txBox="1"/>
          <p:nvPr/>
        </p:nvSpPr>
        <p:spPr>
          <a:xfrm>
            <a:off x="6583680" y="6108192"/>
            <a:ext cx="53949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750" b="0" i="1">
                <a:solidFill>
                  <a:srgbClr val="7A8794"/>
                </a:solidFill>
                <a:latin typeface="Arial"/>
              </a:rPr>
              <a:t>Note: due-date buckets are computed from the invoice due date in the supplier extract; lines without a due date are excluded from the buckets.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Letters of Credit – outstanding &amp; maturities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1,583 MMAD of LC commitments at 19/10: 912 opened, 671 still to be opened; 156 MMAD maturing in October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143000"/>
            <a:ext cx="2240828" cy="960120"/>
          </a:xfrm>
          <a:prstGeom prst="roundRect">
            <a:avLst>
              <a:gd name="adj" fmla="val 12000"/>
            </a:avLst>
          </a:prstGeom>
          <a:solidFill>
            <a:srgbClr val="1B2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TOTAL LC COMMITMENTS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1,583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828799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Encours in MMAD, bank LC situation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24876" y="1143000"/>
            <a:ext cx="2240828" cy="960120"/>
          </a:xfrm>
          <a:prstGeom prst="roundRect">
            <a:avLst>
              <a:gd name="adj" fmla="val 12000"/>
            </a:avLst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1631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OPENED LCS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16316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912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16316" y="1828799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LC reference and opening date exist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75433" y="1143000"/>
            <a:ext cx="2240828" cy="960120"/>
          </a:xfrm>
          <a:prstGeom prst="roundRect">
            <a:avLst>
              <a:gd name="adj" fmla="val 12000"/>
            </a:avLst>
          </a:prstGeom>
          <a:solidFill>
            <a:srgbClr val="6B7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66873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TO BE OPENED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66873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671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6873" y="1828799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Committed, LC not yet issued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25989" y="1143000"/>
            <a:ext cx="2240828" cy="960120"/>
          </a:xfrm>
          <a:prstGeom prst="roundRect">
            <a:avLst>
              <a:gd name="adj" fmla="val 12000"/>
            </a:avLst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17429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OCTOBER MATURITIES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17429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156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17429" y="1828799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Counted as approved payments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76546" y="1143000"/>
            <a:ext cx="2240828" cy="960120"/>
          </a:xfrm>
          <a:prstGeom prst="roundRect">
            <a:avLst>
              <a:gd name="adj" fmla="val 12000"/>
            </a:avLst>
          </a:prstGeom>
          <a:solidFill>
            <a:srgbClr val="3A9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6798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2026 / 2027 MATURITIES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67986" y="1417320"/>
            <a:ext cx="2057948" cy="375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630 / 953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67986" y="1828799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Per monthly schedule; unscheduled 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240280"/>
            <a:ext cx="68580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LC maturity schedule by month (MMAD)</a:t>
            </a:r>
          </a:p>
        </p:txBody>
      </p:sp>
      <p:graphicFrame>
        <p:nvGraphicFramePr>
          <p:cNvPr id="30" name="Chart 29"/>
          <p:cNvGraphicFramePr>
            <a:graphicFrameLocks noGrp="1"/>
          </p:cNvGraphicFramePr>
          <p:nvPr/>
        </p:nvGraphicFramePr>
        <p:xfrm>
          <a:off x="274320" y="2514600"/>
          <a:ext cx="6949440" cy="2286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65760" y="4846320"/>
            <a:ext cx="68580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B2F4B"/>
                </a:solidFill>
                <a:latin typeface="Arial"/>
              </a:rPr>
              <a:t>By business unit (MMAD)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65760" y="5102352"/>
          <a:ext cx="6857998" cy="133502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878904"/>
                <a:gridCol w="1127342"/>
                <a:gridCol w="1221287"/>
                <a:gridCol w="1127342"/>
                <a:gridCol w="1503123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Opened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To be opened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Oct-26 maturity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671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1,445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912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671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1,583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7498079" y="2240280"/>
            <a:ext cx="44805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By action status (MMAD)</a:t>
            </a:r>
          </a:p>
        </p:txBody>
      </p:sp>
      <p:graphicFrame>
        <p:nvGraphicFramePr>
          <p:cNvPr id="34" name="Chart 33"/>
          <p:cNvGraphicFramePr>
            <a:graphicFrameLocks noGrp="1"/>
          </p:cNvGraphicFramePr>
          <p:nvPr/>
        </p:nvGraphicFramePr>
        <p:xfrm>
          <a:off x="7406640" y="2514600"/>
          <a:ext cx="45720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Backup – Letters of Credit detail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Largest LC lines by outstanding amount (bank LC situation 19/10, MMAD)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43000"/>
          <a:ext cx="11567157" cy="471830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13854"/>
                <a:gridCol w="2488552"/>
                <a:gridCol w="1382529"/>
                <a:gridCol w="875601"/>
                <a:gridCol w="460843"/>
                <a:gridCol w="783433"/>
                <a:gridCol w="645180"/>
                <a:gridCol w="645180"/>
                <a:gridCol w="645180"/>
                <a:gridCol w="2626805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Supplier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LC reference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Expiry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Ccy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Outstanding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Opened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2027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Action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SP2M-LBE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BGRIMM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not opened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193.0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24-month rescheduling to finalise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SP2M-BBE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BGRIMM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not opened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192.9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24-month rescheduling to finalise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SP2M-OSBL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TAKRAF INDIA PRIVATE LIMITED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ILC00155371/0200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30-Jan-27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181.4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Amount to be split by delivery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SP2M-SAP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HOWDEN TURBO GMBH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ILC26A001942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14-Dec-26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EUR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163.9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Awaiting LC copy from buyer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SP2M-SAP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THERMAL SYSTEMS (HYDERABAD)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ILC00156200/0200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10-Oct-26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110.7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Amount to be split by delivery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SP2M-PAP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ALFA LAVAL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not opened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EUR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100.5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 action recorded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SP2M-SAP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THERMAL SYSTEMS (HYDERABAD)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ILC00156199/0200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10-Sep-26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99.7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Amount to be split by delivery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SP2M-PAP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BGRIMM TECHNOLOGY GROUP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ILC00156325/0200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30-Nov-26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EUR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76.5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Awaiting JESA response (suspension)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SP2M-PAP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MILTON ROY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ILC00155203/0200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EUR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60.1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 action recorded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SP2M-SAP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WEIR MINERALS US INC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not opened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52.5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 action recorded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BGRIMM TECHNOLOGY GROUP (BBE)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ILC00156422/0200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20-Aug-26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52.4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Amount to be split by delivery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BGRIMM TECHNOLOGY GROUP (Louta)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ILC00156423/0200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20-Aug-26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45.6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Remaining payment pushed to 2027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ENE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XI'AN LONGI HYDROGEN TECHNOLOGY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ILC00154077/0200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37.3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Remaining payment pushed to 2027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SP2M-PAP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GRAPHITE INDIA LIMITED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TF2602316335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20-Jul-26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EUR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25.5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Awaiting draft LC (procurement)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SP2M-PAP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HASLER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not opened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EUR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23.1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 action recorded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SP2M-PAP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MILTON ROY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not opened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EUR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19.9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 action recorded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SP2M-PAP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WEIR MINERALS US INC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TF2530996775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21-Feb-26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17.8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 action recorded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SP2M-Corridor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PGP Energies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not opened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Signed WO from client needed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Backup – Accounts Payable detail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Open supplier invoices by BU and origin, and top suppliers (AP file Oct W3, MMAD)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14300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By business unit and origin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417320"/>
          <a:ext cx="5486395" cy="26517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528996"/>
                <a:gridCol w="809468"/>
                <a:gridCol w="809468"/>
                <a:gridCol w="899409"/>
                <a:gridCol w="809468"/>
                <a:gridCol w="629586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4411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Parked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Downpayment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Lines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392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912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476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1,300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348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282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810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1,036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2,144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2,803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217920" y="114300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15 suppliers by open payables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217920" y="1417320"/>
          <a:ext cx="5669280" cy="38404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54330"/>
                <a:gridCol w="2657475"/>
                <a:gridCol w="1240155"/>
                <a:gridCol w="708660"/>
                <a:gridCol w="70866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Supplier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of AP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SOGEA MAROC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132.4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6.2%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MMSE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128.3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6.0%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CEGELEC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114.3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5.3%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HAZEMAG Systems GmbH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89.2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4.2%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ATNER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81.3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3.8%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AUSTRUCT INDUSTRIES PTY 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79.6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3.7%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MMSA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72.8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3.4%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Tianjin Cement Industry Design &amp;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71.9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3.4%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JIAOZUO CREATION HEAVY INDUSTRY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65.9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3.1%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BUTEC ENERGIES &amp; SERVICES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50.8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2.4%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SAFARELEC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49.0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2.3%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EM ENERGIE MAROC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48.1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2.2%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GRAPHITE INDIA LIMITED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46.9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2.2%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MILTON ROY EUROPE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46.1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2.1%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PROMINOX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44.1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2.1%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274320" y="4288536"/>
          <a:ext cx="5669280" cy="211226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Data sources &amp; weekly input 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What feeds each section of this deck, and the as-of date of each source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1143000"/>
          <a:ext cx="11430000" cy="373075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108960"/>
                <a:gridCol w="3657600"/>
                <a:gridCol w="2194560"/>
                <a:gridCol w="24688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Deck section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Source file / sheet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As-of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Input tab (weekly_inputs.xlsx)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AR position (current week): components, by BU, ownership, statuses, phases, aging, BU zooms, projects, collections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Weekly raw AR extract (sheet 'AR'), aggregated with the dashboard rules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Snapshot 20 Oct 2026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AR_KPI, AR_BU, AR_UNBILLED_*, AR_UNPAID_STATUS, AR_AGING, AR_BU_DETAIL, AR_BU_PROJECTS, COLLECTIONS_*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AR position (previous week)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Last week's raw AR extract or weekly_inputs.xlsx (this week: the 14-Oct AR dashboard)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Snapshot 14 Oct 2026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prev_week columns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Cash position (group &amp; by BU), October paid / approved / pending, tracking-log status, priority list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Cash flow workbook (CASH_FLOW_ANALYSIS – BUs) – 'EXEC Summary', 'Approved vs Tracking log', 'Priority list', 'LC Ongoing'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Data as of 15 Oct 2026; collections to 19/10; payments to 15/10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CASH_MONTHLY, CASH_BU, CASH_BU_OCT, ONGOING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Month-start baseline (AR by component, BU, status, aging)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Beginning-of-month AR line list (AR_Beg_of_the_month.xlsx) aggregated with the dashboard rules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AR position 07 Oct 2026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AR_KPI / AR_BU / AR_* month_start columns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 revenue by BU and status, previous BU update, PO book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UR Tracking Consolidation – 'Summary UR', 'Sheet1', 'Summary PO by BU'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21 Oct 2026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UNRECOGNIZED, UR_ATTACHMENT_STATUS, UR_PO_SUMMARY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LC commitments, opened vs to be opened, maturity schedule, action status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Bank LC situation (LCs SITUATION) – 'LC avec echéance'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LC situation 19/10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LC_LINES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Open supplier invoices by due date, tier, BU/origin, top suppliers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Supplier invoice extract (4411 – Parked – Downpayment)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AP file Oct W3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AP_BUCKETS, AP_BU_ORIGIN, AP_TIERS, AP_TOP_SUPPLIERS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Payments received (amount invoiced by payment date, labor / non-labor), invoices deposited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Paid lines of the raw AR extract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Payments to 20 Oct 2026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COLLECTIONS_BU, COLLECTIONS_MONTHLY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Key messages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Auto-drafted from the figures, then edited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21 Oct 2026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KEY_MESSAGES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65760" y="5257800"/>
            <a:ext cx="11430000" cy="12344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B2F4B"/>
                </a:solidFill>
                <a:latin typeface="Arial"/>
              </a:rPr>
              <a:t>Weekly run: </a:t>
            </a:r>
            <a:r>
              <a:rPr sz="950" b="0" i="0">
                <a:solidFill>
                  <a:srgbClr val="1F2A37"/>
                </a:solidFill>
                <a:latin typeface="Arial"/>
              </a:rPr>
              <a:t>1) drop the refreshed source files (raw AR extract, cash flow workbook, LC situation, supplier invoices, UR consolidation; month-start AR file once a month)  →  2) run extract_inputs.py with last week's inputs workbook as the previous-week source  →  3) review / edit weekly_inputs.xlsx (key messages)  →  4) run build_deck.py.</a:t>
            </a:r>
          </a:p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B2F4B"/>
                </a:solidFill>
                <a:latin typeface="Arial"/>
              </a:rPr>
              <a:t>Comparatives: </a:t>
            </a:r>
            <a:r>
              <a:rPr sz="950" b="0" i="0">
                <a:solidFill>
                  <a:srgbClr val="1F2A37"/>
                </a:solidFill>
                <a:latin typeface="Arial"/>
              </a:rPr>
              <a:t>week-on-week compares the 20 Oct 2026 extract with the 14 Oct 2026 position; 'vs month start' uses the beginning-of-month AR file (07 Oct 2026 position). All three are aggregated with the same rules (unearned-on-LS and negative advance lines excluded), which reproduce the BU meeting report totals.</a:t>
            </a:r>
          </a:p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B2F4B"/>
                </a:solidFill>
                <a:latin typeface="Arial"/>
              </a:rPr>
              <a:t>Scope notes: </a:t>
            </a:r>
            <a:r>
              <a:rPr sz="950" b="0" i="0">
                <a:solidFill>
                  <a:srgbClr val="1F2A37"/>
                </a:solidFill>
                <a:latin typeface="Arial"/>
              </a:rPr>
              <a:t>cash position covers procurement (non-labor) flows for the JESA Group including AM; PSR (labor) collections are shown net of the AM ring-fence and the W&amp;E reserve provision. AR figures are in MMAD HT as per the AR dashboard.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