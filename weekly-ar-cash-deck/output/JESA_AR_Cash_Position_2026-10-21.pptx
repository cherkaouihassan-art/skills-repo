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9479.103423610219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8109.0</c:v>
                </c:pt>
                <c:pt idx="1">
                  <c:v>6222.0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-35.0</c:v>
                </c:pt>
                <c:pt idx="2">
                  <c:v>-258.0</c:v>
                </c:pt>
                <c:pt idx="3">
                  <c:v>-292.0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-0.0</c:v>
                </c:pt>
                <c:pt idx="3">
                  <c:v>-83.0</c:v>
                </c:pt>
                <c:pt idx="4">
                  <c:v>2.0</c:v>
                </c:pt>
                <c:pt idx="5">
                  <c:v>-0.0</c:v>
                </c:pt>
                <c:pt idx="6">
                  <c:v>2.0</c:v>
                </c:pt>
                <c:pt idx="7">
                  <c:v>-8.0</c:v>
                </c:pt>
                <c:pt idx="8">
                  <c:v>-4.0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-207.0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Previous update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3467.0</c:v>
                </c:pt>
                <c:pt idx="1">
                  <c:v>1736.0</c:v>
                </c:pt>
                <c:pt idx="2">
                  <c:v>1539.0</c:v>
                </c:pt>
                <c:pt idx="3">
                  <c:v>114.0</c:v>
                </c:pt>
                <c:pt idx="4">
                  <c:v>438.0</c:v>
                </c:pt>
                <c:pt idx="5">
                  <c:v>347.0</c:v>
                </c:pt>
                <c:pt idx="6">
                  <c:v>59.0</c:v>
                </c:pt>
                <c:pt idx="7">
                  <c:v>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SP2M</c:v>
                </c:pt>
                <c:pt idx="1">
                  <c:v>Water &amp; Env.</c:v>
                </c:pt>
                <c:pt idx="2">
                  <c:v>Fert. &amp; Chem.</c:v>
                </c:pt>
                <c:pt idx="3">
                  <c:v>Energy Ops</c:v>
                </c:pt>
                <c:pt idx="4">
                  <c:v>JESA Tech</c:v>
                </c:pt>
                <c:pt idx="5">
                  <c:v>Global Mining</c:v>
                </c:pt>
                <c:pt idx="6">
                  <c:v>AM</c:v>
                </c:pt>
                <c:pt idx="7">
                  <c:v>B&amp;I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260.0</c:v>
                </c:pt>
                <c:pt idx="1">
                  <c:v>24.0</c:v>
                </c:pt>
                <c:pt idx="2">
                  <c:v>1524.0</c:v>
                </c:pt>
                <c:pt idx="3">
                  <c:v>498.0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Attachment pending approval</c:v>
                </c:pt>
                <c:pt idx="1">
                  <c:v>Signed by client</c:v>
                </c:pt>
                <c:pt idx="2">
                  <c:v>Attachment pending submission</c:v>
                </c:pt>
                <c:pt idx="3">
                  <c:v>Scope executed under CN</c:v>
                </c:pt>
                <c:pt idx="4">
                  <c:v>Scope executed 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961.0</c:v>
                </c:pt>
                <c:pt idx="1">
                  <c:v>338.0</c:v>
                </c:pt>
                <c:pt idx="2">
                  <c:v>2237.0</c:v>
                </c:pt>
                <c:pt idx="3">
                  <c:v>1254.0</c:v>
                </c:pt>
                <c:pt idx="4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(hor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(hor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110.03816402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20.0</c:v>
                </c:pt>
                <c:pt idx="3">
                  <c:v>15.0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Awaiting draft LC (procurement)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26.0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Relationship Id="rId4" Type="http://schemas.openxmlformats.org/officeDocument/2006/relationships/chart" Target="../charts/chart23.xml"/><Relationship Id="rId5" Type="http://schemas.openxmlformats.org/officeDocument/2006/relationships/chart" Target="../charts/chart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Relationship Id="rId3" Type="http://schemas.openxmlformats.org/officeDocument/2006/relationships/chart" Target="../charts/chart2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Relationship Id="rId3" Type="http://schemas.openxmlformats.org/officeDocument/2006/relationships/chart" Target="../charts/chart3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Relationship Id="rId3" Type="http://schemas.openxmlformats.org/officeDocument/2006/relationships/chart" Target="../charts/chart3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chart" Target="../charts/chart4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3.xml"/><Relationship Id="rId3" Type="http://schemas.openxmlformats.org/officeDocument/2006/relationships/chart" Target="../charts/chart4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9.xml"/><Relationship Id="rId3" Type="http://schemas.openxmlformats.org/officeDocument/2006/relationships/chart" Target="../charts/chart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1.xml"/><Relationship Id="rId3" Type="http://schemas.openxmlformats.org/officeDocument/2006/relationships/chart" Target="../charts/chart52.xml"/><Relationship Id="rId4" Type="http://schemas.openxmlformats.org/officeDocument/2006/relationships/chart" Target="../charts/chart53.xml"/><Relationship Id="rId5" Type="http://schemas.openxmlformats.org/officeDocument/2006/relationships/chart" Target="../charts/chart5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5.xml"/><Relationship Id="rId3" Type="http://schemas.openxmlformats.org/officeDocument/2006/relationships/chart" Target="../charts/chart5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chart" Target="../charts/chart59.xml"/><Relationship Id="rId5" Type="http://schemas.openxmlformats.org/officeDocument/2006/relationships/chart" Target="../charts/chart6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3.xml"/><Relationship Id="rId3" Type="http://schemas.openxmlformats.org/officeDocument/2006/relationships/chart" Target="../charts/chart6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5.xml"/><Relationship Id="rId3" Type="http://schemas.openxmlformats.org/officeDocument/2006/relationships/chart" Target="../charts/chart6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8.xml"/><Relationship Id="rId3" Type="http://schemas.openxmlformats.org/officeDocument/2006/relationships/chart" Target="../charts/chart6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Incl. unrecognized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Not yet booked as 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AR balance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Delivered, not billed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Billed, not collected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Advance payment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Total AR down 292 MMAD vs last week and down 456 MMAD vs the month-start (07 Oct)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00200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Total AR stands at 12,397 MMAD (−292 WoW, −456 vs month start). Adding 7,128 MMAD of unrecognized revenue (−666 vs the previous BU update), gross exposure is 19,525 MMAD. Unbilled is 9,479 MMAD (76% of AR, −35 WoW); unpaid is 2,370 MMAD (−258 WoW, −252 vs baseline).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176272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322576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9424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Collections: 241 MMAD received in October to date (+24 WoW), 8,082 MMAD YTD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15184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Invoices paid moved from 217 to 241 MMAD this month (payment date basis, amount invoiced). YTD payments received reach 8,082 MMAD (8.08 Bn MAD).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3191256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3337560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264408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Procurement cash position: net −171 MMAD Jul–Oct including 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630168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Cumulative procurement cash IN of 2,104 MMAD vs cash OUT of 2,276 MMAD (Jul–Sep actuals, Oct actuals to 15/10, plus 321 MMAD of approved and pending October commitments). October alone: 151 MMAD in vs 220 MMAD paid, 321 MMAD still to pay.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4206240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4352544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279392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Payables: 2,144 MMAD of supplier invoices in AP (4411 + parked + downpayments), 1,415 MMAD past due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45152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2,803 open supplier lines. Parked invoices and 4411 open items dominate; see the AP slide for due-date buckets, tiers and top suppliers.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5221224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5367528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294376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1B2F4B"/>
                </a:solidFill>
                <a:latin typeface="Arial"/>
              </a:rPr>
              <a:t>Letters of credit: 912 MMAD outstanding on opened LCs, 1,583 MMAD including LCs still to be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5660136"/>
            <a:ext cx="10515600" cy="4480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F2A37"/>
                </a:solidFill>
                <a:latin typeface="Arial"/>
              </a:rPr>
              <a:t>October LC maturities of 156 MMAD are counted as approved payments in the cash position. 675 MMAD falls in 2026 and 908 MMAD in 2027 per the maturity schedule.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−292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−666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9,479  ·  76% of 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12,145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Receivables remain almost entirely concentrated with OCP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7,794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−666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−8.5%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−35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−21, Fert. &amp; Chem. −14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−258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Advisory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−292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+2, Energy Ops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−3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−207,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by BU: this week vs last week and vs the month-start baseline (07-Oct)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3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30285"/>
                <a:gridCol w="900168"/>
                <a:gridCol w="900168"/>
                <a:gridCol w="900168"/>
                <a:gridCol w="765142"/>
                <a:gridCol w="855159"/>
                <a:gridCol w="855159"/>
                <a:gridCol w="765142"/>
                <a:gridCol w="810151"/>
                <a:gridCol w="765142"/>
                <a:gridCol w="765142"/>
                <a:gridCol w="855159"/>
                <a:gridCol w="900168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incl. markup (−666 vs the previous BU update): executed scope not yet booked as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 (INCL. JESA COST + FEE)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0352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035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Supplier scope 7,100 + lines to be adjusted 28  ·  previous BU update 7,794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188720"/>
            <a:ext cx="5715000" cy="105156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52728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SUPPLIER PO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63040"/>
            <a:ext cx="5532120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21,831  MMAD contract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965960"/>
            <a:ext cx="55321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Recognized (SAP GR) 10,694  ·  unrecognized 4,485  ·  remaining to execute 6,653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3172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By business unit – previous BU update vs current (MMAD)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274320" y="2606040"/>
          <a:ext cx="566928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17220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Unrecognized suppliers by status (MMAD)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6080760" y="2606040"/>
          <a:ext cx="585216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72200" y="48006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Supplier PO book by business unit (MMAD)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72200" y="5047488"/>
          <a:ext cx="5715000" cy="1453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1097280"/>
                <a:gridCol w="1005840"/>
                <a:gridCol w="1005840"/>
                <a:gridCol w="9601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Contract value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Remaining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10,177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3,739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2,036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4,401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5,717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4,266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3,056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1,443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1,173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7373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(all BUs)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21,831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10,694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4,485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6,653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−207 vs month start); unbilled 78%, unpaid 10%, advance 12%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1,736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1,511 MMAD (−225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79%, unpaid 20%, advance 1%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1,382 MMAD (−157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84%, unpaid 14%, advance 2%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−196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3,467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3,271 MMAD (−196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71%, unpaid 29%,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+74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0 · 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132 MMAD (+74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73%, unpaid 19%, advance 8%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0 · 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362 MMAD (+248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76%, unpaid 24%,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160 MMAD (−187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489 MMAD (+2 WoW, +2 vs month start); unbilled 30%, unpaid 70%,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110 · 75%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C-3.a Pending DP payment / clearing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0 · 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58 MMAD (−37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7%, unpaid 93%,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−194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by status – 252 MMAD (−186 vs previous BU update)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(−4 WoW, −3 vs month start); unbilled 60%, unpaid 40%, advance 0% of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Rectangle 44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0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4572000" y="2560320"/>
          <a:ext cx="3840479" cy="17419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62911"/>
                <a:gridCol w="512064"/>
                <a:gridCol w="384048"/>
                <a:gridCol w="469392"/>
                <a:gridCol w="512064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0" name="Chart 59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1" name="Rectangle 60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0 · 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70" name="Chart 69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of
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 in the UR consolidation.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lines in the approved position (excl. LC); where each line stands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 (bank LC situation); parked = invoices parked in SAP pending validation; 4411 = posted supplier open items; downpayments = advance invoices due to suppliers. Previous week = 14-Oct AP extract.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Note: due-date buckets are computed from the invoice due date in the supplier extract; lines without a due date are excluded from the buckets.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SPLIT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675 / 908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maturity schedule (MMAD)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Data sources &amp; weekly input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What feeds each section of this deck, and the as-of date of each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373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3657600"/>
                <a:gridCol w="219456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Deck section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Source file / sheet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As-of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Input tab (weekly_inputs.xlsx)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(current week): components, by BU, ownership, statuses, phases, aging, BU zooms, projects,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Weekly raw AR extract (sheet 'AR'),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20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AR_KPI, AR_BU, AR_UNBILLED_*, AR_UNPAID_STATUS, AR_AGING, AR_BU_DETAIL, AR_BU_PROJECTS, COLLECTIONS_*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(previous week)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Last week's raw AR extract or weekly_inputs.xlsx (this week: the 14-Oct AR dashboard)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Snapshot 14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prev_week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position (group &amp; by BU), October paid / approved / pending, tracking-log status, priority list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 flow workbook (CASH_FLOW_ANALYSIS – BUs) – 'EXEC Summary', 'Approved vs Tracking log', 'Priority list', 'LC Ongoing'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Data as of 15 Oct 2026; collections to 19/10; payments to 15/10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CASH_MONTHLY, CASH_BU, CASH_BU_OCT, ONGOING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Month-start baseline (AR by component, BU, status, aging)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Beginning-of-month AR line list (AR_Beg_of_the_month.xlsx) aggregated with the dashboard rules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 position 07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AR_KPI / AR_BU / AR_* month_start columns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 and status, previous BU update, PO book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 – 'Summary UR', 'Sheet1', 'Summary PO by BU'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UNRECOGNIZED, UR_ATTACHMENT_STATUS, UR_PO_SUMMARY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commitments, opened vs to be opened,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Bank LC situation (LCs SITUATION) – 'LC avec echéance'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LC_LINES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Open supplier invoices by due date, tier, BU/origin, top 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 – Parked – Downpayment)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 file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AP_BUCKETS, AP_BU_ORIGIN, AP_TIERS, AP_TOP_SUPPLIERS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received (amount invoiced by payment date, labor / non-labor), invoices deposited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Paid lines of the raw AR extract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Payments to 20 Oct 2026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COLLECTIONS_BU, COLLECTIONS_MONTHLY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 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Auto-drafted from the figures, then edited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KEY_MESSAGES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257800"/>
            <a:ext cx="1143000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Weekly run: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1) drop the refreshed source files (raw AR extract, cash flow workbook, LC situation, supplier invoices, UR consolidation; month-start AR file once a month)  →  2) run extract_inputs.py with last week's inputs workbook as the previous-week source  →  3) review / edit weekly_inputs.xlsx (key messages)  →  4) run build_deck.py.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Comparatives: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week-on-week compares the 20 Oct 2026 extract with the 14 Oct 2026 position; 'vs month start' uses the beginning-of-month AR file (07 Oct 2026 position). All three are aggregated with the same rules (unearned-on-LS and negative advance lines excluded), which reproduce the BU meeting report totals.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Scope notes: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cash position covers procurement (non-labor) flows for the JESA Group including AM; PSR (labor) collections are shown net of the AM ring-fence and the W&amp;E reserve provision. AR figures are in MMAD HT as per the AR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