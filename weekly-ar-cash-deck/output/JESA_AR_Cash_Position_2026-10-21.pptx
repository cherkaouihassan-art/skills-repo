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9479.103423610219</c:v>
                </c:pt>
                <c:pt idx="1">
                  <c:v>2369.58692128103</c:v>
                </c:pt>
                <c:pt idx="2">
                  <c:v>548.0215817440002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4288.0</c:v>
                </c:pt>
                <c:pt idx="1">
                  <c:v>3257.0</c:v>
                </c:pt>
                <c:pt idx="2">
                  <c:v>1030.0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8109.0</c:v>
                </c:pt>
                <c:pt idx="1">
                  <c:v>6222.0</c:v>
                </c:pt>
                <c:pt idx="2">
                  <c:v>1340.0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Movement by component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-35.0</c:v>
                </c:pt>
                <c:pt idx="2">
                  <c:v>-257.0</c:v>
                </c:pt>
                <c:pt idx="3">
                  <c:v>-292.0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 vs month start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1.0</c:v>
                </c:pt>
                <c:pt idx="1">
                  <c:v>-205.0</c:v>
                </c:pt>
                <c:pt idx="2">
                  <c:v>-252.0</c:v>
                </c:pt>
                <c:pt idx="3">
                  <c:v>-456.0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-179.0</c:v>
                </c:pt>
                <c:pt idx="1">
                  <c:v>-23.0</c:v>
                </c:pt>
                <c:pt idx="2">
                  <c:v>0.0</c:v>
                </c:pt>
                <c:pt idx="3">
                  <c:v>-83.0</c:v>
                </c:pt>
                <c:pt idx="4">
                  <c:v>2.0</c:v>
                </c:pt>
                <c:pt idx="5">
                  <c:v>0.0</c:v>
                </c:pt>
                <c:pt idx="6">
                  <c:v>3.0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month start (07-Oct)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07-Oct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-206.0</c:v>
                </c:pt>
                <c:pt idx="1">
                  <c:v>-15.0</c:v>
                </c:pt>
                <c:pt idx="2">
                  <c:v>-92.0</c:v>
                </c:pt>
                <c:pt idx="3">
                  <c:v>-127.0</c:v>
                </c:pt>
                <c:pt idx="4">
                  <c:v>0.0</c:v>
                </c:pt>
                <c:pt idx="5">
                  <c:v>-6.0</c:v>
                </c:pt>
                <c:pt idx="6">
                  <c:v>2.0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784.0</c:v>
                </c:pt>
                <c:pt idx="1">
                  <c:v>471.0</c:v>
                </c:pt>
                <c:pt idx="2">
                  <c:v>353.0</c:v>
                </c:pt>
                <c:pt idx="3">
                  <c:v>290.0</c:v>
                </c:pt>
                <c:pt idx="4">
                  <c:v>147.0</c:v>
                </c:pt>
                <c:pt idx="5">
                  <c:v>581.0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610.0</c:v>
                </c:pt>
                <c:pt idx="1">
                  <c:v>457.0</c:v>
                </c:pt>
                <c:pt idx="2">
                  <c:v>356.0</c:v>
                </c:pt>
                <c:pt idx="3">
                  <c:v>262.0</c:v>
                </c:pt>
                <c:pt idx="4">
                  <c:v>130.0</c:v>
                </c:pt>
                <c:pt idx="5">
                  <c:v>555.0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3269.0</c:v>
                </c:pt>
                <c:pt idx="1">
                  <c:v>1513.0</c:v>
                </c:pt>
                <c:pt idx="2">
                  <c:v>1384.0</c:v>
                </c:pt>
                <c:pt idx="3">
                  <c:v>362.0</c:v>
                </c:pt>
                <c:pt idx="4">
                  <c:v>252.0</c:v>
                </c:pt>
                <c:pt idx="5">
                  <c:v>203.0</c:v>
                </c:pt>
                <c:pt idx="6">
                  <c:v>127.0</c:v>
                </c:pt>
                <c:pt idx="7">
                  <c:v>58.0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3271.0</c:v>
                </c:pt>
                <c:pt idx="1">
                  <c:v>1511.0</c:v>
                </c:pt>
                <c:pt idx="2">
                  <c:v>1382.0</c:v>
                </c:pt>
                <c:pt idx="3">
                  <c:v>362.0</c:v>
                </c:pt>
                <c:pt idx="4">
                  <c:v>252.0</c:v>
                </c:pt>
                <c:pt idx="5">
                  <c:v>160.0</c:v>
                </c:pt>
                <c:pt idx="6">
                  <c:v>132.0</c:v>
                </c:pt>
                <c:pt idx="7">
                  <c:v>58.0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260.0</c:v>
                </c:pt>
                <c:pt idx="1">
                  <c:v>24.0</c:v>
                </c:pt>
                <c:pt idx="2">
                  <c:v>1524.0</c:v>
                </c:pt>
                <c:pt idx="3">
                  <c:v>498.0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961.0</c:v>
                </c:pt>
                <c:pt idx="1">
                  <c:v>338.0</c:v>
                </c:pt>
                <c:pt idx="2">
                  <c:v>2237.0</c:v>
                </c:pt>
                <c:pt idx="3">
                  <c:v>1254.0</c:v>
                </c:pt>
                <c:pt idx="4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1514.833461418898</c:v>
                </c:pt>
                <c:pt idx="1">
                  <c:v>879.821554311496</c:v>
                </c:pt>
                <c:pt idx="2">
                  <c:v>172.2599169032063</c:v>
                </c:pt>
                <c:pt idx="3">
                  <c:v>16.01562512455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275.4748179027065</c:v>
                </c:pt>
                <c:pt idx="1">
                  <c:v>24.18765480946</c:v>
                </c:pt>
                <c:pt idx="2">
                  <c:v>32.2346680608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Ordonnancement</c:v>
                </c:pt>
                <c:pt idx="1">
                  <c:v>Missing reception</c:v>
                </c:pt>
                <c:pt idx="2">
                  <c:v>Treasury</c:v>
                </c:pt>
                <c:pt idx="3">
                  <c:v>Other</c:v>
                </c:pt>
                <c:pt idx="4">
                  <c:v>Rejected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177.0</c:v>
                </c:pt>
                <c:pt idx="1">
                  <c:v>52.0</c:v>
                </c:pt>
                <c:pt idx="2">
                  <c:v>52.0</c:v>
                </c:pt>
                <c:pt idx="3">
                  <c:v>27.0</c:v>
                </c:pt>
                <c:pt idx="4">
                  <c:v>24.0</c:v>
                </c:pt>
                <c:pt idx="5">
                  <c:v>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110.0</c:v>
                </c:pt>
                <c:pt idx="1">
                  <c:v>139.0</c:v>
                </c:pt>
                <c:pt idx="2">
                  <c:v>83.0</c:v>
                </c:pt>
                <c:pt idx="3">
                  <c:v>109.0</c:v>
                </c:pt>
                <c:pt idx="4">
                  <c:v>2142.0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53.0</c:v>
                </c:pt>
                <c:pt idx="2">
                  <c:v>1.0</c:v>
                </c:pt>
                <c:pt idx="3">
                  <c:v>30.0</c:v>
                </c:pt>
                <c:pt idx="4">
                  <c:v>214.0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96.0</c:v>
                </c:pt>
                <c:pt idx="3">
                  <c:v>22.0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334.0</c:v>
                </c:pt>
                <c:pt idx="1">
                  <c:v>0.0</c:v>
                </c:pt>
                <c:pt idx="2">
                  <c:v>150.0</c:v>
                </c:pt>
                <c:pt idx="3">
                  <c:v>859.0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332.0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1758.133196524791</c:v>
                </c:pt>
                <c:pt idx="1">
                  <c:v>513.7128624382163</c:v>
                </c:pt>
                <c:pt idx="2">
                  <c:v>218.7233831843153</c:v>
                </c:pt>
                <c:pt idx="3">
                  <c:v>65.43014347000002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398.8785848512981</c:v>
                </c:pt>
                <c:pt idx="1">
                  <c:v>183.563917609</c:v>
                </c:pt>
                <c:pt idx="2">
                  <c:v>53.25067778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Non-OCP / OCP sub (…</c:v>
                </c:pt>
                <c:pt idx="2">
                  <c:v>Treasury</c:v>
                </c:pt>
                <c:pt idx="3">
                  <c:v>Other</c:v>
                </c:pt>
                <c:pt idx="4">
                  <c:v>Missing reception</c:v>
                </c:pt>
                <c:pt idx="5">
                  <c:v>Ordonnancement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184.0</c:v>
                </c:pt>
                <c:pt idx="1">
                  <c:v>163.0</c:v>
                </c:pt>
                <c:pt idx="2">
                  <c:v>141.0</c:v>
                </c:pt>
                <c:pt idx="3">
                  <c:v>105.0</c:v>
                </c:pt>
                <c:pt idx="4">
                  <c:v>32.0</c:v>
                </c:pt>
                <c:pt idx="5">
                  <c:v>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114.0</c:v>
                </c:pt>
                <c:pt idx="1">
                  <c:v>68.0</c:v>
                </c:pt>
                <c:pt idx="2">
                  <c:v>125.0</c:v>
                </c:pt>
                <c:pt idx="3">
                  <c:v>52.0</c:v>
                </c:pt>
                <c:pt idx="4">
                  <c:v>2195.0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63.0</c:v>
                </c:pt>
                <c:pt idx="1">
                  <c:v>53.0</c:v>
                </c:pt>
                <c:pt idx="2">
                  <c:v>64.0</c:v>
                </c:pt>
                <c:pt idx="3">
                  <c:v>79.0</c:v>
                </c:pt>
                <c:pt idx="4">
                  <c:v>377.0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20.0</c:v>
                </c:pt>
                <c:pt idx="2">
                  <c:v>112.0</c:v>
                </c:pt>
                <c:pt idx="3">
                  <c:v>173.0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371.0</c:v>
                </c:pt>
                <c:pt idx="3">
                  <c:v>310.0</c:v>
                </c:pt>
                <c:pt idx="4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41.0</c:v>
                </c:pt>
                <c:pt idx="2">
                  <c:v>12.0</c:v>
                </c:pt>
                <c:pt idx="3">
                  <c:v>20.0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2395.844985099107</c:v>
                </c:pt>
                <c:pt idx="1">
                  <c:v>0.68943248</c:v>
                </c:pt>
                <c:pt idx="2">
                  <c:v>303.1807808399995</c:v>
                </c:pt>
                <c:pt idx="3">
                  <c:v>20.55986176999998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56.08578092</c:v>
                </c:pt>
                <c:pt idx="1">
                  <c:v>387.73355299</c:v>
                </c:pt>
                <c:pt idx="2">
                  <c:v>1.649866900000006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Rejected</c:v>
                </c:pt>
                <c:pt idx="1">
                  <c:v>Treasury</c:v>
                </c:pt>
                <c:pt idx="2">
                  <c:v>Other</c:v>
                </c:pt>
                <c:pt idx="3">
                  <c:v>Being processed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115.0</c:v>
                </c:pt>
                <c:pt idx="1">
                  <c:v>160.0</c:v>
                </c:pt>
                <c:pt idx="2">
                  <c:v>266.0</c:v>
                </c:pt>
                <c:pt idx="3">
                  <c:v>239.0</c:v>
                </c:pt>
                <c:pt idx="4">
                  <c:v>1941.0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53.0</c:v>
                </c:pt>
                <c:pt idx="2">
                  <c:v>0.0</c:v>
                </c:pt>
                <c:pt idx="3">
                  <c:v>12.0</c:v>
                </c:pt>
                <c:pt idx="4">
                  <c:v>379.0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0.0</c:v>
                </c:pt>
                <c:pt idx="2">
                  <c:v>1061.0</c:v>
                </c:pt>
                <c:pt idx="3">
                  <c:v>291.0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1696.0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36.0</c:v>
                </c:pt>
                <c:pt idx="2">
                  <c:v>12.0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698.8850559242986</c:v>
                </c:pt>
                <c:pt idx="1">
                  <c:v>0.0</c:v>
                </c:pt>
                <c:pt idx="2">
                  <c:v>0.0</c:v>
                </c:pt>
                <c:pt idx="3">
                  <c:v>1.41922638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103.1182487199999</c:v>
                </c:pt>
                <c:pt idx="1">
                  <c:v>0.0</c:v>
                </c:pt>
                <c:pt idx="2">
                  <c:v>158.391421685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Treasury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Being processed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183.0</c:v>
                </c:pt>
                <c:pt idx="1">
                  <c:v>25.0</c:v>
                </c:pt>
                <c:pt idx="2">
                  <c:v>22.0</c:v>
                </c:pt>
                <c:pt idx="3">
                  <c:v>13.0</c:v>
                </c:pt>
                <c:pt idx="4">
                  <c:v>12.0</c:v>
                </c:pt>
                <c:pt idx="5">
                  <c:v>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37.0</c:v>
                </c:pt>
                <c:pt idx="1">
                  <c:v>104.0</c:v>
                </c:pt>
                <c:pt idx="2">
                  <c:v>9.0</c:v>
                </c:pt>
                <c:pt idx="3">
                  <c:v>52.0</c:v>
                </c:pt>
                <c:pt idx="4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160.0</c:v>
                </c:pt>
                <c:pt idx="1">
                  <c:v>57.0</c:v>
                </c:pt>
                <c:pt idx="2">
                  <c:v>0.0</c:v>
                </c:pt>
                <c:pt idx="3">
                  <c:v>2.0</c:v>
                </c:pt>
                <c:pt idx="4">
                  <c:v>41.0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37.0</c:v>
                </c:pt>
                <c:pt idx="1">
                  <c:v>5.0</c:v>
                </c:pt>
                <c:pt idx="2">
                  <c:v>4.0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0.0</c:v>
                </c:pt>
                <c:pt idx="2">
                  <c:v>7.0</c:v>
                </c:pt>
                <c:pt idx="3">
                  <c:v>4.0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1.0</c:v>
                </c:pt>
                <c:pt idx="2">
                  <c:v>3.0</c:v>
                </c:pt>
                <c:pt idx="3">
                  <c:v>5.0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320.7558998199998</c:v>
                </c:pt>
                <c:pt idx="1">
                  <c:v>36.60798698999999</c:v>
                </c:pt>
                <c:pt idx="2">
                  <c:v>7.9419595653064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84.02500996</c:v>
                </c:pt>
                <c:pt idx="1">
                  <c:v>0.2207168</c:v>
                </c:pt>
                <c:pt idx="2">
                  <c:v>9.609769380442563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Treasury</c:v>
                </c:pt>
                <c:pt idx="5">
                  <c:v>Rejected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25.0</c:v>
                </c:pt>
                <c:pt idx="2">
                  <c:v>11.0</c:v>
                </c:pt>
                <c:pt idx="3">
                  <c:v>10.0</c:v>
                </c:pt>
                <c:pt idx="4">
                  <c:v>3.0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52.0</c:v>
                </c:pt>
                <c:pt idx="3">
                  <c:v>0.0</c:v>
                </c:pt>
                <c:pt idx="4">
                  <c:v>283.0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27.0</c:v>
                </c:pt>
                <c:pt idx="2">
                  <c:v>10.0</c:v>
                </c:pt>
                <c:pt idx="3">
                  <c:v>4.0</c:v>
                </c:pt>
                <c:pt idx="4">
                  <c:v>43.0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30.0</c:v>
                </c:pt>
                <c:pt idx="1">
                  <c:v>331.0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26.0</c:v>
                </c:pt>
                <c:pt idx="3">
                  <c:v>331.0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273.3557867714</c:v>
                </c:pt>
                <c:pt idx="1">
                  <c:v>0.0</c:v>
                </c:pt>
                <c:pt idx="2">
                  <c:v>32.18865181340009</c:v>
                </c:pt>
                <c:pt idx="3">
                  <c:v>115.5879811200001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105.91895148941</c:v>
                </c:pt>
                <c:pt idx="1">
                  <c:v>6.598109278571422</c:v>
                </c:pt>
                <c:pt idx="2">
                  <c:v>17.619626319692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Non-OCP / OCP sub (…</c:v>
                </c:pt>
                <c:pt idx="1">
                  <c:v>Treasury</c:v>
                </c:pt>
                <c:pt idx="2">
                  <c:v>Ordonnancement</c:v>
                </c:pt>
                <c:pt idx="3">
                  <c:v>Other</c:v>
                </c:pt>
                <c:pt idx="4">
                  <c:v>Rejected</c:v>
                </c:pt>
                <c:pt idx="5">
                  <c:v>Missing reception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81.0</c:v>
                </c:pt>
                <c:pt idx="1">
                  <c:v>17.0</c:v>
                </c:pt>
                <c:pt idx="2">
                  <c:v>12.0</c:v>
                </c:pt>
                <c:pt idx="3">
                  <c:v>11.0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47.0</c:v>
                </c:pt>
                <c:pt idx="1">
                  <c:v>10.0</c:v>
                </c:pt>
                <c:pt idx="2">
                  <c:v>11.0</c:v>
                </c:pt>
                <c:pt idx="3">
                  <c:v>25.0</c:v>
                </c:pt>
                <c:pt idx="4">
                  <c:v>328.0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  <c:pt idx="4">
                  <c:v>56.0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5.0</c:v>
                </c:pt>
                <c:pt idx="3">
                  <c:v>11.0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42.0</c:v>
                </c:pt>
                <c:pt idx="1">
                  <c:v>0.0</c:v>
                </c:pt>
                <c:pt idx="2">
                  <c:v>15.0</c:v>
                </c:pt>
                <c:pt idx="3">
                  <c:v>76.0</c:v>
                </c:pt>
                <c:pt idx="4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18.0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110.03816402</c:v>
                </c:pt>
                <c:pt idx="1">
                  <c:v>0.0</c:v>
                </c:pt>
                <c:pt idx="2">
                  <c:v>36.25880292000014</c:v>
                </c:pt>
                <c:pt idx="3">
                  <c:v>0.425162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330.868192730476</c:v>
                </c:pt>
                <c:pt idx="1">
                  <c:v>0.0</c:v>
                </c:pt>
                <c:pt idx="2">
                  <c:v>11.12884361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Other</c:v>
                </c:pt>
                <c:pt idx="2">
                  <c:v>Ordonnancement</c:v>
                </c:pt>
                <c:pt idx="3">
                  <c:v>Missing reception</c:v>
                </c:pt>
                <c:pt idx="4">
                  <c:v>Rejected</c:v>
                </c:pt>
                <c:pt idx="5">
                  <c:v>Treasury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302.0</c:v>
                </c:pt>
                <c:pt idx="1">
                  <c:v>22.0</c:v>
                </c:pt>
                <c:pt idx="2">
                  <c:v>14.0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8.0</c:v>
                </c:pt>
                <c:pt idx="2">
                  <c:v>20.0</c:v>
                </c:pt>
                <c:pt idx="3">
                  <c:v>15.0</c:v>
                </c:pt>
                <c:pt idx="4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3.0</c:v>
                </c:pt>
                <c:pt idx="2">
                  <c:v>2.0</c:v>
                </c:pt>
                <c:pt idx="3">
                  <c:v>12.0</c:v>
                </c:pt>
                <c:pt idx="4">
                  <c:v>313.0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48.0</c:v>
                </c:pt>
                <c:pt idx="1">
                  <c:v>2.0</c:v>
                </c:pt>
                <c:pt idx="2">
                  <c:v>1.0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</c:v>
                </c:pt>
                <c:pt idx="1">
                  <c:v>0.0</c:v>
                </c:pt>
                <c:pt idx="2">
                  <c:v>5.0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4.892148413371475</c:v>
                </c:pt>
                <c:pt idx="1">
                  <c:v>0.0</c:v>
                </c:pt>
                <c:pt idx="2">
                  <c:v>2.386849003392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93.72287720217099</c:v>
                </c:pt>
                <c:pt idx="1">
                  <c:v>1.27293828302</c:v>
                </c:pt>
                <c:pt idx="2">
                  <c:v>4.357662997185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Other</c:v>
                </c:pt>
                <c:pt idx="1">
                  <c:v>Treasury</c:v>
                </c:pt>
                <c:pt idx="2">
                  <c:v>Missing reception</c:v>
                </c:pt>
                <c:pt idx="3">
                  <c:v>Rejected</c:v>
                </c:pt>
                <c:pt idx="4">
                  <c:v>Being processed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84.0</c:v>
                </c:pt>
                <c:pt idx="1">
                  <c:v>9.0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</c:v>
                </c:pt>
                <c:pt idx="1">
                  <c:v>3.0</c:v>
                </c:pt>
                <c:pt idx="2">
                  <c:v>1.0</c:v>
                </c:pt>
                <c:pt idx="3">
                  <c:v>-3.0</c:v>
                </c:pt>
                <c:pt idx="4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42.0</c:v>
                </c:pt>
                <c:pt idx="3">
                  <c:v>34.0</c:v>
                </c:pt>
                <c:pt idx="4">
                  <c:v>18.0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249.0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27.89248495</c:v>
                </c:pt>
                <c:pt idx="1">
                  <c:v>0.0</c:v>
                </c:pt>
                <c:pt idx="2">
                  <c:v>13.6966085955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20.0097067618</c:v>
                </c:pt>
                <c:pt idx="1">
                  <c:v>0.0</c:v>
                </c:pt>
                <c:pt idx="2">
                  <c:v>8.241983000000001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Rejected</c:v>
                </c:pt>
                <c:pt idx="2">
                  <c:v>Missing reception</c:v>
                </c:pt>
                <c:pt idx="3">
                  <c:v>Treasury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3.0</c:v>
                </c:pt>
                <c:pt idx="2">
                  <c:v>5.0</c:v>
                </c:pt>
                <c:pt idx="3">
                  <c:v>2.0</c:v>
                </c:pt>
                <c:pt idx="4">
                  <c:v>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10.0</c:v>
                </c:pt>
                <c:pt idx="4">
                  <c:v>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586.0</c:v>
                </c:pt>
                <c:pt idx="1">
                  <c:v>467.0</c:v>
                </c:pt>
                <c:pt idx="2">
                  <c:v>171.0</c:v>
                </c:pt>
                <c:pt idx="3">
                  <c:v>91.0</c:v>
                </c:pt>
                <c:pt idx="4">
                  <c:v>117.0</c:v>
                </c:pt>
                <c:pt idx="5">
                  <c:v>95.0</c:v>
                </c:pt>
                <c:pt idx="6">
                  <c:v>133.0</c:v>
                </c:pt>
                <c:pt idx="7">
                  <c:v>152.0</c:v>
                </c:pt>
                <c:pt idx="8">
                  <c:v>214.0</c:v>
                </c:pt>
                <c:pt idx="9">
                  <c:v>91.0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1662.0</c:v>
                </c:pt>
                <c:pt idx="1">
                  <c:v>1251.0</c:v>
                </c:pt>
                <c:pt idx="2">
                  <c:v>355.0</c:v>
                </c:pt>
                <c:pt idx="3">
                  <c:v>126.0</c:v>
                </c:pt>
                <c:pt idx="4">
                  <c:v>360.0</c:v>
                </c:pt>
                <c:pt idx="5">
                  <c:v>106.0</c:v>
                </c:pt>
                <c:pt idx="6">
                  <c:v>657.0</c:v>
                </c:pt>
                <c:pt idx="7">
                  <c:v>775.0</c:v>
                </c:pt>
                <c:pt idx="8">
                  <c:v>523.0</c:v>
                </c:pt>
                <c:pt idx="9">
                  <c:v>151.0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Other actions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64.0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Relationship Id="rId5" Type="http://schemas.openxmlformats.org/officeDocument/2006/relationships/chart" Target="../charts/chart2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Relationship Id="rId3" Type="http://schemas.openxmlformats.org/officeDocument/2006/relationships/chart" Target="../charts/chart2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Relationship Id="rId5" Type="http://schemas.openxmlformats.org/officeDocument/2006/relationships/chart" Target="../charts/chart3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Relationship Id="rId3" Type="http://schemas.openxmlformats.org/officeDocument/2006/relationships/chart" Target="../charts/chart3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Relationship Id="rId3" Type="http://schemas.openxmlformats.org/officeDocument/2006/relationships/chart" Target="../charts/chart40.xml"/><Relationship Id="rId4" Type="http://schemas.openxmlformats.org/officeDocument/2006/relationships/chart" Target="../charts/chart41.xml"/><Relationship Id="rId5" Type="http://schemas.openxmlformats.org/officeDocument/2006/relationships/chart" Target="../charts/chart4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3.xml"/><Relationship Id="rId3" Type="http://schemas.openxmlformats.org/officeDocument/2006/relationships/chart" Target="../charts/chart4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chart" Target="../charts/chart47.xml"/><Relationship Id="rId5" Type="http://schemas.openxmlformats.org/officeDocument/2006/relationships/chart" Target="../charts/chart4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9.xml"/><Relationship Id="rId3" Type="http://schemas.openxmlformats.org/officeDocument/2006/relationships/chart" Target="../charts/chart5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1.xml"/><Relationship Id="rId3" Type="http://schemas.openxmlformats.org/officeDocument/2006/relationships/chart" Target="../charts/chart52.xml"/><Relationship Id="rId4" Type="http://schemas.openxmlformats.org/officeDocument/2006/relationships/chart" Target="../charts/chart53.xml"/><Relationship Id="rId5" Type="http://schemas.openxmlformats.org/officeDocument/2006/relationships/chart" Target="../charts/chart5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5.xml"/><Relationship Id="rId3" Type="http://schemas.openxmlformats.org/officeDocument/2006/relationships/chart" Target="../charts/chart5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7.xml"/><Relationship Id="rId3" Type="http://schemas.openxmlformats.org/officeDocument/2006/relationships/chart" Target="../charts/chart58.xml"/><Relationship Id="rId4" Type="http://schemas.openxmlformats.org/officeDocument/2006/relationships/chart" Target="../charts/chart59.xml"/><Relationship Id="rId5" Type="http://schemas.openxmlformats.org/officeDocument/2006/relationships/chart" Target="../charts/chart6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3.xml"/><Relationship Id="rId3" Type="http://schemas.openxmlformats.org/officeDocument/2006/relationships/chart" Target="../charts/chart6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5.xml"/><Relationship Id="rId3" Type="http://schemas.openxmlformats.org/officeDocument/2006/relationships/chart" Target="../charts/chart6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8.xml"/><Relationship Id="rId3" Type="http://schemas.openxmlformats.org/officeDocument/2006/relationships/chart" Target="../charts/chart6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   ·   AR snapshot 20 Oct 2026 (vs 14 Oct 2026 and 07 Oct 2026 baseline)   ·   Cash to 19/10   ·   Figures in MMAD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19,525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Incl. unrecognized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Not yet booked as 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Recognized AR balance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9,479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2151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Delivered, not billed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2,370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0948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Billed, not collected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9746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Advance payment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Total AR down 292 MMAD vs last week and down 456 MMAD vs the month-start (07 Oct)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00200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Total AR stands at 12,397 MMAD (−292 WoW, −456 vs month start). Adding 7,128 MMAD of unrecognized revenue (−40 vs last week), gross exposure is 19,525 MMAD. Unbilled is 9,479 MMAD (76% of AR, −35 WoW); unpaid is 2,370 MMAD (−258 WoW, −252 vs baseline).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176272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322576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49424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Collections: 241 MMAD received in October to date (+24 WoW), 8,082 MMAD YTD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615184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Invoices paid moved from 217 to 241 MMAD this month (payment date basis, amount invoiced). YTD payments received reach 8,082 MMAD (8.08 Bn MAD).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3191256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3337560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264408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Procurement cash position: net −171 MMAD Jul–Oct including 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30168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Cumulative procurement cash IN of 2,104 MMAD vs cash OUT of 2,276 MMAD (Jul–Sep actuals, Oct actuals to 15/10, plus 321 MMAD of approved and pending October commitments). October alone: 151 MMAD in vs 220 MMAD paid, 321 MMAD still to pay.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4206240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4352544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279392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Payables: 2,144 MMAD of supplier invoices in AP (4411 + parked + downpayments), 1,415 MMAD past due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45152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2,803 open supplier lines. Parked invoices and 4411 open items dominate; see the AP slide for due-date buckets, tiers and top suppliers.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5221224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5367528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294376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Letters of credit: 912 MMAD outstanding on opened LCs, 1,583 MMAD including LCs still to be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660136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October LC maturities of 156 MMAD are counted as approved payments in the cash position. 675 MMAD falls in 2026 and 908 MMAD in 2027 per the maturity schedule.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76% of total AR; AR −292 MMAD week on week and −456 vs the month-start baseline (07-Oct)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19,525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7,128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9,479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2,370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9,479  ·  76% of AR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2,370  ·  19% of 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2514600"/>
            <a:ext cx="7040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46320" y="2514600"/>
            <a:ext cx="73152" cy="10058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74920" y="2560320"/>
            <a:ext cx="201168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0" y="2606040"/>
            <a:ext cx="4754880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1B2F4B"/>
                </a:solidFill>
                <a:latin typeface="Arial"/>
              </a:rPr>
              <a:t>of AR is OCP-related</a:t>
            </a:r>
          </a:p>
          <a:p>
            <a:pPr algn="l"/>
            <a:r>
              <a:rPr sz="1100" b="0" i="0">
                <a:solidFill>
                  <a:srgbClr val="6B7B8C"/>
                </a:solidFill>
                <a:latin typeface="Arial"/>
              </a:rPr>
              <a:t>OCP 12,145  ·  Non-OCP 252 (2.0%)</a:t>
            </a:r>
          </a:p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Receivables remain almost entirely concentrated with OCP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65% of the book is non-labor (procurement scope)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20-Oct vs last week 14-Oct and vs the month-start baseline (07-Oct AR position)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−3.5%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19,857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What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03320"/>
            <a:ext cx="694944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−35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AM −20, Fert. &amp; Chem. −14, Energy Ops −1, JESA Tech −1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−257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−62, Fert. &amp; Chem. −9,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Energy Ops +3,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−292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−179, AM −83, Fert. &amp; Chem. −23, JESA Tech −8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+3, Energy Ops +2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−205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SP2M −92, AM −54, Water &amp; Env. −28, Fert. &amp; Chem. −24</a:t>
            </a:r>
            <a:r>
              <a:rPr sz="950" b="0" i="0">
                <a:solidFill>
                  <a:srgbClr val="1F2A37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−252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−73, Global Mining −6,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Fert. &amp; Chem. +9, B&amp;I +2, Advisory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−456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−206, AM −127, SP2M −92, Fert. &amp; Chem. −15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8,019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4480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by BU: this week vs last week and vs the month-start baseline (07-Oct)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3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30285"/>
                <a:gridCol w="900168"/>
                <a:gridCol w="900168"/>
                <a:gridCol w="900168"/>
                <a:gridCol w="765142"/>
                <a:gridCol w="855159"/>
                <a:gridCol w="855159"/>
                <a:gridCol w="765142"/>
                <a:gridCol w="810151"/>
                <a:gridCol w="765142"/>
                <a:gridCol w="765142"/>
                <a:gridCol w="855159"/>
                <a:gridCol w="9001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4,836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4,601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6,507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7,109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3,796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1,701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Treasury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Ordonnancement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Missing reception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7,128 MMAD incl. markup (−40 vs last week): executed scope not yet booked as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 (INCL. JESA COST + FEE)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0352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Supplier scope 7,100 + lines to be adjusted 28  ·  last week 7,168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88720"/>
            <a:ext cx="5715000" cy="105156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252728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SUPPLIER PO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463040"/>
            <a:ext cx="5532120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21,831 MMAD contract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965960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Recognized (SAP GR) 10,694  ·  unrecognized 4,485  ·  remaining to execute 6,653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By business unit – last week vs this week (MMAD)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274320" y="2606040"/>
          <a:ext cx="566928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17220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Unrecognized suppliers by status (MMAD)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080760" y="2606040"/>
          <a:ext cx="585216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72200" y="48006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Supplier PO book by business unit (MMAD)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72200" y="4983480"/>
          <a:ext cx="5715000" cy="1536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1097280"/>
                <a:gridCol w="1005840"/>
                <a:gridCol w="1005840"/>
                <a:gridCol w="960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Contract value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Remaining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10,177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3,739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2,036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4,401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5,717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4,266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3,056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1,443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1,173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Other BUs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Total (all BUs)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21,831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10,694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4,485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6,653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3,325 MMAD (−179 WoW, −206 vs month start); unbilled 78%, unpaid 10%, advance 12%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4,836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1,511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3,325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1,515 · 59%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880 · 34%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172 · 7%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16 · 1%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275 · 83%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24 · 7%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32 · 10%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2,611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Water &amp; Environment: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QC.01855.P71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W2E - Decanteurs Lamellaires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144.9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104.6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Desalination Wave II Safi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Safi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SAFI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S2G_Pumps Packg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Reliability SAFI - 2 x 10MLD Trai…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QC.02145.P04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WaveII Safi mechanical Packa…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QC.01432.P25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- Pckg IS…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Wave 2 Desalination Plant Jorf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QC.00387.S07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TM - Jorf Gypsum Stacking EPCM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MPH 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1,511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(384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Fertilizers &amp;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3,219 MMAD (−23 WoW, −15 vs month start); unbilled 79%, unpaid 20%, advance 1%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4,601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1,758 · 69%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514 · 20%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219 · 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65 · 3%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399 · 63%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184 · 29%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53 · 8%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Fert. &amp; Chem.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Fertilizers &amp; Chemicals: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Fertilizer-North Axe, New TS…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QC.01746.P01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Handling and Storage C+F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(JFC1)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85.2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PPA DESIGN STUDIES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QC.00029.S06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AHF Project ISBL &amp; 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QC.01747.P16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OSBL and Piperack cost pl…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Jorf(Define/Design…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Cost + Fee for PAT//PPA/MA…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QC.01873.S05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CAP Lines (2 Units) JLS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1,382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(389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Ad Hoc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3,236 MMAD (0 WoW, −92 vs month start); unbilled 84%, unpaid 14%, advance 2%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6,507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2,720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445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2,396 · 88%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303 · 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 · 1%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1,576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submis…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56 · 13%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388 · 87%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 · 0%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2,812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SP2M Ad Hoc Program: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OSBL- 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177.1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QC.01717.S02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Safi Existing Site and ES-SPH Cor…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 - Overseas Fabrication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Louta Mine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Axis-PAP-Civil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PAP_Construction &amp; Commssion…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SP2M_PAP_Cooling Tower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PSA Platforms - Phases 5&amp;6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QC.01721.P03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EPC package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201.5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QC.01514.P01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GRANULATION (TSP)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piperack &amp; Infrast…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QC.01724.P06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BME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-SP2M -P1 Vacuum Pump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Benguerir extentio…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Louta Mine  Storage &amp; Handling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QC.01627.P88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SPH PSA Platforming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3,271 MMAD (+2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(222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893 MMAD (−83 WoW, −127 vs month start); unbilled 71%, unpaid 29%,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699 · 111%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−68 · -11%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PDR PDR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7" name="Chart 56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8" name="Rectangle 57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103 · 39%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158 · 61%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Chart 66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QC.00441.P08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JFC2 Maintenance Acclerate Projec…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Rehabilitation and shutdown activ…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QC.02045.P01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Portfolio Support C+F3 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Réhabilitation du convoyeur UA et…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QC.01520.P01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Ammonia transfer from U155 to U07…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QC.01160.P17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JLN TSP2 : SUBS CFR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QC.02065.S01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Mining 5.0 - Fixed Asset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 1 MEE Y4 C+F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Inflatable hangars JPH Lot 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QC.02187.P02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Bloc 9 Plant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JFC1 Maintenance Excellence Execu…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QC.02086.P05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Alimentation Repulpage Flexible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QC.01536.P11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107 DEF - Amelioratins Et Perform…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CAPEX for Jorf lasfar water facil…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QC.01409.P02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Rénovation Bâtiment Travaux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Lasfar Water Facilities MEE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132 MMAD (+5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(125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500 MMAD (+2 WoW, 0 vs month start); unbilled 73%, unpaid 19%, advance 8%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321 · 88%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37 · 10%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 · 2%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7" name="Chart 56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8" name="Rectangle 57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84 · 90%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 · 10%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Chart 66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Ops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Energy Operations: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of a 60/10 kV substa…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QC.01523.S03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platform Electrical 400/60KV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Construction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MPH- Power Plant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QC.00464.S04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Power Plant U220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HV/MV Substations (PSA/SPH PL…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JH2P - Green Ammonia Plant 100KT/Y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PIPELINE SUBSTATIONS 60/10 KV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Transmission LINE 60KV BOUGU…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GAPP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QC.01757.S03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Mines Solar PV Phase 2 constructi…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Ammonia Pilot Plant 4T/D -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QC.00926.P03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Electrical Projects Phase 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362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(362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551 MMAD (0 WoW, −6 vs month start); unbilled 76%, unpaid 24%,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273 · 65%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 · 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116 · 27%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7" name="Chart 56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8" name="Rectangle 57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106 · 81%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7 · 5%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 · 14%</a:t>
            </a:r>
          </a:p>
        </p:txBody>
      </p:sp>
      <p:graphicFrame>
        <p:nvGraphicFramePr>
          <p:cNvPr id="67" name="Chart 66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9" name="Table 68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Global Mining: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QC.00365.P01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 in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 PLANT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upgrade_GANT…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Construction Casern…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QC.01988.S01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Boucraa Mine Expansion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QC.01751.S04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PEZCN Washplant_Feasability &amp; Con…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QC.01663.P01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Tailings dewatering by Centrifuga…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3 casernes Cost+Fee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QC.02036.S01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FDM Digital Plant - JESA / WORLEY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QC.02293.S02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160 MMAD (−43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(51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Building &amp;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489 MMAD (+3 WoW, +2 vs month start); unbilled 30%, unpaid 70%,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110 · 75%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36 · 25%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C-3.a Pending DP payment / clearing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C-2.a Waiting OCP VAT exemption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4" name="Chart 53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5" name="Rectangle 54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331 · 97%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11 · 3%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B&amp;I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Building &amp; Infrastructure: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SAFI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GANTOUR Benguerir Youssoufia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Amenagement Mine Verte_Zone Nord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KHOURIBGA REVISION 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QC.01951.S03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EXTESNION QUAI P1-TER PORT JO…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QC.01368.S01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CASA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QC.00705.S02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Jorf REV 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UM6P RABAT PMC PHASE 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PST 2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Nouveaux  Bâtiments UM6P RABAT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City University Campus Beng…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QC.02103.S01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Campus UM6P Laayoune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QC.01860.S02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Hotel RITZ Carlton Phase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Extension CFMDV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58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(50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107 MMAD (−8 WoW, −8 vs month start); unbilled 7%, unpaid 93%,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 · 67%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-43%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4" name="Chart 53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5" name="Rectangle 54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94 · 94%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 · 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4 · 4%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Chart 66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JESA Technologies: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Bench Scale Testing for Cadmium 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QC.01661.S03.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Phase…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QC.01969.S01.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TSP+S Pilot Plant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QC.00483.P02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Line F OSBL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Fox River Variability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QC.02232.S01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P2 Capacity Increase Audit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Cd Removal TDP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 Proprietary Equipment &amp; Licen…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Testing -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QC.01426.S07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North Complex 107 A/B/C Adap…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QC.01238.S07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252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70 MMAD (−3 WoW, −3 vs month start); unbilled 60%, unpaid 40%,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28 · 67%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14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4572000" y="2560320"/>
          <a:ext cx="3840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4" name="Chart 53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5" name="Rectangle 54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20 · 71%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 · 29%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Advisory: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QC.02149.S01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Performance Management and Steeri…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Entité Integrat Mines SBU…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QC.02254.S01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to Nutricrops' Strategy F…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QC.02347.S01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Energy Task Force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Structuration Entité Qual…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S2PM Supply Chain and Strategic 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QC.02225.S01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Execution strategy &amp; operating mo…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QC.02266.S01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Financing Strat of Integrated Ind…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Operations Supply Chain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QC.02177.S01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Nutricrops Operations Office Tran…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Nutricrops' Strat. Op - 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QC.02250.S02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Sell-Side Advisory Assist. &amp; PMO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QC.02243.S01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Opp. Dev Ingénierie Guinée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Suite Accompagnement Management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QC.02258.S01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Phosphate &amp; Fertilizers St…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931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B8C"/>
                </a:solidFill>
                <a:latin typeface="Arial"/>
              </a:rPr>
              <a:t>No unrecognized supplier scope reported for this business unit in the UR consolidation.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241 MMAD of invoices paid in October to 20-Oct (+24 vs 14-Oct); 8.08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737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5433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8,082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5989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3149" y="1417320"/>
            <a:ext cx="205794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2,117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26%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5,964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74% non-labor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7654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DEPOSITED IN OCT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3706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4,125 invoices paid YTD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Monthly payments received 2026 (MMAD, amount invoiced by payment date) – October in progress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178040" y="2651760"/>
          <a:ext cx="4754876" cy="2980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7729"/>
                <a:gridCol w="655845"/>
                <a:gridCol w="655845"/>
                <a:gridCol w="573864"/>
                <a:gridCol w="573864"/>
                <a:gridCol w="655845"/>
                <a:gridCol w="491884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8,082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Totals computed on unrounded values. 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lines checked against the log (approved position excl. LC: 101 MMAD)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3,055 MMAD (+91 WoW): parked 1,036, 4411 810, downpayments 297, LC 912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3,055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1,036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(BANK SITUATION)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3,055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 (bank LC situation); parked = invoices parked in SAP pending validation; 4411 = posted supplier open items; downpayments = advance invoices due to suppliers. Previous week = 14-Oct AP extract.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Note: due-date buckets are computed from the invoice due date in the supplier extract; lines without a due date are excluded from the buckets.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MATURITIES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630 / 953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monthly schedule; unscheduled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Data sources &amp; weekly input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What feeds each section of this deck, and the as-of date of each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3730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3657600"/>
                <a:gridCol w="2194560"/>
                <a:gridCol w="24688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Deck section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Source file / sheet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As-of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Input tab (weekly_inputs.xlsx)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(current week): components, by BU, ownership, statuses, phases, aging, BU zooms, projects,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Weekly raw AR extract (sheet 'AR'), aggregated with the dashboard rules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20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AR_KPI, AR_BU, AR_UNBILLED_*, AR_UNPAID_STATUS, AR_AGING, AR_BU_DETAIL, AR_BU_PROJECTS, COLLECTIONS_*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(previous week)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Last week's raw AR extract or weekly_inputs.xlsx (this week: the 14-Oct AR dashboard)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14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prev_week columns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 position (group &amp; by BU), October paid / approved / pending, tracking-log status, priority list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 flow workbook (CASH_FLOW_ANALYSIS – BUs) – 'EXEC Summary', 'Approved vs Tracking log', 'Priority list', 'LC Ongoing'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Data as of 15 Oct 2026; collections to 19/10; payments to 15/10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CASH_MONTHLY, CASH_BU, CASH_BU_OCT, ONGOING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Month-start baseline (AR by component, BU, status, aging)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Beginning-of-month AR line list (AR_Beg_of_the_month.xlsx) aggregated with the dashboard rules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07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AR_KPI / AR_BU / AR_* month_start columns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 by BU and status, PO book (previous week = last week's deck / inputs)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UR Tracking Consolidation – 'Summary UR', 'Summary PO by BU'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UNRECOGNIZED, UR_ATTACHMENT_STATUS, UR_PO_SUMMARY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 commitments, opened vs to be opened,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Bank LC situation (LCs SITUATION) – 'LC avec echéance'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LC_LINES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Open supplier invoices by due date, tier, BU/origin, top suppliers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 – Parked – Downpayment)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AP file Oct W3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AP_BUCKETS, AP_BU_ORIGIN, AP_TIERS, AP_TOP_SUPPLIERS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Payments received (amount invoiced by payment date, labor / non-labor), invoices deposited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Paid lines of the raw AR extract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Payments to 20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COLLECTIONS_BU, COLLECTIONS_MONTHLY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Key messages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Auto-drafted from the figures, then edited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KEY_MESSAGES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257800"/>
            <a:ext cx="11430000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Weekly run: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1) drop the refreshed source files (raw AR extract, cash flow workbook, LC situation, supplier invoices, UR consolidation; month-start AR file once a month)  →  2) run extract_inputs.py with last week's inputs workbook as the previous-week source  →  3) review / edit weekly_inputs.xlsx (key messages)  →  4) run build_deck.py.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Comparatives: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week-on-week compares the 20 Oct 2026 extract with the 14 Oct 2026 position; 'vs month start' uses the beginning-of-month AR file (07 Oct 2026 position). All three are aggregated with the same rules (unearned-on-LS and negative advance lines excluded), which reproduce the BU meeting report totals.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Scope notes: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cash position covers procurement (non-labor) flows for the JESA Group including AM; PSR (labor) collections are shown net of the AM ring-fence and the W&amp;E reserve provision. AR figures are in MMAD HT as per the AR dashboard.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