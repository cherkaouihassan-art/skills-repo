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0F3B63"/>
              </a:solidFill>
              <a:ln>
                <a:noFill/>
              </a:ln>
            </c:spPr>
          </c:dPt>
          <c:dPt>
            <c:idx val="1"/>
            <c:spPr>
              <a:solidFill>
                <a:srgbClr val="7A8794"/>
              </a:solidFill>
              <a:ln>
                <a:noFill/>
              </a:ln>
            </c:spPr>
          </c:dPt>
          <c:dPt>
            <c:idx val="2"/>
            <c:spPr>
              <a:solidFill>
                <a:srgbClr val="C9DDEE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Unbilled</c:v>
                </c:pt>
                <c:pt idx="1">
                  <c:v>Unpaid</c:v>
                </c:pt>
                <c:pt idx="2">
                  <c:v>Advance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9513.792499159648</c:v>
                </c:pt>
                <c:pt idx="1">
                  <c:v>2627.475631534421</c:v>
                </c:pt>
                <c:pt idx="2">
                  <c:v>547.70852735122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>
          <a:latin typeface="Arial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Labor</c:v>
                </c:pt>
              </c:strCache>
            </c:strRef>
          </c:tx>
          <c:spPr>
            <a:solidFill>
              <a:srgbClr val="0F3B63"/>
            </a:solidFill>
            <a:ln>
              <a:noFill/>
            </a:ln>
          </c:spPr>
          <c:dLbls>
            <c:numFmt formatCode="#,##0;−#,##0;&quot;&quot;" sourceLinked="0"/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Total AR</c:v>
                </c:pt>
                <c:pt idx="1">
                  <c:v>Unbilled</c:v>
                </c:pt>
                <c:pt idx="2">
                  <c:v>Unpaid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4052.0</c:v>
                </c:pt>
                <c:pt idx="1">
                  <c:v>3110.0</c:v>
                </c:pt>
                <c:pt idx="2">
                  <c:v>942.0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Non-labor</c:v>
                </c:pt>
              </c:strCache>
            </c:strRef>
          </c:tx>
          <c:spPr>
            <a:solidFill>
              <a:srgbClr val="C9DDEE"/>
            </a:solidFill>
            <a:ln>
              <a:noFill/>
            </a:ln>
          </c:spPr>
          <c:dLbls>
            <c:numFmt formatCode="#,##0;−#,##0;&quot;&quot;" sourceLinked="0"/>
            <c:txPr>
              <a:bodyPr/>
              <a:lstStyle/>
              <a:p>
                <a:pPr>
                  <a:defRPr sz="900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Total AR</c:v>
                </c:pt>
                <c:pt idx="1">
                  <c:v>Unbilled</c:v>
                </c:pt>
                <c:pt idx="2">
                  <c:v>Unpaid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8637.0</c:v>
                </c:pt>
                <c:pt idx="1">
                  <c:v>6404.0</c:v>
                </c:pt>
                <c:pt idx="2">
                  <c:v>1685.0</c:v>
                </c:pt>
              </c:numCache>
            </c:numRef>
          </c:val>
        </c:ser>
        <c:dLbls>
          <c:numFmt formatCode="#,##0;−#,##0;&quot;&quot;" sourceLinked="0"/>
          <c:txPr>
            <a:bodyPr/>
            <a:lstStyle/>
            <a:p>
              <a:pPr>
                <a:defRPr sz="90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90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B2F4B"/>
                </a:solidFill>
              </a:rPr>
              <a:t>Movement by component (MMAD)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 WoW</c:v>
                </c:pt>
              </c:strCache>
            </c:strRef>
          </c:tx>
          <c:spPr>
            <a:solidFill>
              <a:srgbClr val="2E6D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Advance</c:v>
                </c:pt>
                <c:pt idx="1">
                  <c:v>Unbilled</c:v>
                </c:pt>
                <c:pt idx="2">
                  <c:v>Unpaid</c:v>
                </c:pt>
                <c:pt idx="3">
                  <c:v>Total 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-168.0</c:v>
                </c:pt>
                <c:pt idx="2">
                  <c:v>6.0</c:v>
                </c:pt>
                <c:pt idx="3">
                  <c:v>-162.0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 vs month start</c:v>
                </c:pt>
              </c:strCache>
            </c:strRef>
          </c:tx>
          <c:spPr>
            <a:solidFill>
              <a:srgbClr val="C8972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Advance</c:v>
                </c:pt>
                <c:pt idx="1">
                  <c:v>Unbilled</c:v>
                </c:pt>
                <c:pt idx="2">
                  <c:v>Unpaid</c:v>
                </c:pt>
                <c:pt idx="3">
                  <c:v>Total AR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-170.0</c:v>
                </c:pt>
                <c:pt idx="2">
                  <c:v>6.0</c:v>
                </c:pt>
                <c:pt idx="3">
                  <c:v>-164.0</c:v>
                </c:pt>
              </c:numCache>
            </c:numRef>
          </c:val>
        </c:ser>
        <c:dLbls>
          <c:numFmt formatCode="+#,##0;−#,##0;&quot;&quot;" sourceLinked="0"/>
          <c:txPr>
            <a:bodyPr/>
            <a:lstStyle/>
            <a:p>
              <a:pPr>
                <a:defRPr sz="80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90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B2F4B"/>
                </a:solidFill>
              </a:rPr>
              <a:t>Total AR – Δ week on week by BU (MMAD)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 WoW</c:v>
                </c:pt>
              </c:strCache>
            </c:strRef>
          </c:tx>
          <c:spPr>
            <a:solidFill>
              <a:srgbClr val="2E6DA4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Water &amp; Env.</c:v>
                </c:pt>
                <c:pt idx="1">
                  <c:v>Fert. &amp; Chem.</c:v>
                </c:pt>
                <c:pt idx="2">
                  <c:v>SP2M</c:v>
                </c:pt>
                <c:pt idx="3">
                  <c:v>AM</c:v>
                </c:pt>
                <c:pt idx="4">
                  <c:v>Energy Ops</c:v>
                </c:pt>
                <c:pt idx="5">
                  <c:v>Global Mining</c:v>
                </c:pt>
                <c:pt idx="6">
                  <c:v>B&amp;I</c:v>
                </c:pt>
                <c:pt idx="7">
                  <c:v>JESA Tech</c:v>
                </c:pt>
                <c:pt idx="8">
                  <c:v>Advisory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-28.0</c:v>
                </c:pt>
                <c:pt idx="1">
                  <c:v>8.0</c:v>
                </c:pt>
                <c:pt idx="2">
                  <c:v>-92.0</c:v>
                </c:pt>
                <c:pt idx="3">
                  <c:v>-44.0</c:v>
                </c:pt>
                <c:pt idx="4">
                  <c:v>-2.0</c:v>
                </c:pt>
                <c:pt idx="5">
                  <c:v>-6.0</c:v>
                </c:pt>
                <c:pt idx="6">
                  <c:v>1.0</c:v>
                </c:pt>
                <c:pt idx="7">
                  <c:v>0.0</c:v>
                </c:pt>
                <c:pt idx="8">
                  <c:v>1.0</c:v>
                </c:pt>
              </c:numCache>
            </c:numRef>
          </c:val>
        </c:ser>
        <c:dLbls>
          <c:numFmt formatCode="+#,##0;−#,##0;&quot;&quot;" sourceLinked="0"/>
          <c:txPr>
            <a:bodyPr/>
            <a:lstStyle/>
            <a:p>
              <a:pPr>
                <a:defRPr sz="80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80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B2F4B"/>
                </a:solidFill>
              </a:rPr>
              <a:t>Total AR – Δ vs month start (07-Oct) by BU (MMAD)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 vs 07-Oct</c:v>
                </c:pt>
              </c:strCache>
            </c:strRef>
          </c:tx>
          <c:spPr>
            <a:solidFill>
              <a:srgbClr val="C8972B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Water &amp; Env.</c:v>
                </c:pt>
                <c:pt idx="1">
                  <c:v>Fert. &amp; Chem.</c:v>
                </c:pt>
                <c:pt idx="2">
                  <c:v>SP2M</c:v>
                </c:pt>
                <c:pt idx="3">
                  <c:v>AM</c:v>
                </c:pt>
                <c:pt idx="4">
                  <c:v>Energy Ops</c:v>
                </c:pt>
                <c:pt idx="5">
                  <c:v>Global Mining</c:v>
                </c:pt>
                <c:pt idx="6">
                  <c:v>B&amp;I</c:v>
                </c:pt>
                <c:pt idx="7">
                  <c:v>JESA Tech</c:v>
                </c:pt>
                <c:pt idx="8">
                  <c:v>Advisory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-28.0</c:v>
                </c:pt>
                <c:pt idx="1">
                  <c:v>8.0</c:v>
                </c:pt>
                <c:pt idx="2">
                  <c:v>-92.0</c:v>
                </c:pt>
                <c:pt idx="3">
                  <c:v>-44.0</c:v>
                </c:pt>
                <c:pt idx="4">
                  <c:v>-2.0</c:v>
                </c:pt>
                <c:pt idx="5">
                  <c:v>-6.0</c:v>
                </c:pt>
                <c:pt idx="6">
                  <c:v>-1.0</c:v>
                </c:pt>
                <c:pt idx="7">
                  <c:v>0.0</c:v>
                </c:pt>
                <c:pt idx="8">
                  <c:v>1.0</c:v>
                </c:pt>
              </c:numCache>
            </c:numRef>
          </c:val>
        </c:ser>
        <c:dLbls>
          <c:numFmt formatCode="+#,##0;−#,##0;&quot;&quot;" sourceLinked="0"/>
          <c:txPr>
            <a:bodyPr/>
            <a:lstStyle/>
            <a:p>
              <a:pPr>
                <a:defRPr sz="80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80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B2F4B"/>
                </a:solidFill>
              </a:rPr>
              <a:t>Unpaid by status – last week vs this week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07-Oct</c:v>
                </c:pt>
              </c:strCache>
            </c:strRef>
          </c:tx>
          <c:spPr>
            <a:solidFill>
              <a:srgbClr val="C9DDEE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En ordonnancement</c:v>
                </c:pt>
                <c:pt idx="1">
                  <c:v>Transmise tréso</c:v>
                </c:pt>
                <c:pt idx="2">
                  <c:v>Manque réception</c:v>
                </c:pt>
                <c:pt idx="3">
                  <c:v>Rejetée</c:v>
                </c:pt>
                <c:pt idx="4">
                  <c:v>OCP SUB</c:v>
                </c:pt>
                <c:pt idx="5">
                  <c:v>Autres / NON-OCP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261.0</c:v>
                </c:pt>
                <c:pt idx="1">
                  <c:v>430.0</c:v>
                </c:pt>
                <c:pt idx="2">
                  <c:v>185.0</c:v>
                </c:pt>
                <c:pt idx="3">
                  <c:v>829.0</c:v>
                </c:pt>
                <c:pt idx="4">
                  <c:v>351.0</c:v>
                </c:pt>
                <c:pt idx="5">
                  <c:v>566.0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14-Oct</c:v>
                </c:pt>
              </c:strCache>
            </c:strRef>
          </c:tx>
          <c:spPr>
            <a:solidFill>
              <a:srgbClr val="0F3B63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En ordonnancement</c:v>
                </c:pt>
                <c:pt idx="1">
                  <c:v>Transmise tréso</c:v>
                </c:pt>
                <c:pt idx="2">
                  <c:v>Manque réception</c:v>
                </c:pt>
                <c:pt idx="3">
                  <c:v>Rejetée</c:v>
                </c:pt>
                <c:pt idx="4">
                  <c:v>OCP SUB</c:v>
                </c:pt>
                <c:pt idx="5">
                  <c:v>Autres / NON-OCP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290.0</c:v>
                </c:pt>
                <c:pt idx="1">
                  <c:v>471.0</c:v>
                </c:pt>
                <c:pt idx="2">
                  <c:v>147.0</c:v>
                </c:pt>
                <c:pt idx="3">
                  <c:v>784.0</c:v>
                </c:pt>
                <c:pt idx="4">
                  <c:v>353.0</c:v>
                </c:pt>
                <c:pt idx="5">
                  <c:v>581.0</c:v>
                </c:pt>
              </c:numCache>
            </c:numRef>
          </c:val>
        </c:ser>
        <c:dLbls>
          <c:numFmt formatCode="#,##0;−#,##0;&quot;&quot;" sourceLinked="0"/>
          <c:txPr>
            <a:bodyPr/>
            <a:lstStyle/>
            <a:p>
              <a:pPr>
                <a:defRPr sz="80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80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Previous update</c:v>
                </c:pt>
              </c:strCache>
            </c:strRef>
          </c:tx>
          <c:spPr>
            <a:solidFill>
              <a:srgbClr val="C9DDEE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SP2M</c:v>
                </c:pt>
                <c:pt idx="1">
                  <c:v>Water &amp; Env.</c:v>
                </c:pt>
                <c:pt idx="2">
                  <c:v>Fert. &amp; Chem.</c:v>
                </c:pt>
                <c:pt idx="3">
                  <c:v>Energy Ops</c:v>
                </c:pt>
                <c:pt idx="4">
                  <c:v>JESA Tech</c:v>
                </c:pt>
                <c:pt idx="5">
                  <c:v>Global Mining</c:v>
                </c:pt>
                <c:pt idx="6">
                  <c:v>AM</c:v>
                </c:pt>
                <c:pt idx="7">
                  <c:v>B&amp;I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3467.0</c:v>
                </c:pt>
                <c:pt idx="1">
                  <c:v>1736.0</c:v>
                </c:pt>
                <c:pt idx="2">
                  <c:v>1539.0</c:v>
                </c:pt>
                <c:pt idx="3">
                  <c:v>114.0</c:v>
                </c:pt>
                <c:pt idx="4">
                  <c:v>438.0</c:v>
                </c:pt>
                <c:pt idx="5">
                  <c:v>347.0</c:v>
                </c:pt>
                <c:pt idx="6">
                  <c:v>59.0</c:v>
                </c:pt>
                <c:pt idx="7">
                  <c:v>95.0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E6DA4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SP2M</c:v>
                </c:pt>
                <c:pt idx="1">
                  <c:v>Water &amp; Env.</c:v>
                </c:pt>
                <c:pt idx="2">
                  <c:v>Fert. &amp; Chem.</c:v>
                </c:pt>
                <c:pt idx="3">
                  <c:v>Energy Ops</c:v>
                </c:pt>
                <c:pt idx="4">
                  <c:v>JESA Tech</c:v>
                </c:pt>
                <c:pt idx="5">
                  <c:v>Global Mining</c:v>
                </c:pt>
                <c:pt idx="6">
                  <c:v>AM</c:v>
                </c:pt>
                <c:pt idx="7">
                  <c:v>B&amp;I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3271.0</c:v>
                </c:pt>
                <c:pt idx="1">
                  <c:v>1511.0</c:v>
                </c:pt>
                <c:pt idx="2">
                  <c:v>1382.0</c:v>
                </c:pt>
                <c:pt idx="3">
                  <c:v>362.0</c:v>
                </c:pt>
                <c:pt idx="4">
                  <c:v>252.0</c:v>
                </c:pt>
                <c:pt idx="5">
                  <c:v>160.0</c:v>
                </c:pt>
                <c:pt idx="6">
                  <c:v>132.0</c:v>
                </c:pt>
                <c:pt idx="7">
                  <c:v>58.0</c:v>
                </c:pt>
              </c:numCache>
            </c:numRef>
          </c:val>
        </c:ser>
        <c:dLbls>
          <c:numFmt formatCode="#,##0;−#,##0;&quot;&quot;" sourceLinked="0"/>
          <c:txPr>
            <a:bodyPr/>
            <a:lstStyle/>
            <a:p>
              <a:pPr>
                <a:defRPr sz="80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90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Equipment</c:v>
                </c:pt>
              </c:strCache>
            </c:strRef>
          </c:tx>
          <c:spPr>
            <a:solidFill>
              <a:srgbClr val="0F3B63"/>
            </a:solidFill>
            <a:ln>
              <a:noFill/>
            </a:ln>
          </c:spPr>
          <c:dLbls>
            <c:dLbl>
              <c:idx val="1"/>
              <c:delete val="1"/>
            </c:dLbl>
            <c:dLbl>
              <c:idx val="4"/>
              <c:delete val="1"/>
            </c:dLbl>
            <c:numFmt formatCode="#,##0;−#,##0;&quot;&quot;" sourceLinked="0"/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Attachment pending approval</c:v>
                </c:pt>
                <c:pt idx="1">
                  <c:v>Signed by client</c:v>
                </c:pt>
                <c:pt idx="2">
                  <c:v>Attachment pending submission</c:v>
                </c:pt>
                <c:pt idx="3">
                  <c:v>Scope executed under CN</c:v>
                </c:pt>
                <c:pt idx="4">
                  <c:v>Scope executed at risk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260.0</c:v>
                </c:pt>
                <c:pt idx="1">
                  <c:v>24.0</c:v>
                </c:pt>
                <c:pt idx="2">
                  <c:v>1524.0</c:v>
                </c:pt>
                <c:pt idx="3">
                  <c:v>498.0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Subcontracts</c:v>
                </c:pt>
              </c:strCache>
            </c:strRef>
          </c:tx>
          <c:spPr>
            <a:solidFill>
              <a:srgbClr val="2E6DA4"/>
            </a:solidFill>
            <a:ln>
              <a:noFill/>
            </a:ln>
          </c:spPr>
          <c:dLbls>
            <c:dLbl>
              <c:idx val="4"/>
              <c:delete val="1"/>
            </c:dLbl>
            <c:numFmt formatCode="#,##0;−#,##0;&quot;&quot;" sourceLinked="0"/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Attachment pending approval</c:v>
                </c:pt>
                <c:pt idx="1">
                  <c:v>Signed by client</c:v>
                </c:pt>
                <c:pt idx="2">
                  <c:v>Attachment pending submission</c:v>
                </c:pt>
                <c:pt idx="3">
                  <c:v>Scope executed under CN</c:v>
                </c:pt>
                <c:pt idx="4">
                  <c:v>Scope executed at risk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961.0</c:v>
                </c:pt>
                <c:pt idx="1">
                  <c:v>338.0</c:v>
                </c:pt>
                <c:pt idx="2">
                  <c:v>2237.0</c:v>
                </c:pt>
                <c:pt idx="3">
                  <c:v>1254.0</c:v>
                </c:pt>
                <c:pt idx="4">
                  <c:v>5.0</c:v>
                </c:pt>
              </c:numCache>
            </c:numRef>
          </c:val>
        </c:ser>
        <c:dLbls>
          <c:numFmt formatCode="#,##0;−#,##0;&quot;&quot;" sourceLinked="0"/>
          <c:txPr>
            <a:bodyPr/>
            <a:lstStyle/>
            <a:p>
              <a:pPr>
                <a:defRPr sz="80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75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Labor (PSR)</c:v>
                </c:pt>
              </c:strCache>
            </c:strRef>
          </c:tx>
          <c:spPr>
            <a:solidFill>
              <a:srgbClr val="2E6DA4"/>
            </a:solidFill>
            <a:ln>
              <a:noFill/>
            </a:ln>
          </c:spPr>
          <c:dLbls>
            <c:dLbl>
              <c:idx val="9"/>
              <c:delete val="1"/>
            </c:dLbl>
            <c:numFmt formatCode="#,##0;−#,##0;&quot;&quot;" sourceLinked="0"/>
            <c:txPr>
              <a:bodyPr/>
              <a:lstStyle/>
              <a:p>
                <a:pPr>
                  <a:defRPr sz="75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757.0</c:v>
                </c:pt>
                <c:pt idx="1">
                  <c:v>542.0</c:v>
                </c:pt>
                <c:pt idx="2">
                  <c:v>179.0</c:v>
                </c:pt>
                <c:pt idx="3">
                  <c:v>59.0</c:v>
                </c:pt>
                <c:pt idx="4">
                  <c:v>164.0</c:v>
                </c:pt>
                <c:pt idx="5">
                  <c:v>91.0</c:v>
                </c:pt>
                <c:pt idx="6">
                  <c:v>116.0</c:v>
                </c:pt>
                <c:pt idx="7">
                  <c:v>136.0</c:v>
                </c:pt>
                <c:pt idx="8">
                  <c:v>67.0</c:v>
                </c:pt>
                <c:pt idx="9">
                  <c:v>28.0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Non-labor (procurement)</c:v>
                </c:pt>
              </c:strCache>
            </c:strRef>
          </c:tx>
          <c:spPr>
            <a:solidFill>
              <a:srgbClr val="E08A2E"/>
            </a:solidFill>
            <a:ln>
              <a:noFill/>
            </a:ln>
          </c:spPr>
          <c:dLbls>
            <c:numFmt formatCode="#,##0;−#,##0;&quot;&quot;" sourceLinked="0"/>
            <c:txPr>
              <a:bodyPr/>
              <a:lstStyle/>
              <a:p>
                <a:pPr>
                  <a:defRPr sz="750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1429.0</c:v>
                </c:pt>
                <c:pt idx="1">
                  <c:v>1126.0</c:v>
                </c:pt>
                <c:pt idx="2">
                  <c:v>306.0</c:v>
                </c:pt>
                <c:pt idx="3">
                  <c:v>132.0</c:v>
                </c:pt>
                <c:pt idx="4">
                  <c:v>299.0</c:v>
                </c:pt>
                <c:pt idx="5">
                  <c:v>90.0</c:v>
                </c:pt>
                <c:pt idx="6">
                  <c:v>695.0</c:v>
                </c:pt>
                <c:pt idx="7">
                  <c:v>719.0</c:v>
                </c:pt>
                <c:pt idx="8">
                  <c:v>341.0</c:v>
                </c:pt>
                <c:pt idx="9">
                  <c:v>82.0</c:v>
                </c:pt>
              </c:numCache>
            </c:numRef>
          </c:val>
        </c:ser>
        <c:dLbls>
          <c:numFmt formatCode="#,##0;−#,##0;&quot;&quot;" sourceLinked="0"/>
          <c:txPr>
            <a:bodyPr/>
            <a:lstStyle/>
            <a:p>
              <a:pPr>
                <a:defRPr sz="75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90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Cash IN</c:v>
                </c:pt>
              </c:strCache>
            </c:strRef>
          </c:tx>
          <c:spPr>
            <a:solidFill>
              <a:srgbClr val="3A9C8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 to date</c:v>
                </c:pt>
                <c:pt idx="4">
                  <c:v>Oct commitments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712.0</c:v>
                </c:pt>
                <c:pt idx="1">
                  <c:v>715.0</c:v>
                </c:pt>
                <c:pt idx="2">
                  <c:v>526.0</c:v>
                </c:pt>
                <c:pt idx="3">
                  <c:v>151.0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Cash OUT</c:v>
                </c:pt>
              </c:strCache>
            </c:strRef>
          </c:tx>
          <c:spPr>
            <a:solidFill>
              <a:srgbClr val="0F3B63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 to date</c:v>
                </c:pt>
                <c:pt idx="4">
                  <c:v>Oct commitments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548.0</c:v>
                </c:pt>
                <c:pt idx="1">
                  <c:v>296.0</c:v>
                </c:pt>
                <c:pt idx="2">
                  <c:v>889.0</c:v>
                </c:pt>
                <c:pt idx="3">
                  <c:v>220.0</c:v>
                </c:pt>
                <c:pt idx="4">
                  <c:v>321.0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</c:v>
                </c:pt>
              </c:strCache>
            </c:strRef>
          </c:tx>
          <c:spPr>
            <a:solidFill>
              <a:srgbClr val="C8972B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 to date</c:v>
                </c:pt>
                <c:pt idx="4">
                  <c:v>Oct commitments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164.0</c:v>
                </c:pt>
                <c:pt idx="1">
                  <c:v>419.0</c:v>
                </c:pt>
                <c:pt idx="2">
                  <c:v>-363.0</c:v>
                </c:pt>
                <c:pt idx="3">
                  <c:v>-69.0</c:v>
                </c:pt>
                <c:pt idx="4">
                  <c:v>-321.0</c:v>
                </c:pt>
              </c:numCache>
            </c:numRef>
          </c:val>
        </c:ser>
        <c:dLbls>
          <c:numFmt formatCode="#,##0;−#,##0;&quot;&quot;" sourceLinked="0"/>
          <c:txPr>
            <a:bodyPr/>
            <a:lstStyle/>
            <a:p>
              <a:pPr>
                <a:defRPr sz="80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90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B2F4B"/>
                </a:solidFill>
              </a:rPr>
              <a:t>Cash IN vs cash OUT by BU (MMAD)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Cash IN</c:v>
                </c:pt>
              </c:strCache>
            </c:strRef>
          </c:tx>
          <c:spPr>
            <a:solidFill>
              <a:srgbClr val="3A9C8C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Water &amp; Env.</c:v>
                </c:pt>
                <c:pt idx="1">
                  <c:v>Fert. &amp; Chem.</c:v>
                </c:pt>
                <c:pt idx="2">
                  <c:v>AM</c:v>
                </c:pt>
                <c:pt idx="3">
                  <c:v>SP2M</c:v>
                </c:pt>
                <c:pt idx="4">
                  <c:v>JESA Tech</c:v>
                </c:pt>
                <c:pt idx="5">
                  <c:v>Energy Ops</c:v>
                </c:pt>
                <c:pt idx="6">
                  <c:v>Global Mining</c:v>
                </c:pt>
                <c:pt idx="7">
                  <c:v>B&amp;I</c:v>
                </c:pt>
                <c:pt idx="8">
                  <c:v>Advisory</c:v>
                </c:pt>
                <c:pt idx="9">
                  <c:v>B&amp;C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632.0</c:v>
                </c:pt>
                <c:pt idx="1">
                  <c:v>527.0</c:v>
                </c:pt>
                <c:pt idx="2">
                  <c:v>402.0</c:v>
                </c:pt>
                <c:pt idx="3">
                  <c:v>307.0</c:v>
                </c:pt>
                <c:pt idx="4">
                  <c:v>111.0</c:v>
                </c:pt>
                <c:pt idx="5">
                  <c:v>65.0</c:v>
                </c:pt>
                <c:pt idx="6">
                  <c:v>51.0</c:v>
                </c:pt>
                <c:pt idx="7">
                  <c:v>10.0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Cash OUT (incl. commitments)</c:v>
                </c:pt>
              </c:strCache>
            </c:strRef>
          </c:tx>
          <c:spPr>
            <a:solidFill>
              <a:srgbClr val="0F3B63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Water &amp; Env.</c:v>
                </c:pt>
                <c:pt idx="1">
                  <c:v>Fert. &amp; Chem.</c:v>
                </c:pt>
                <c:pt idx="2">
                  <c:v>AM</c:v>
                </c:pt>
                <c:pt idx="3">
                  <c:v>SP2M</c:v>
                </c:pt>
                <c:pt idx="4">
                  <c:v>JESA Tech</c:v>
                </c:pt>
                <c:pt idx="5">
                  <c:v>Energy Ops</c:v>
                </c:pt>
                <c:pt idx="6">
                  <c:v>Global Mining</c:v>
                </c:pt>
                <c:pt idx="7">
                  <c:v>B&amp;I</c:v>
                </c:pt>
                <c:pt idx="8">
                  <c:v>Advisory</c:v>
                </c:pt>
                <c:pt idx="9">
                  <c:v>B&amp;C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619.0</c:v>
                </c:pt>
                <c:pt idx="1">
                  <c:v>452.0</c:v>
                </c:pt>
                <c:pt idx="2">
                  <c:v>358.0</c:v>
                </c:pt>
                <c:pt idx="3">
                  <c:v>640.0</c:v>
                </c:pt>
                <c:pt idx="4">
                  <c:v>106.0</c:v>
                </c:pt>
                <c:pt idx="5">
                  <c:v>16.0</c:v>
                </c:pt>
                <c:pt idx="6">
                  <c:v>58.0</c:v>
                </c:pt>
                <c:pt idx="7">
                  <c:v>11.0</c:v>
                </c:pt>
                <c:pt idx="8">
                  <c:v>15.0</c:v>
                </c:pt>
                <c:pt idx="9">
                  <c:v>0.0</c:v>
                </c:pt>
              </c:numCache>
            </c:numRef>
          </c:val>
        </c:ser>
        <c:dLbls>
          <c:numFmt formatCode="#,##0;−#,##0;&quot;&quot;" sourceLinked="0"/>
          <c:txPr>
            <a:bodyPr/>
            <a:lstStyle/>
            <a:p>
              <a:pPr>
                <a:defRPr sz="70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75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B2F4B"/>
                </a:solidFill>
              </a:rPr>
              <a:t>Net balance after all ongoing commitments (MMAD)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after all ongoing</c:v>
                </c:pt>
              </c:strCache>
            </c:strRef>
          </c:tx>
          <c:spPr>
            <a:solidFill>
              <a:srgbClr val="C8972B"/>
            </a:solidFill>
            <a:ln>
              <a:noFill/>
            </a:ln>
          </c:spPr>
          <c:dPt>
            <c:idx val="0"/>
            <c:spPr>
              <a:solidFill>
                <a:srgbClr val="2E7D4F"/>
              </a:solidFill>
              <a:ln>
                <a:noFill/>
              </a:ln>
            </c:spPr>
          </c:dPt>
          <c:dPt>
            <c:idx val="1"/>
            <c:spPr>
              <a:solidFill>
                <a:srgbClr val="2E7D4F"/>
              </a:solidFill>
              <a:ln>
                <a:noFill/>
              </a:ln>
            </c:spPr>
          </c:dPt>
          <c:dPt>
            <c:idx val="2"/>
            <c:spPr>
              <a:solidFill>
                <a:srgbClr val="2E7D4F"/>
              </a:solidFill>
              <a:ln>
                <a:noFill/>
              </a:ln>
            </c:spPr>
          </c:dPt>
          <c:dPt>
            <c:idx val="3"/>
            <c:spPr>
              <a:solidFill>
                <a:srgbClr val="B5473A"/>
              </a:solidFill>
              <a:ln>
                <a:noFill/>
              </a:ln>
            </c:spPr>
          </c:dPt>
          <c:dPt>
            <c:idx val="4"/>
            <c:spPr>
              <a:solidFill>
                <a:srgbClr val="2E7D4F"/>
              </a:solidFill>
              <a:ln>
                <a:noFill/>
              </a:ln>
            </c:spPr>
          </c:dPt>
          <c:dPt>
            <c:idx val="5"/>
            <c:spPr>
              <a:solidFill>
                <a:srgbClr val="2E7D4F"/>
              </a:solidFill>
              <a:ln>
                <a:noFill/>
              </a:ln>
            </c:spPr>
          </c:dPt>
          <c:dPt>
            <c:idx val="6"/>
            <c:spPr>
              <a:solidFill>
                <a:srgbClr val="B5473A"/>
              </a:solidFill>
              <a:ln>
                <a:noFill/>
              </a:ln>
            </c:spPr>
          </c:dPt>
          <c:dPt>
            <c:idx val="7"/>
            <c:spPr>
              <a:solidFill>
                <a:srgbClr val="B5473A"/>
              </a:solidFill>
              <a:ln>
                <a:noFill/>
              </a:ln>
            </c:spPr>
          </c:dPt>
          <c:dPt>
            <c:idx val="8"/>
            <c:spPr>
              <a:solidFill>
                <a:srgbClr val="B5473A"/>
              </a:solidFill>
              <a:ln>
                <a:noFill/>
              </a:ln>
            </c:spPr>
          </c:dPt>
          <c:dPt>
            <c:idx val="9"/>
            <c:spPr>
              <a:solidFill>
                <a:srgbClr val="B5473A"/>
              </a:solidFill>
              <a:ln>
                <a:noFill/>
              </a:ln>
            </c:spPr>
          </c:dPt>
          <c:cat>
            <c:strRef>
              <c:f>Sheet1!$A$2:$A$11</c:f>
              <c:strCache>
                <c:ptCount val="10"/>
                <c:pt idx="0">
                  <c:v>Water &amp; Env.</c:v>
                </c:pt>
                <c:pt idx="1">
                  <c:v>Fert. &amp; Chem.</c:v>
                </c:pt>
                <c:pt idx="2">
                  <c:v>AM</c:v>
                </c:pt>
                <c:pt idx="3">
                  <c:v>SP2M</c:v>
                </c:pt>
                <c:pt idx="4">
                  <c:v>JESA Tech</c:v>
                </c:pt>
                <c:pt idx="5">
                  <c:v>Energy Ops</c:v>
                </c:pt>
                <c:pt idx="6">
                  <c:v>Global Mining</c:v>
                </c:pt>
                <c:pt idx="7">
                  <c:v>B&amp;I</c:v>
                </c:pt>
                <c:pt idx="8">
                  <c:v>Advisory</c:v>
                </c:pt>
                <c:pt idx="9">
                  <c:v>B&amp;C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13.0</c:v>
                </c:pt>
                <c:pt idx="1">
                  <c:v>75.0</c:v>
                </c:pt>
                <c:pt idx="2">
                  <c:v>44.0</c:v>
                </c:pt>
                <c:pt idx="3">
                  <c:v>-333.0</c:v>
                </c:pt>
                <c:pt idx="4">
                  <c:v>5.0</c:v>
                </c:pt>
                <c:pt idx="5">
                  <c:v>49.0</c:v>
                </c:pt>
                <c:pt idx="6">
                  <c:v>-7.0</c:v>
                </c:pt>
                <c:pt idx="7">
                  <c:v>-2.0</c:v>
                </c:pt>
                <c:pt idx="8">
                  <c:v>-15.0</c:v>
                </c:pt>
                <c:pt idx="9">
                  <c:v>-0.0</c:v>
                </c:pt>
              </c:numCache>
            </c:numRef>
          </c:val>
        </c:ser>
        <c:dLbls>
          <c:numFmt formatCode="+#,##0;−#,##0;&quot;&quot;" sourceLinked="0"/>
          <c:txPr>
            <a:bodyPr/>
            <a:lstStyle/>
            <a:p>
              <a:pPr>
                <a:defRPr sz="75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75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Paid to 15/10</c:v>
                </c:pt>
                <c:pt idx="1">
                  <c:v>Approved – LC maturities</c:v>
                </c:pt>
                <c:pt idx="2">
                  <c:v>Approved – supplier invoices</c:v>
                </c:pt>
                <c:pt idx="3">
                  <c:v>Pending approval</c:v>
                </c:pt>
                <c:pt idx="4">
                  <c:v>Total October outflow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220.27320822</c:v>
                </c:pt>
                <c:pt idx="2">
                  <c:v>376.7167884441774</c:v>
                </c:pt>
                <c:pt idx="3">
                  <c:v>477.7994740509534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0F3B63"/>
              </a:solidFill>
              <a:ln>
                <a:noFill/>
              </a:ln>
            </c:spPr>
          </c:dPt>
          <c:dPt>
            <c:idx val="1"/>
            <c:spPr>
              <a:solidFill>
                <a:srgbClr val="C8972B"/>
              </a:solidFill>
              <a:ln>
                <a:noFill/>
              </a:ln>
            </c:spPr>
          </c:dPt>
          <c:dPt>
            <c:idx val="2"/>
            <c:spPr>
              <a:solidFill>
                <a:srgbClr val="C8972B"/>
              </a:solidFill>
              <a:ln>
                <a:noFill/>
              </a:ln>
            </c:spPr>
          </c:dPt>
          <c:dPt>
            <c:idx val="3"/>
            <c:spPr>
              <a:solidFill>
                <a:srgbClr val="E08A2E"/>
              </a:solidFill>
              <a:ln>
                <a:noFill/>
              </a:ln>
            </c:spPr>
          </c:dPt>
          <c:dPt>
            <c:idx val="4"/>
            <c:spPr>
              <a:solidFill>
                <a:srgbClr val="0F3B6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Arial"/>
                      </a:rPr>
                      <a:t>220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Arial"/>
                      </a:rPr>
                      <a:t>+156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Arial"/>
                      </a:rPr>
                      <a:t>+101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Arial"/>
                      </a:rPr>
                      <a:t>+64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Arial"/>
                      </a:rPr>
                      <a:t>541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Paid to 15/10</c:v>
                </c:pt>
                <c:pt idx="1">
                  <c:v>Approved – LC maturities</c:v>
                </c:pt>
                <c:pt idx="2">
                  <c:v>Approved – supplier invoices</c:v>
                </c:pt>
                <c:pt idx="3">
                  <c:v>Pending approval</c:v>
                </c:pt>
                <c:pt idx="4">
                  <c:v>Total October outflow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220.27320822</c:v>
                </c:pt>
                <c:pt idx="1">
                  <c:v>156.4435802241774</c:v>
                </c:pt>
                <c:pt idx="2">
                  <c:v>101.082685606776</c:v>
                </c:pt>
                <c:pt idx="3">
                  <c:v>63.92444617999999</c:v>
                </c:pt>
                <c:pt idx="4">
                  <c:v>541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85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Approved</c:v>
                </c:pt>
              </c:strCache>
            </c:strRef>
          </c:tx>
          <c:spPr>
            <a:solidFill>
              <a:srgbClr val="2E6DA4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Pending AP (unpaid)</c:v>
                </c:pt>
                <c:pt idx="1">
                  <c:v>Paid after cut-off, awaiting SAP</c:v>
                </c:pt>
                <c:pt idx="2">
                  <c:v>Pending Treasury (unpaid)</c:v>
                </c:pt>
                <c:pt idx="3">
                  <c:v>Paid per log, not yet in SAP</c:v>
                </c:pt>
                <c:pt idx="4">
                  <c:v>Paid, SAP clearing reversed</c:v>
                </c:pt>
                <c:pt idx="5">
                  <c:v>Paid per log, no date</c:v>
                </c:pt>
                <c:pt idx="6">
                  <c:v>Cancelled – to review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44.0</c:v>
                </c:pt>
                <c:pt idx="1">
                  <c:v>23.8</c:v>
                </c:pt>
                <c:pt idx="2">
                  <c:v>13.2</c:v>
                </c:pt>
                <c:pt idx="3">
                  <c:v>11.3</c:v>
                </c:pt>
                <c:pt idx="4">
                  <c:v>2.3</c:v>
                </c:pt>
                <c:pt idx="5">
                  <c:v>0.8</c:v>
                </c:pt>
                <c:pt idx="6">
                  <c:v>0.2</c:v>
                </c:pt>
              </c:numCache>
            </c:numRef>
          </c:val>
        </c:ser>
        <c:dLbls>
          <c:numFmt formatCode="#,##0.0;−#,##0.0;&quot;&quot;" sourceLinked="0"/>
          <c:txPr>
            <a:bodyPr/>
            <a:lstStyle/>
            <a:p>
              <a:pPr>
                <a:defRPr sz="85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80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4411</c:v>
                </c:pt>
              </c:strCache>
            </c:strRef>
          </c:tx>
          <c:spPr>
            <a:solidFill>
              <a:srgbClr val="0F3B63"/>
            </a:solidFill>
            <a:ln>
              <a:noFill/>
            </a:ln>
          </c:spPr>
          <c:dLbls>
            <c:dLbl>
              <c:idx val="2"/>
              <c:delete val="1"/>
            </c:dLbl>
            <c:dLbl>
              <c:idx val="3"/>
              <c:delete val="1"/>
            </c:dLbl>
            <c:numFmt formatCode="#,##0;−#,##0;&quot;&quot;" sourceLinked="0"/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Overdue</c:v>
                </c:pt>
                <c:pt idx="1">
                  <c:v>Due ≤ 30d</c:v>
                </c:pt>
                <c:pt idx="2">
                  <c:v>Due 31–60d</c:v>
                </c:pt>
                <c:pt idx="3">
                  <c:v>Due &gt; 60d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721.0</c:v>
                </c:pt>
                <c:pt idx="1">
                  <c:v>71.0</c:v>
                </c:pt>
                <c:pt idx="2">
                  <c:v>16.0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Parked Invoice</c:v>
                </c:pt>
              </c:strCache>
            </c:strRef>
          </c:tx>
          <c:spPr>
            <a:solidFill>
              <a:srgbClr val="2E6DA4"/>
            </a:solidFill>
            <a:ln>
              <a:noFill/>
            </a:ln>
          </c:spPr>
          <c:dLbls>
            <c:numFmt formatCode="#,##0;−#,##0;&quot;&quot;" sourceLinked="0"/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Overdue</c:v>
                </c:pt>
                <c:pt idx="1">
                  <c:v>Due ≤ 30d</c:v>
                </c:pt>
                <c:pt idx="2">
                  <c:v>Due 31–60d</c:v>
                </c:pt>
                <c:pt idx="3">
                  <c:v>Due &gt; 60d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431.0</c:v>
                </c:pt>
                <c:pt idx="1">
                  <c:v>184.0</c:v>
                </c:pt>
                <c:pt idx="2">
                  <c:v>303.0</c:v>
                </c:pt>
                <c:pt idx="3">
                  <c:v>118.0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Downpayment</c:v>
                </c:pt>
              </c:strCache>
            </c:strRef>
          </c:tx>
          <c:spPr>
            <a:solidFill>
              <a:srgbClr val="C8972B"/>
            </a:solidFill>
            <a:ln>
              <a:noFill/>
            </a:ln>
          </c:spPr>
          <c:dLbls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;−#,##0;&quot;&quot;" sourceLinked="0"/>
            <c:txPr>
              <a:bodyPr/>
              <a:lstStyle/>
              <a:p>
                <a:pPr>
                  <a:defRPr sz="800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Overdue</c:v>
                </c:pt>
                <c:pt idx="1">
                  <c:v>Due ≤ 30d</c:v>
                </c:pt>
                <c:pt idx="2">
                  <c:v>Due 31–60d</c:v>
                </c:pt>
                <c:pt idx="3">
                  <c:v>Due &gt; 60d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262.0</c:v>
                </c:pt>
                <c:pt idx="1">
                  <c:v>8.0</c:v>
                </c:pt>
                <c:pt idx="2">
                  <c:v>27.0</c:v>
                </c:pt>
                <c:pt idx="3">
                  <c:v>0.0</c:v>
                </c:pt>
              </c:numCache>
            </c:numRef>
          </c:val>
        </c:ser>
        <c:dLbls>
          <c:numFmt formatCode="#,##0;−#,##0;&quot;&quot;" sourceLinked="0"/>
          <c:txPr>
            <a:bodyPr/>
            <a:lstStyle/>
            <a:p>
              <a:pPr>
                <a:defRPr sz="80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85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Maturities</c:v>
                </c:pt>
              </c:strCache>
            </c:strRef>
          </c:tx>
          <c:spPr>
            <a:solidFill>
              <a:srgbClr val="0F3B63"/>
            </a:solidFill>
            <a:ln>
              <a:noFill/>
            </a:ln>
          </c:spPr>
          <c:cat>
            <c:strRef>
              <c:f>Sheet1!$A$2:$A$15</c:f>
              <c:strCache>
                <c:ptCount val="14"/>
                <c:pt idx="0">
                  <c:v>Oct-26</c:v>
                </c:pt>
                <c:pt idx="1">
                  <c:v>Nov-26</c:v>
                </c:pt>
                <c:pt idx="2">
                  <c:v>Dec-26</c:v>
                </c:pt>
                <c:pt idx="3">
                  <c:v>Jan-27</c:v>
                </c:pt>
                <c:pt idx="4">
                  <c:v>Feb-27</c:v>
                </c:pt>
                <c:pt idx="5">
                  <c:v>Mar-27</c:v>
                </c:pt>
                <c:pt idx="6">
                  <c:v>Apr-27</c:v>
                </c:pt>
                <c:pt idx="7">
                  <c:v>May-27</c:v>
                </c:pt>
                <c:pt idx="8">
                  <c:v>Jun-27</c:v>
                </c:pt>
                <c:pt idx="9">
                  <c:v>Jul-27</c:v>
                </c:pt>
                <c:pt idx="10">
                  <c:v>Aug-27</c:v>
                </c:pt>
                <c:pt idx="11">
                  <c:v>Sep-27</c:v>
                </c:pt>
                <c:pt idx="12">
                  <c:v>Oct-27</c:v>
                </c:pt>
                <c:pt idx="13">
                  <c:v>Nov-27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156.0</c:v>
                </c:pt>
                <c:pt idx="1">
                  <c:v>344.0</c:v>
                </c:pt>
                <c:pt idx="2">
                  <c:v>130.0</c:v>
                </c:pt>
                <c:pt idx="3">
                  <c:v>358.0</c:v>
                </c:pt>
                <c:pt idx="4">
                  <c:v>22.0</c:v>
                </c:pt>
                <c:pt idx="5">
                  <c:v>122.0</c:v>
                </c:pt>
                <c:pt idx="6">
                  <c:v>0.0</c:v>
                </c:pt>
                <c:pt idx="7">
                  <c:v>0.0</c:v>
                </c:pt>
                <c:pt idx="8">
                  <c:v>70.0</c:v>
                </c:pt>
                <c:pt idx="9">
                  <c:v>334.0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47.0</c:v>
                </c:pt>
              </c:numCache>
            </c:numRef>
          </c:val>
        </c:ser>
        <c:dLbls>
          <c:numFmt formatCode="#,##0;−#,##0;&quot;&quot;" sourceLinked="0"/>
          <c:txPr>
            <a:bodyPr/>
            <a:lstStyle/>
            <a:p>
              <a:pPr>
                <a:defRPr sz="80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80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Encours</c:v>
                </c:pt>
              </c:strCache>
            </c:strRef>
          </c:tx>
          <c:spPr>
            <a:solidFill>
              <a:srgbClr val="3A9C8C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Amount to be split by delivery</c:v>
                </c:pt>
                <c:pt idx="1">
                  <c:v>24-month rescheduling to finalise</c:v>
                </c:pt>
                <c:pt idx="2">
                  <c:v>No action recorded</c:v>
                </c:pt>
                <c:pt idx="3">
                  <c:v>Awaiting LC copy from buyer</c:v>
                </c:pt>
                <c:pt idx="4">
                  <c:v>Remaining payment pushed to 2027</c:v>
                </c:pt>
                <c:pt idx="5">
                  <c:v>Awaiting JESA response (suspension)</c:v>
                </c:pt>
                <c:pt idx="6">
                  <c:v>Finance to check with bank</c:v>
                </c:pt>
                <c:pt idx="7">
                  <c:v>LC to close</c:v>
                </c:pt>
                <c:pt idx="8">
                  <c:v>Awaiting draft LC (procurement)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449.0</c:v>
                </c:pt>
                <c:pt idx="1">
                  <c:v>386.0</c:v>
                </c:pt>
                <c:pt idx="2">
                  <c:v>286.0</c:v>
                </c:pt>
                <c:pt idx="3">
                  <c:v>164.0</c:v>
                </c:pt>
                <c:pt idx="4">
                  <c:v>102.0</c:v>
                </c:pt>
                <c:pt idx="5">
                  <c:v>76.0</c:v>
                </c:pt>
                <c:pt idx="6">
                  <c:v>30.0</c:v>
                </c:pt>
                <c:pt idx="7">
                  <c:v>27.0</c:v>
                </c:pt>
                <c:pt idx="8">
                  <c:v>26.0</c:v>
                </c:pt>
              </c:numCache>
            </c:numRef>
          </c:val>
        </c:ser>
        <c:dLbls>
          <c:numFmt formatCode="#,##0;−#,##0;&quot;&quot;" sourceLinked="0"/>
          <c:txPr>
            <a:bodyPr/>
            <a:lstStyle/>
            <a:p>
              <a:pPr>
                <a:defRPr sz="80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75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B2F4B"/>
                </a:solidFill>
              </a:rPr>
              <a:t>Due-date buckets by origin (MMAD)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4411</c:v>
                </c:pt>
              </c:strCache>
            </c:strRef>
          </c:tx>
          <c:spPr>
            <a:solidFill>
              <a:srgbClr val="0F3B6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Overdue</c:v>
                </c:pt>
                <c:pt idx="1">
                  <c:v>Due ≤ 30d</c:v>
                </c:pt>
                <c:pt idx="2">
                  <c:v>Due 31–60d</c:v>
                </c:pt>
                <c:pt idx="3">
                  <c:v>Due &gt; 60d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721.0</c:v>
                </c:pt>
                <c:pt idx="1">
                  <c:v>71.0</c:v>
                </c:pt>
                <c:pt idx="2">
                  <c:v>16.0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Parked Invoice</c:v>
                </c:pt>
              </c:strCache>
            </c:strRef>
          </c:tx>
          <c:spPr>
            <a:solidFill>
              <a:srgbClr val="2E6D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Overdue</c:v>
                </c:pt>
                <c:pt idx="1">
                  <c:v>Due ≤ 30d</c:v>
                </c:pt>
                <c:pt idx="2">
                  <c:v>Due 31–60d</c:v>
                </c:pt>
                <c:pt idx="3">
                  <c:v>Due &gt; 60d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431.0</c:v>
                </c:pt>
                <c:pt idx="1">
                  <c:v>184.0</c:v>
                </c:pt>
                <c:pt idx="2">
                  <c:v>303.0</c:v>
                </c:pt>
                <c:pt idx="3">
                  <c:v>118.0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Downpayment</c:v>
                </c:pt>
              </c:strCache>
            </c:strRef>
          </c:tx>
          <c:spPr>
            <a:solidFill>
              <a:srgbClr val="C8972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Overdue</c:v>
                </c:pt>
                <c:pt idx="1">
                  <c:v>Due ≤ 30d</c:v>
                </c:pt>
                <c:pt idx="2">
                  <c:v>Due 31–60d</c:v>
                </c:pt>
                <c:pt idx="3">
                  <c:v>Due &gt; 60d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262.0</c:v>
                </c:pt>
                <c:pt idx="1">
                  <c:v>8.0</c:v>
                </c:pt>
                <c:pt idx="2">
                  <c:v>27.0</c:v>
                </c:pt>
                <c:pt idx="3">
                  <c:v>0.0</c:v>
                </c:pt>
              </c:numCache>
            </c:numRef>
          </c:val>
        </c:ser>
        <c:dLbls>
          <c:numFmt formatCode="#,##0;−#,##0;&quot;&quot;" sourceLinked="0"/>
          <c:txPr>
            <a:bodyPr/>
            <a:lstStyle/>
            <a:p>
              <a:pPr>
                <a:defRPr sz="750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8D2"/>
            </a:solidFill>
          </a:ln>
        </c:spPr>
        <c:txPr>
          <a:bodyPr/>
          <a:lstStyle/>
          <a:p>
            <a:pPr>
              <a:defRPr sz="800">
                <a:solidFill>
                  <a:srgbClr val="1F2A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Relationship Id="rId3" Type="http://schemas.openxmlformats.org/officeDocument/2006/relationships/chart" Target="../charts/chart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8972B"/>
                </a:solidFill>
                <a:latin typeface="Arial"/>
              </a:rPr>
              <a:t>JESA  ·  ACCOUNTS RECEIVABLE, CASH &amp; PAYABLES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1B2F4B"/>
                </a:solidFill>
                <a:latin typeface="Arial"/>
              </a:rPr>
              <a:t>AR, Cash &amp; Payables 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971800"/>
            <a:ext cx="1737360" cy="36576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8229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B2F4B"/>
                </a:solidFill>
                <a:latin typeface="Arial"/>
              </a:rPr>
              <a:t>Weekly Executive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6B7B8C"/>
                </a:solidFill>
                <a:latin typeface="Arial"/>
              </a:rPr>
              <a:t>Deck as of 21 Oct 2026   ·   AR snapshot 14 Oct 2026 (vs 07 Oct 2026 and 07 Oct 2026 baseline)   ·   Cash to 19/10   ·   Figures in MMAD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074920"/>
            <a:ext cx="1849069" cy="1234440"/>
          </a:xfrm>
          <a:prstGeom prst="roundRect">
            <a:avLst>
              <a:gd name="adj" fmla="val 12000"/>
            </a:avLst>
          </a:prstGeom>
          <a:solidFill>
            <a:srgbClr val="B54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138928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GROSS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49240"/>
            <a:ext cx="1666189" cy="441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19,817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035040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Incl. unrecognized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33117" y="5074920"/>
            <a:ext cx="1849069" cy="1234440"/>
          </a:xfrm>
          <a:prstGeom prst="roundRect">
            <a:avLst>
              <a:gd name="adj" fmla="val 12000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4557" y="5138928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UNRECOGNIZED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4557" y="5349240"/>
            <a:ext cx="1666189" cy="441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7,128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557" y="6035040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Not yet booked as 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1914" y="5074920"/>
            <a:ext cx="1849069" cy="1234440"/>
          </a:xfrm>
          <a:prstGeom prst="roundRect">
            <a:avLst>
              <a:gd name="adj" fmla="val 12000"/>
            </a:avLst>
          </a:prstGeom>
          <a:solidFill>
            <a:srgbClr val="6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3354" y="5138928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TOTAL 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3354" y="5349240"/>
            <a:ext cx="1666189" cy="441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12,689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3354" y="6035040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Recognized AR balance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0711" y="5074920"/>
            <a:ext cx="1849069" cy="1234440"/>
          </a:xfrm>
          <a:prstGeom prst="roundRect">
            <a:avLst>
              <a:gd name="adj" fmla="val 12000"/>
            </a:avLst>
          </a:prstGeom>
          <a:solidFill>
            <a:srgbClr val="3A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2151" y="5138928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UNBILLED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2151" y="5349240"/>
            <a:ext cx="1666189" cy="441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9,514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2151" y="6035040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Delivered, not billed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9508" y="5074920"/>
            <a:ext cx="1849069" cy="1234440"/>
          </a:xfrm>
          <a:prstGeom prst="roundRect">
            <a:avLst>
              <a:gd name="adj" fmla="val 12000"/>
            </a:avLst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0948" y="5138928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UNPAID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0948" y="5349240"/>
            <a:ext cx="1666189" cy="441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2,627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0948" y="6035040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Billed, not collected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68306" y="5074920"/>
            <a:ext cx="1849069" cy="1234440"/>
          </a:xfrm>
          <a:prstGeom prst="roundRect">
            <a:avLst>
              <a:gd name="adj" fmla="val 12000"/>
            </a:avLst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9746" y="5138928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ADVANCE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59746" y="5349240"/>
            <a:ext cx="1666189" cy="441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548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59746" y="6035040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Advance payment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Key 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The AR, cash and payables position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307592"/>
            <a:ext cx="438912" cy="438912"/>
          </a:xfrm>
          <a:prstGeom prst="ellipse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2344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1B2F4B"/>
                </a:solidFill>
                <a:latin typeface="Arial"/>
              </a:rPr>
              <a:t>Total AR down 162 MMAD vs last week and down 164 MMAD vs the month-start (07 Oct)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00200"/>
            <a:ext cx="10515600" cy="4480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2A37"/>
                </a:solidFill>
                <a:latin typeface="Arial"/>
              </a:rPr>
              <a:t>Total AR stands at 12,689 MMAD (−162 WoW, −164 vs month start). Adding 7,128 MMAD of unrecognized revenue (−666 vs the previous BU update), gross exposure is 19,817 MMAD. Unbilled is 9,514 MMAD (75% of AR, −168 WoW); unpaid is 2,627 MMAD (+6 WoW, +6 vs baseline).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176272"/>
            <a:ext cx="10515600" cy="10972"/>
          </a:xfrm>
          <a:prstGeom prst="rect">
            <a:avLst/>
          </a:prstGeom>
          <a:solidFill>
            <a:srgbClr val="D5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" y="2322576"/>
            <a:ext cx="438912" cy="438912"/>
          </a:xfrm>
          <a:prstGeom prst="ellipse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49424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1B2F4B"/>
                </a:solidFill>
                <a:latin typeface="Arial"/>
              </a:rPr>
              <a:t>Collections: 110 MMAD received in October to date (+82 WoW), 7,357 MMAD YTD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615184"/>
            <a:ext cx="10515600" cy="4480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2A37"/>
                </a:solidFill>
                <a:latin typeface="Arial"/>
              </a:rPr>
              <a:t>October receipts moved from 27 to 110 MMAD this week. YTD payments received reach 7,357 MMAD (7.36 Bn MAD).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3191256"/>
            <a:ext cx="10515600" cy="10972"/>
          </a:xfrm>
          <a:prstGeom prst="rect">
            <a:avLst/>
          </a:prstGeom>
          <a:solidFill>
            <a:srgbClr val="D5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" y="3337560"/>
            <a:ext cx="438912" cy="438912"/>
          </a:xfrm>
          <a:prstGeom prst="ellipse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264408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1B2F4B"/>
                </a:solidFill>
                <a:latin typeface="Arial"/>
              </a:rPr>
              <a:t>Procurement cash position: net −171 MMAD Jul–Oct including October commitments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630168"/>
            <a:ext cx="10515600" cy="4480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2A37"/>
                </a:solidFill>
                <a:latin typeface="Arial"/>
              </a:rPr>
              <a:t>Cumulative procurement cash IN of 2,104 MMAD vs cash OUT of 2,276 MMAD (Jul–Sep actuals, Oct actuals to 15/10, plus 321 MMAD of approved and pending October commitments). October alone: 151 MMAD in vs 220 MMAD paid, 321 MMAD still to pay.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4206240"/>
            <a:ext cx="10515600" cy="10972"/>
          </a:xfrm>
          <a:prstGeom prst="rect">
            <a:avLst/>
          </a:prstGeom>
          <a:solidFill>
            <a:srgbClr val="D5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2920" y="4352544"/>
            <a:ext cx="438912" cy="438912"/>
          </a:xfrm>
          <a:prstGeom prst="ellipse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279392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1B2F4B"/>
                </a:solidFill>
                <a:latin typeface="Arial"/>
              </a:rPr>
              <a:t>Payables: 2,144 MMAD of supplier invoices in AP (4411 + parked + downpayments), 1,415 MMAD past due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645152"/>
            <a:ext cx="10515600" cy="4480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2A37"/>
                </a:solidFill>
                <a:latin typeface="Arial"/>
              </a:rPr>
              <a:t>2,803 open supplier lines. Parked invoices and 4411 open items dominate; see the AP slide for due-date buckets, tiers and top suppliers.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5221224"/>
            <a:ext cx="10515600" cy="10972"/>
          </a:xfrm>
          <a:prstGeom prst="rect">
            <a:avLst/>
          </a:prstGeom>
          <a:solidFill>
            <a:srgbClr val="D5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5367528"/>
            <a:ext cx="438912" cy="438912"/>
          </a:xfrm>
          <a:prstGeom prst="ellipse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294376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1B2F4B"/>
                </a:solidFill>
                <a:latin typeface="Arial"/>
              </a:rPr>
              <a:t>Letters of credit: 912 MMAD outstanding on opened LCs, 1,583 MMAD including LCs still to be opened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660136"/>
            <a:ext cx="10515600" cy="4480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2A37"/>
                </a:solidFill>
                <a:latin typeface="Arial"/>
              </a:rPr>
              <a:t>October LC maturities of 156 MMAD are counted as approved payments in the cash position. 675 MMAD falls in 2026 and 908 MMAD in 2027 per the maturity schedule.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AR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Unbilled is 75% of total AR; AR −162 MMAD week on week and −164 vs the month-start baseline (07-Oct)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143000"/>
            <a:ext cx="1849069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52728"/>
            <a:ext cx="64008" cy="923544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07008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GROSS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417320"/>
            <a:ext cx="166618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19,817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773936"/>
            <a:ext cx="166618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WoW  </a:t>
            </a:r>
            <a:r>
              <a:rPr sz="1000" b="1" i="0">
                <a:solidFill>
                  <a:srgbClr val="2E7D4F"/>
                </a:solidFill>
                <a:latin typeface="Arial"/>
              </a:rPr>
              <a:t>−828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33117" y="1143000"/>
            <a:ext cx="1849069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33117" y="1252728"/>
            <a:ext cx="64008" cy="923544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0277" y="1207008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UNRECOGNIZED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0277" y="1417320"/>
            <a:ext cx="166618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7,128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0277" y="1773936"/>
            <a:ext cx="166618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WoW  </a:t>
            </a:r>
            <a:r>
              <a:rPr sz="1000" b="1" i="0">
                <a:solidFill>
                  <a:srgbClr val="2E7D4F"/>
                </a:solidFill>
                <a:latin typeface="Arial"/>
              </a:rPr>
              <a:t>−666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91914" y="1143000"/>
            <a:ext cx="1849069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1914" y="1252728"/>
            <a:ext cx="64008" cy="923544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9074" y="1207008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TOTAL 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9074" y="1417320"/>
            <a:ext cx="166618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12,689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9074" y="1773936"/>
            <a:ext cx="166618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WoW  </a:t>
            </a:r>
            <a:r>
              <a:rPr sz="1000" b="1" i="0">
                <a:solidFill>
                  <a:srgbClr val="2E7D4F"/>
                </a:solidFill>
                <a:latin typeface="Arial"/>
              </a:rPr>
              <a:t>−162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9074" y="1993392"/>
            <a:ext cx="166618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vs month start  </a:t>
            </a:r>
            <a:r>
              <a:rPr sz="1000" b="1" i="0">
                <a:solidFill>
                  <a:srgbClr val="2E7D4F"/>
                </a:solidFill>
                <a:latin typeface="Arial"/>
              </a:rPr>
              <a:t>−164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0711" y="1143000"/>
            <a:ext cx="1849069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0711" y="1252728"/>
            <a:ext cx="64008" cy="923544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7871" y="1207008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UNBILLED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7871" y="1417320"/>
            <a:ext cx="166618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9,514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7871" y="1773936"/>
            <a:ext cx="166618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WoW  </a:t>
            </a:r>
            <a:r>
              <a:rPr sz="1000" b="1" i="0">
                <a:solidFill>
                  <a:srgbClr val="2E7D4F"/>
                </a:solidFill>
                <a:latin typeface="Arial"/>
              </a:rPr>
              <a:t>−168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7871" y="1993392"/>
            <a:ext cx="166618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vs month start  </a:t>
            </a:r>
            <a:r>
              <a:rPr sz="1000" b="1" i="0">
                <a:solidFill>
                  <a:srgbClr val="2E7D4F"/>
                </a:solidFill>
                <a:latin typeface="Arial"/>
              </a:rPr>
              <a:t>−170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9508" y="1143000"/>
            <a:ext cx="1849069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09508" y="1252728"/>
            <a:ext cx="64008" cy="923544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6668" y="1207008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UNPAID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6668" y="1417320"/>
            <a:ext cx="166618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2,627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6668" y="1773936"/>
            <a:ext cx="166618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WoW  </a:t>
            </a:r>
            <a:r>
              <a:rPr sz="1000" b="1" i="0">
                <a:solidFill>
                  <a:srgbClr val="B5473A"/>
                </a:solidFill>
                <a:latin typeface="Arial"/>
              </a:rPr>
              <a:t>+6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6668" y="1993392"/>
            <a:ext cx="166618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vs month start  </a:t>
            </a:r>
            <a:r>
              <a:rPr sz="1000" b="1" i="0">
                <a:solidFill>
                  <a:srgbClr val="B5473A"/>
                </a:solidFill>
                <a:latin typeface="Arial"/>
              </a:rPr>
              <a:t>+6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68306" y="1143000"/>
            <a:ext cx="1849069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68306" y="1252728"/>
            <a:ext cx="64008" cy="923544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05466" y="1207008"/>
            <a:ext cx="166618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ADVANCE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05466" y="1417320"/>
            <a:ext cx="166618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548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05466" y="1773936"/>
            <a:ext cx="166618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WoW  </a:t>
            </a:r>
            <a:r>
              <a:rPr sz="1000" b="1" i="0">
                <a:solidFill>
                  <a:srgbClr val="7A8794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05466" y="1993392"/>
            <a:ext cx="166618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vs month start  </a:t>
            </a:r>
            <a:r>
              <a:rPr sz="1000" b="1" i="0">
                <a:solidFill>
                  <a:srgbClr val="7A8794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2468880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2F4B"/>
                </a:solidFill>
                <a:latin typeface="Arial"/>
              </a:rPr>
              <a:t>AR by component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2761488"/>
            <a:ext cx="5029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B8C"/>
                </a:solidFill>
                <a:latin typeface="Arial"/>
              </a:rPr>
              <a:t>Unbilled dominates the receivable book (MMAD)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182880" y="3017520"/>
          <a:ext cx="27432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6" name="Rectangle 45"/>
          <p:cNvSpPr/>
          <p:nvPr/>
        </p:nvSpPr>
        <p:spPr>
          <a:xfrm>
            <a:off x="3063240" y="3639312"/>
            <a:ext cx="201168" cy="201168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356616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B2F4B"/>
                </a:solidFill>
                <a:latin typeface="Arial"/>
              </a:rPr>
              <a:t>Unbilled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384048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B8C"/>
                </a:solidFill>
                <a:latin typeface="Arial"/>
              </a:rPr>
              <a:t>9,514  ·  75% of 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4416552"/>
            <a:ext cx="201168" cy="201168"/>
          </a:xfrm>
          <a:prstGeom prst="rect">
            <a:avLst/>
          </a:prstGeom>
          <a:solidFill>
            <a:srgbClr val="7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37560" y="434340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B2F4B"/>
                </a:solidFill>
                <a:latin typeface="Arial"/>
              </a:rPr>
              <a:t>Unpaid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7560" y="461772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B8C"/>
                </a:solidFill>
                <a:latin typeface="Arial"/>
              </a:rPr>
              <a:t>2,627  ·  21% of 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63240" y="5193792"/>
            <a:ext cx="201168" cy="201168"/>
          </a:xfrm>
          <a:prstGeom prst="rect">
            <a:avLst/>
          </a:prstGeom>
          <a:solidFill>
            <a:srgbClr val="C9D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37560" y="512064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B2F4B"/>
                </a:solidFill>
                <a:latin typeface="Arial"/>
              </a:rPr>
              <a:t>Advance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37560" y="5394959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B8C"/>
                </a:solidFill>
                <a:latin typeface="Arial"/>
              </a:rPr>
              <a:t>548  ·  4% of AR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46320" y="2514600"/>
            <a:ext cx="7040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46320" y="2514600"/>
            <a:ext cx="73152" cy="10058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74920" y="2560320"/>
            <a:ext cx="20116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600" b="1" i="0">
                <a:solidFill>
                  <a:srgbClr val="2E6DA4"/>
                </a:solidFill>
                <a:latin typeface="Arial"/>
              </a:rPr>
              <a:t>98%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0" y="2606040"/>
            <a:ext cx="475488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1B2F4B"/>
                </a:solidFill>
                <a:latin typeface="Arial"/>
              </a:rPr>
              <a:t>of AR is OCP-related</a:t>
            </a:r>
          </a:p>
          <a:p>
            <a:pPr algn="l"/>
            <a:r>
              <a:rPr sz="1100" b="0" i="0">
                <a:solidFill>
                  <a:srgbClr val="6B7B8C"/>
                </a:solidFill>
                <a:latin typeface="Arial"/>
              </a:rPr>
              <a:t>OCP 12,429  ·  Non-OCP 260 (2.0%)</a:t>
            </a:r>
          </a:p>
          <a:p>
            <a:pPr algn="l"/>
            <a:r>
              <a:rPr sz="1000" b="0" i="0">
                <a:solidFill>
                  <a:srgbClr val="6B7B8C"/>
                </a:solidFill>
                <a:latin typeface="Arial"/>
              </a:rPr>
              <a:t>Receivables remain almost entirely concentrated with OCP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0" y="3657600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2F4B"/>
                </a:solidFill>
                <a:latin typeface="Arial"/>
              </a:rPr>
              <a:t>Labor vs non-labor split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7760" y="3950208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B8C"/>
                </a:solidFill>
                <a:latin typeface="Arial"/>
              </a:rPr>
              <a:t>68% of the book is non-labor (procurement scope)</a:t>
            </a:r>
          </a:p>
        </p:txBody>
      </p:sp>
      <p:graphicFrame>
        <p:nvGraphicFramePr>
          <p:cNvPr id="61" name="Chart 60"/>
          <p:cNvGraphicFramePr>
            <a:graphicFrameLocks noGrp="1"/>
          </p:cNvGraphicFramePr>
          <p:nvPr/>
        </p:nvGraphicFramePr>
        <p:xfrm>
          <a:off x="4846320" y="4160520"/>
          <a:ext cx="704088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AR Movement – week on week and vs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This week 14-Oct vs last week 07-Oct and vs the month-start baseline (07-Oct AR position)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88720"/>
          <a:ext cx="6949437" cy="19568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72387"/>
                <a:gridCol w="792164"/>
                <a:gridCol w="792164"/>
                <a:gridCol w="792164"/>
                <a:gridCol w="648134"/>
                <a:gridCol w="648134"/>
                <a:gridCol w="720149"/>
                <a:gridCol w="684141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Month start
07-Oct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Last week
07-Oct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This week
14-Oct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Δ WoW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Δ% WoW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Δ vs
month start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Δ% vs
month start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Advance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547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547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548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Unbilled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9,684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9,682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9,514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−168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−1.7%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−170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−1.8%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Unpaid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2,622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2,622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2,627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+6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+0.2%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+6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+0.2%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Total AR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12,853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12,851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12,689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−162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−1.3%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−164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−1.3%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Unrecognized revenue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7,794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7,128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−666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−8.5%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Gross exposure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20,645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19,817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−828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−4.0%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3429000"/>
            <a:ext cx="6949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What moved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03320"/>
            <a:ext cx="6949440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B2F4B"/>
                </a:solidFill>
                <a:latin typeface="Arial"/>
              </a:rPr>
              <a:t>Unbilled −168 WoW: </a:t>
            </a:r>
            <a:r>
              <a:rPr sz="950" b="0" i="0">
                <a:solidFill>
                  <a:srgbClr val="1F2A37"/>
                </a:solidFill>
                <a:latin typeface="Arial"/>
              </a:rPr>
              <a:t>decreases SP2M −92, AM −33, Water &amp; Env. −28, Fert. &amp; Chem. −10</a:t>
            </a:r>
            <a:r>
              <a:rPr sz="950" b="0" i="0">
                <a:solidFill>
                  <a:srgbClr val="1F2A37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B2F4B"/>
                </a:solidFill>
                <a:latin typeface="Arial"/>
              </a:rPr>
              <a:t>Unpaid +6 WoW: </a:t>
            </a:r>
            <a:r>
              <a:rPr sz="950" b="0" i="0">
                <a:solidFill>
                  <a:srgbClr val="1F2A37"/>
                </a:solidFill>
                <a:latin typeface="Arial"/>
              </a:rPr>
              <a:t>decreases AM −11, Global Mining −6, Energy Ops −2</a:t>
            </a:r>
            <a:r>
              <a:rPr sz="950" b="0" i="0">
                <a:solidFill>
                  <a:srgbClr val="1F2A37"/>
                </a:solidFill>
                <a:latin typeface="Arial"/>
              </a:rPr>
              <a:t>; increases Fert. &amp; Chem. +18, Advisory +4, B&amp;I +1</a:t>
            </a:r>
          </a:p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B2F4B"/>
                </a:solidFill>
                <a:latin typeface="Arial"/>
              </a:rPr>
              <a:t>Total AR −162 WoW: </a:t>
            </a:r>
            <a:r>
              <a:rPr sz="950" b="0" i="0">
                <a:solidFill>
                  <a:srgbClr val="1F2A37"/>
                </a:solidFill>
                <a:latin typeface="Arial"/>
              </a:rPr>
              <a:t>decreases SP2M −92, AM −44, Water &amp; Env. −28, Global Mining −6</a:t>
            </a:r>
            <a:r>
              <a:rPr sz="950" b="0" i="0">
                <a:solidFill>
                  <a:srgbClr val="1F2A37"/>
                </a:solidFill>
                <a:latin typeface="Arial"/>
              </a:rPr>
              <a:t>; increases Fert. &amp; Chem. +8</a:t>
            </a:r>
          </a:p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B2F4B"/>
                </a:solidFill>
                <a:latin typeface="Arial"/>
              </a:rPr>
              <a:t>Unbilled −170 vs month start: </a:t>
            </a:r>
            <a:r>
              <a:rPr sz="950" b="0" i="0">
                <a:solidFill>
                  <a:srgbClr val="1F2A37"/>
                </a:solidFill>
                <a:latin typeface="Arial"/>
              </a:rPr>
              <a:t>decreases SP2M −92, AM −33, Water &amp; Env. −28, Fert. &amp; Chem. −10</a:t>
            </a:r>
            <a:r>
              <a:rPr sz="950" b="0" i="0">
                <a:solidFill>
                  <a:srgbClr val="1F2A37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B2F4B"/>
                </a:solidFill>
                <a:latin typeface="Arial"/>
              </a:rPr>
              <a:t>Unpaid +6 vs month start: </a:t>
            </a:r>
            <a:r>
              <a:rPr sz="950" b="0" i="0">
                <a:solidFill>
                  <a:srgbClr val="1F2A37"/>
                </a:solidFill>
                <a:latin typeface="Arial"/>
              </a:rPr>
              <a:t>decreases AM −11, Global Mining −6, Energy Ops −2</a:t>
            </a:r>
            <a:r>
              <a:rPr sz="950" b="0" i="0">
                <a:solidFill>
                  <a:srgbClr val="1F2A37"/>
                </a:solidFill>
                <a:latin typeface="Arial"/>
              </a:rPr>
              <a:t>; increases Fert. &amp; Chem. +18, Advisory +4, B&amp;I +1</a:t>
            </a:r>
          </a:p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B2F4B"/>
                </a:solidFill>
                <a:latin typeface="Arial"/>
              </a:rPr>
              <a:t>Total AR −164 vs month start: </a:t>
            </a:r>
            <a:r>
              <a:rPr sz="950" b="0" i="0">
                <a:solidFill>
                  <a:srgbClr val="1F2A37"/>
                </a:solidFill>
                <a:latin typeface="Arial"/>
              </a:rPr>
              <a:t>decreases SP2M −92, AM −44, Water &amp; Env. −28, Global Mining −6</a:t>
            </a:r>
            <a:r>
              <a:rPr sz="950" b="0" i="0">
                <a:solidFill>
                  <a:srgbClr val="1F2A37"/>
                </a:solidFill>
                <a:latin typeface="Arial"/>
              </a:rPr>
              <a:t>; increases Fert. &amp; Chem. +8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143000"/>
            <a:ext cx="4297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AR aging by year of origin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589520" y="1463040"/>
          <a:ext cx="4297678" cy="18470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37371"/>
                <a:gridCol w="666881"/>
                <a:gridCol w="666881"/>
                <a:gridCol w="666881"/>
                <a:gridCol w="592783"/>
                <a:gridCol w="666881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M. start
07-Oct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07-Oct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14-Oct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Δ WoW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Δ vs
m. start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2022 &amp; before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4,212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4,212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4,204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2E7D4F"/>
                          </a:solidFill>
                          <a:latin typeface="Arial"/>
                        </a:rPr>
                        <a:t>−7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2E7D4F"/>
                          </a:solidFill>
                          <a:latin typeface="Arial"/>
                        </a:rPr>
                        <a:t>−7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8,277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8,275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8,121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2E7D4F"/>
                          </a:solidFill>
                          <a:latin typeface="Arial"/>
                        </a:rPr>
                        <a:t>−155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2E7D4F"/>
                          </a:solidFill>
                          <a:latin typeface="Arial"/>
                        </a:rPr>
                        <a:t>−156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Total AR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12,853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12,851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12,689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−162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−164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7498079" y="3429000"/>
          <a:ext cx="44805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AR Position by Business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Total AR by BU: this week vs last week and vs the month-start baseline (07-Oct) (MMAD)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43000"/>
          <a:ext cx="11567153" cy="31226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30285"/>
                <a:gridCol w="900168"/>
                <a:gridCol w="900168"/>
                <a:gridCol w="900168"/>
                <a:gridCol w="765142"/>
                <a:gridCol w="855159"/>
                <a:gridCol w="855159"/>
                <a:gridCol w="765142"/>
                <a:gridCol w="810151"/>
                <a:gridCol w="765142"/>
                <a:gridCol w="765142"/>
                <a:gridCol w="855159"/>
                <a:gridCol w="900168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Business Unit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Month start
07-Oct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Last week
07-Oct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This week
14-Oct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Δ WoW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Δ vs
month start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Unbilled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Δ WoW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Unpaid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Δ WoW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Advance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Unrecog.
revenue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Gross
exposure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Water &amp; Env.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3,531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3,531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3,504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−28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−28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2,583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−28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1,511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5,015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Fert. &amp; Chem.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3,234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3,234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3,242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2,570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−10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645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+18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1,382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4,624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3,328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3,328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3,236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−92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−92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2,720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−92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3,271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6,507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1,020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1,020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976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−44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−44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−33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−11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1,109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Energy Ops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859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Global Mining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557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557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B&amp;I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JESA Tech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Advisory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B&amp;C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Total JESA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12,853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12,851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12,689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−162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−164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9,514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−168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2,627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+6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548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7,128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19,817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74320" y="4448556"/>
          <a:ext cx="5760720" cy="19979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172200" y="4448556"/>
          <a:ext cx="5760720" cy="199796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Unbilled &amp; Unpaid – status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Where the receivable book sits in the process, with week-on-week movement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Unbilled by ownership (MMAD)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463040"/>
          <a:ext cx="5669275" cy="16824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49289"/>
                <a:gridCol w="724644"/>
                <a:gridCol w="724644"/>
                <a:gridCol w="724644"/>
                <a:gridCol w="596766"/>
                <a:gridCol w="682018"/>
                <a:gridCol w="76727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M. start
07-Oct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07-Oct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14-Oct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 AR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Δ WoW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Δ vs
m. start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Under OCP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7,154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7,152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7,099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2E7D4F"/>
                          </a:solidFill>
                          <a:latin typeface="Arial"/>
                        </a:rPr>
                        <a:t>−53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2E7D4F"/>
                          </a:solidFill>
                          <a:latin typeface="Arial"/>
                        </a:rPr>
                        <a:t>−55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SS postponed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1,389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1,389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1,389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Under JESA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814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2E7D4F"/>
                          </a:solidFill>
                          <a:latin typeface="Arial"/>
                        </a:rPr>
                        <a:t>−114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2E7D4F"/>
                          </a:solidFill>
                          <a:latin typeface="Arial"/>
                        </a:rPr>
                        <a:t>−114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At risk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2E7D4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2E7D4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Unbilled total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9,684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9,682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9,514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−168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−170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3429000"/>
            <a:ext cx="5669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Largest unbilled statuses (MMAD)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749039"/>
          <a:ext cx="5669280" cy="24963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2926080"/>
                <a:gridCol w="731520"/>
                <a:gridCol w="731520"/>
                <a:gridCol w="64008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07-Oct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14-Oct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Δ WoW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OCP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C-5.a Signed by client PM, pending OCP SS a…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3,961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3,924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2E7D4F"/>
                          </a:solidFill>
                          <a:latin typeface="Arial"/>
                        </a:rPr>
                        <a:t>−37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OCP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C-4.a Pending client PM approval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1,651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1,628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2E7D4F"/>
                          </a:solidFill>
                          <a:latin typeface="Arial"/>
                        </a:rPr>
                        <a:t>−23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OCP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J-3.c SSS postponed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1,389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1,389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B5473A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OCP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C-1.c Pending client PO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1,183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1,177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2E7D4F"/>
                          </a:solidFill>
                          <a:latin typeface="Arial"/>
                        </a:rPr>
                        <a:t>−5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JESA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J-3.a Signed by client, pending JESA SS sub…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2E7D4F"/>
                          </a:solidFill>
                          <a:latin typeface="Arial"/>
                        </a:rPr>
                        <a:t>−45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JESA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J-1.a Pending JESA DMR / attachment creatio…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B5473A"/>
                          </a:solidFill>
                          <a:latin typeface="Arial"/>
                        </a:rPr>
                        <a:t>+26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At Risk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C-1.b At risk (budget overrun)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OCP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C-1.d Pending PO correction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JESA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J-1.e Under JESA PC review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2E7D4F"/>
                          </a:solidFill>
                          <a:latin typeface="Arial"/>
                        </a:rPr>
                        <a:t>−6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55080" y="114300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Unpaid by OCP processing status (MMAD)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55080" y="1463040"/>
          <a:ext cx="5532117" cy="22311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58078"/>
                <a:gridCol w="686154"/>
                <a:gridCol w="686154"/>
                <a:gridCol w="686154"/>
                <a:gridCol w="643269"/>
                <a:gridCol w="643269"/>
                <a:gridCol w="729039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M. start
07-Oct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07-Oct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14-Oct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 unpaid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Δ WoW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Δ vs
m. start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En ordonnancement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+29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+29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Transmise tréso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+42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+42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Manque réception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2E7D4F"/>
                          </a:solidFill>
                          <a:latin typeface="Arial"/>
                        </a:rPr>
                        <a:t>−38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2E7D4F"/>
                          </a:solidFill>
                          <a:latin typeface="Arial"/>
                        </a:rPr>
                        <a:t>−38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Rejetée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829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829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784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2E7D4F"/>
                          </a:solidFill>
                          <a:latin typeface="Arial"/>
                        </a:rPr>
                        <a:t>−45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2E7D4F"/>
                          </a:solidFill>
                          <a:latin typeface="Arial"/>
                        </a:rPr>
                        <a:t>−45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OCP SUB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Autres / NON-OCP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566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566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+16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+16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Unpaid total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2,622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2,622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2,627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+6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+6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309360" y="3703320"/>
          <a:ext cx="562356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Unrecognized Revenue &amp; Suppliers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Unrecognized revenue of 7,128 MMAD incl. markup (−666 vs the previous BU update): executed scope not yet booked as 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52728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UNRECOGNIZED REVENUE (INCL. JESA COST + FEE)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5303520" cy="441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7,128  MMAD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Supplier scope 7,100 + lines to be adjusted 28  ·  previous BU update 7,794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88720"/>
            <a:ext cx="5715000" cy="1051560"/>
          </a:xfrm>
          <a:prstGeom prst="roundRect">
            <a:avLst>
              <a:gd name="adj" fmla="val 12000"/>
            </a:avLst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52728"/>
            <a:ext cx="5532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SUPPLIER PO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63040"/>
            <a:ext cx="5532120" cy="4089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21,831  MMAD contract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65960"/>
            <a:ext cx="5532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Recognized (SAP GR) 10,694  ·  unrecognized 4,485  ·  remaining to execute 6,653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3317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2F4B"/>
                </a:solidFill>
                <a:latin typeface="Arial"/>
              </a:rPr>
              <a:t>By business unit – previous BU update vs current (MMAD)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74320" y="2606040"/>
          <a:ext cx="566928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172200" y="2331720"/>
            <a:ext cx="5669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2F4B"/>
                </a:solidFill>
                <a:latin typeface="Arial"/>
              </a:rPr>
              <a:t>Unrecognized suppliers by status (MMAD)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080760" y="2606040"/>
          <a:ext cx="5852160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172200" y="4800600"/>
            <a:ext cx="5669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B2F4B"/>
                </a:solidFill>
                <a:latin typeface="Arial"/>
              </a:rPr>
              <a:t>Supplier PO book by business unit (MMAD)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172200" y="5047488"/>
          <a:ext cx="5715000" cy="14538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097280"/>
                <a:gridCol w="1005840"/>
                <a:gridCol w="1005840"/>
                <a:gridCol w="96012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Contract value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Recognized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Unrecognized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Remaining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10,177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3,739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2,036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4,401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Water &amp; Env.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5,717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4,266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834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Fert. &amp; Chem.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3,056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1,443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982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Energy Ops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1,173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Global Mining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789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JESA Tech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578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Arial"/>
                        </a:rPr>
                        <a:t>Total (all BUs)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Arial"/>
                        </a:rPr>
                        <a:t>21,831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Arial"/>
                        </a:rPr>
                        <a:t>10,694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Arial"/>
                        </a:rPr>
                        <a:t>4,485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Arial"/>
                        </a:rPr>
                        <a:t>6,653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Payments Received (Collections)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110 MMAD received in October to date (+82 this week); 7.36 Bn MAD year to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143000"/>
            <a:ext cx="2240828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52728"/>
            <a:ext cx="64008" cy="832103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OCTOBER TO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417320"/>
            <a:ext cx="20579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110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901952"/>
            <a:ext cx="205794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WoW  </a:t>
            </a:r>
            <a:r>
              <a:rPr sz="1000" b="1" i="0">
                <a:solidFill>
                  <a:srgbClr val="2E7D4F"/>
                </a:solidFill>
                <a:latin typeface="Arial"/>
              </a:rPr>
              <a:t>+82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24876" y="1143000"/>
            <a:ext cx="2240828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4876" y="1252728"/>
            <a:ext cx="64008" cy="832103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036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SEPTEMBER (FULL MONTH)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2036" y="1417320"/>
            <a:ext cx="20579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407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5433" y="1143000"/>
            <a:ext cx="2240828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75433" y="1252728"/>
            <a:ext cx="64008" cy="832103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2593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YTD RECEIVED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2593" y="1417320"/>
            <a:ext cx="20579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7,357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2593" y="1901952"/>
            <a:ext cx="205794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WoW  </a:t>
            </a:r>
            <a:r>
              <a:rPr sz="1000" b="1" i="0">
                <a:solidFill>
                  <a:srgbClr val="2E7D4F"/>
                </a:solidFill>
                <a:latin typeface="Arial"/>
              </a:rPr>
              <a:t>+82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5989" y="1143000"/>
            <a:ext cx="2240828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5989" y="1252728"/>
            <a:ext cx="64008" cy="832103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3149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LABOR / NON-LABOR YTD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3149" y="1417320"/>
            <a:ext cx="205794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E6DA4"/>
                </a:solidFill>
                <a:latin typeface="Arial"/>
              </a:rPr>
              <a:t>2,139 </a:t>
            </a:r>
            <a:r>
              <a:rPr sz="900" b="0" i="0">
                <a:solidFill>
                  <a:srgbClr val="6B7B8C"/>
                </a:solidFill>
                <a:latin typeface="Arial"/>
              </a:rPr>
              <a:t>· 29% labor</a:t>
            </a:r>
          </a:p>
          <a:p>
            <a:pPr algn="l"/>
            <a:r>
              <a:rPr sz="1600" b="1" i="0">
                <a:solidFill>
                  <a:srgbClr val="E08A2E"/>
                </a:solidFill>
                <a:latin typeface="Arial"/>
              </a:rPr>
              <a:t>5,219 </a:t>
            </a:r>
            <a:r>
              <a:rPr sz="900" b="0" i="0">
                <a:solidFill>
                  <a:srgbClr val="6B7B8C"/>
                </a:solidFill>
                <a:latin typeface="Arial"/>
              </a:rPr>
              <a:t>· 71% non-labor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76546" y="1143000"/>
            <a:ext cx="2240828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76546" y="1252728"/>
            <a:ext cx="64008" cy="832103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13706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INVOICES PAID YTD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3706" y="1417320"/>
            <a:ext cx="20579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2,928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37744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Monthly payments received 2026 (MMAD) – October in progress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274320" y="2651760"/>
          <a:ext cx="66751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178040" y="237744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By business unit (MMAD)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178040" y="2651760"/>
          <a:ext cx="4754876" cy="32186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47729"/>
                <a:gridCol w="655845"/>
                <a:gridCol w="655845"/>
                <a:gridCol w="573864"/>
                <a:gridCol w="573864"/>
                <a:gridCol w="655845"/>
                <a:gridCol w="491884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Oct last wk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Oct to date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Δ WoW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Sep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YTD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Water &amp; Env.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2E7D4F"/>
                          </a:solidFill>
                          <a:latin typeface="Arial"/>
                        </a:rPr>
                        <a:t>+42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2,112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2E7D4F"/>
                          </a:solidFill>
                          <a:latin typeface="Arial"/>
                        </a:rPr>
                        <a:t>+37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1,810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Fert. &amp; Chem.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1,519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21%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973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Energy Ops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2E7D4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Global Mining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JESA Tech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B&amp;I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Advisory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2E7D4F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B&amp;C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Power to X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+82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7,357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Cash Position – Procurement (JESA Group incl. 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Jul–Oct 2026: cash IN 2,104 vs cash OUT 2,276 MMAD incl. October commitments → net −171 MMAD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143000"/>
            <a:ext cx="2240828" cy="1051560"/>
          </a:xfrm>
          <a:prstGeom prst="roundRect">
            <a:avLst>
              <a:gd name="adj" fmla="val 12000"/>
            </a:avLst>
          </a:prstGeom>
          <a:solidFill>
            <a:srgbClr val="3A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CASH IN JUL–OCT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2057948" cy="4089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2,104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0240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OCP payments 1,919 + dividends 185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4876" y="1143000"/>
            <a:ext cx="2240828" cy="1051560"/>
          </a:xfrm>
          <a:prstGeom prst="roundRect">
            <a:avLst>
              <a:gd name="adj" fmla="val 12000"/>
            </a:avLst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6316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CASH OUT ACTUALS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6316" y="1417320"/>
            <a:ext cx="2057948" cy="4089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1,954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6316" y="1920240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Jul–Sep 1,734 + Oct to 15/10 220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5433" y="1143000"/>
            <a:ext cx="2240828" cy="1051560"/>
          </a:xfrm>
          <a:prstGeom prst="roundRect">
            <a:avLst>
              <a:gd name="adj" fmla="val 12000"/>
            </a:avLst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6873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OCTOBER COMMITMENTS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6873" y="1417320"/>
            <a:ext cx="2057948" cy="4089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321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6873" y="1920240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Approved 258 (LC 156) + pending 64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5989" y="1143000"/>
            <a:ext cx="2240828" cy="1051560"/>
          </a:xfrm>
          <a:prstGeom prst="roundRect">
            <a:avLst>
              <a:gd name="adj" fmla="val 12000"/>
            </a:avLst>
          </a:prstGeom>
          <a:solidFill>
            <a:srgbClr val="B54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7429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NET 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7429" y="1417320"/>
            <a:ext cx="2057948" cy="4089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−171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7429" y="1920240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Cash IN + cash OUT incl. commitments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76546" y="1143000"/>
            <a:ext cx="2240828" cy="1051560"/>
          </a:xfrm>
          <a:prstGeom prst="roundRect">
            <a:avLst>
              <a:gd name="adj" fmla="val 12000"/>
            </a:avLst>
          </a:prstGeom>
          <a:solidFill>
            <a:srgbClr val="6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7986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PSR (LABOR) 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7986" y="1417320"/>
            <a:ext cx="2057948" cy="4089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+73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7986" y="1920240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Collections 372 less provisions 299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37744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Monthly cash IN vs cash OUT – procurement (MMAD)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274320" y="2651760"/>
          <a:ext cx="63093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812280" y="2377440"/>
            <a:ext cx="5120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Cash position by month (MMAD)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812280" y="2651760"/>
          <a:ext cx="5120634" cy="30449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80210"/>
                <a:gridCol w="520064"/>
                <a:gridCol w="520064"/>
                <a:gridCol w="520064"/>
                <a:gridCol w="640079"/>
                <a:gridCol w="640079"/>
                <a:gridCol w="60007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MMAD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Jul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Aug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Sep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Oct to 15/10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Oct ongoing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Cumul.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OCP procurement collections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715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1,919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Dividends / PROC compensable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Total cash IN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715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2,104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Suppliers (by tier)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−431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−236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−797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−198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−167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−1,829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LC payments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−49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−18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−42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−156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−266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Customs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−78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−43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−55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−24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−201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Total cash OUT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−548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−296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−889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−220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−321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−2,276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NET position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2E7D4F"/>
                          </a:solidFill>
                          <a:latin typeface="Arial"/>
                        </a:rPr>
                        <a:t>+164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2E7D4F"/>
                          </a:solidFill>
                          <a:latin typeface="Arial"/>
                        </a:rPr>
                        <a:t>+419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B5473A"/>
                          </a:solidFill>
                          <a:latin typeface="Arial"/>
                        </a:rPr>
                        <a:t>−363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B5473A"/>
                          </a:solidFill>
                          <a:latin typeface="Arial"/>
                        </a:rPr>
                        <a:t>−69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B5473A"/>
                          </a:solidFill>
                          <a:latin typeface="Arial"/>
                        </a:rPr>
                        <a:t>−321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B5473A"/>
                          </a:solidFill>
                          <a:latin typeface="Arial"/>
                        </a:rPr>
                        <a:t>−171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PSR collections (labor)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PSR provisions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−98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−73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−73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−55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−299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NET PSR after provisions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+68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−7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+11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+73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812280" y="5989320"/>
            <a:ext cx="51206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 i="1">
                <a:solidFill>
                  <a:srgbClr val="7A8794"/>
                </a:solidFill>
                <a:latin typeface="Arial"/>
              </a:rPr>
              <a:t>Basis: Jul–Aug–Sep actuals + Oct actuals (collections to 19/10, payments to 15/10) + October LC maturities per bank LC situation 19/10 v003 (156.4M, counted as approved) + open October commitments (approved + pending)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Cash Position by Business Unit – Procurement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Cumulative Jul–Oct 2026 cash IN, cash OUT and net balance by BU, before and after October commitments (MMAD)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43000"/>
          <a:ext cx="11567156" cy="30998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63602"/>
                <a:gridCol w="1037413"/>
                <a:gridCol w="1141154"/>
                <a:gridCol w="933672"/>
                <a:gridCol w="1037413"/>
                <a:gridCol w="1089284"/>
                <a:gridCol w="1089284"/>
                <a:gridCol w="1244896"/>
                <a:gridCol w="1037413"/>
                <a:gridCol w="1193025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Business Unit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Cash IN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Paid suppliers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Paid LC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Paid customs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Net actuals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Oct approved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Net after approved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Oct pending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Net all ongoing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Water &amp; Env.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554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+48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+13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+13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Fert. &amp; Chem.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+108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+75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+75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+117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+44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+44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−182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−288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−333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JESA Tech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Energy Ops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+57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+56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+49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Global Mining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+11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B&amp;I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Advisory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−15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−15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−15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B&amp;C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Total BUs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2,104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1,644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+150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−107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1F2A37"/>
                          </a:solidFill>
                          <a:latin typeface="Arial"/>
                        </a:rPr>
                        <a:t>−171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74320" y="4425696"/>
          <a:ext cx="5760720" cy="202082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172200" y="4425696"/>
          <a:ext cx="5760720" cy="202082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October Payments – paid, approved and 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220 MMAD paid to 15/10; 258 MMAD approved (incl. 156 LC maturities) and 64 MMAD pending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669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October cash OUT: actual and committed (MMAD)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74320" y="1417320"/>
          <a:ext cx="576072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3703320"/>
            <a:ext cx="5669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October by business unit (MMAD)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977639"/>
          <a:ext cx="5669280" cy="24734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914400"/>
                <a:gridCol w="914400"/>
                <a:gridCol w="914400"/>
                <a:gridCol w="822960"/>
                <a:gridCol w="73152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Cash IN to date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Paid to 15/10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Ongoing suppliers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Ongoing LC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Net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B5473A"/>
                          </a:solidFill>
                          <a:latin typeface="Arial"/>
                        </a:rPr>
                        <a:t>−190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Water &amp; Env.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B5473A"/>
                          </a:solidFill>
                          <a:latin typeface="Arial"/>
                        </a:rPr>
                        <a:t>−92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B5473A"/>
                          </a:solidFill>
                          <a:latin typeface="Arial"/>
                        </a:rPr>
                        <a:t>−26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Fert. &amp; Chem.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B5473A"/>
                          </a:solidFill>
                          <a:latin typeface="Arial"/>
                        </a:rPr>
                        <a:t>−51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Global Mining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B5473A"/>
                          </a:solidFill>
                          <a:latin typeface="Arial"/>
                        </a:rPr>
                        <a:t>−20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Energy Ops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B5473A"/>
                          </a:solidFill>
                          <a:latin typeface="Arial"/>
                        </a:rPr>
                        <a:t>−7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B&amp;I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B5473A"/>
                          </a:solidFill>
                          <a:latin typeface="Arial"/>
                        </a:rPr>
                        <a:t>−2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Advisory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B5473A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JESA Tech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B&amp;C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B5473A"/>
                          </a:solidFill>
                          <a:latin typeface="Arial"/>
                        </a:rPr>
                        <a:t>−390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55080" y="1143000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Approved supplier invoices – status vs payment tracking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B8C"/>
                </a:solidFill>
                <a:latin typeface="Arial"/>
              </a:rPr>
              <a:t>96 MMAD / 211 lines in the approved position (excl. LC); where each line stands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63640" y="1691640"/>
          <a:ext cx="566928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55080" y="4069080"/>
          <a:ext cx="5577837" cy="18836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403427"/>
                <a:gridCol w="661777"/>
                <a:gridCol w="850856"/>
                <a:gridCol w="661777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Tracking-log status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Lines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MMAD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Pending AP (unpaid)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44.0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46%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Paid after cut-off, awaiting SAP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23.8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Pending Treasury (unpaid)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13.2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Paid per log, not yet in SAP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11.3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Paid, SAP clearing reversed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2.3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Paid per log, no date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Cancelled – to review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Total approved supplier payments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95.6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355080" y="6044183"/>
            <a:ext cx="55778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1B2F4B"/>
                </a:solidFill>
                <a:latin typeface="Arial"/>
              </a:rPr>
              <a:t>Priority list (02.10): </a:t>
            </a:r>
            <a:r>
              <a:rPr sz="900" b="0" i="0">
                <a:solidFill>
                  <a:srgbClr val="1F2A37"/>
                </a:solidFill>
                <a:latin typeface="Arial"/>
              </a:rPr>
              <a:t>92 MMAD approved for payment — P1 6 · P2 45 · P3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Accounts Payable – supplier payables &amp; 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Payables incl. LC of 2,965 MMAD (+8 WoW): parked 908, 4411 848, downpayments 294, LC 914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143000"/>
            <a:ext cx="224082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52728"/>
            <a:ext cx="64008" cy="740664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TOTAL PAYABLES INCL. 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417320"/>
            <a:ext cx="20579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2,965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810511"/>
            <a:ext cx="205794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WoW  </a:t>
            </a:r>
            <a:r>
              <a:rPr sz="1000" b="1" i="0">
                <a:solidFill>
                  <a:srgbClr val="B5473A"/>
                </a:solidFill>
                <a:latin typeface="Arial"/>
              </a:rPr>
              <a:t>+8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24876" y="1143000"/>
            <a:ext cx="224082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4876" y="1252728"/>
            <a:ext cx="64008" cy="740664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036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PARKED INVOICES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2036" y="1417320"/>
            <a:ext cx="20579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908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2036" y="1810511"/>
            <a:ext cx="205794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WoW  </a:t>
            </a:r>
            <a:r>
              <a:rPr sz="1000" b="1" i="0">
                <a:solidFill>
                  <a:srgbClr val="2E7D4F"/>
                </a:solidFill>
                <a:latin typeface="Arial"/>
              </a:rPr>
              <a:t>−92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75433" y="1143000"/>
            <a:ext cx="224082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75433" y="1252728"/>
            <a:ext cx="64008" cy="740664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2593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INVOICES 4411 (OPEN ITEMS)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2593" y="1417320"/>
            <a:ext cx="20579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848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2593" y="1810511"/>
            <a:ext cx="205794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WoW  </a:t>
            </a:r>
            <a:r>
              <a:rPr sz="1000" b="1" i="0">
                <a:solidFill>
                  <a:srgbClr val="B5473A"/>
                </a:solidFill>
                <a:latin typeface="Arial"/>
              </a:rPr>
              <a:t>+15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25989" y="1143000"/>
            <a:ext cx="224082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5989" y="1252728"/>
            <a:ext cx="64008" cy="740664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3149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DOWNPAYMENTS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3149" y="1417320"/>
            <a:ext cx="20579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294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3149" y="1810511"/>
            <a:ext cx="205794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WoW  </a:t>
            </a:r>
            <a:r>
              <a:rPr sz="1000" b="1" i="0">
                <a:solidFill>
                  <a:srgbClr val="7A8794"/>
                </a:solidFill>
                <a:latin typeface="Arial"/>
              </a:rP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76546" y="1143000"/>
            <a:ext cx="224082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76546" y="1252728"/>
            <a:ext cx="64008" cy="740664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13706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B8C"/>
                </a:solidFill>
                <a:latin typeface="Arial"/>
              </a:rPr>
              <a:t>LC OPENED (AR DASHBOARD)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3706" y="1417320"/>
            <a:ext cx="20579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F4B"/>
                </a:solidFill>
                <a:latin typeface="Arial"/>
              </a:rPr>
              <a:t>914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3706" y="1810511"/>
            <a:ext cx="205794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7B8C"/>
                </a:solidFill>
                <a:latin typeface="Arial"/>
              </a:rPr>
              <a:t>WoW  </a:t>
            </a:r>
            <a:r>
              <a:rPr sz="1000" b="1" i="0">
                <a:solidFill>
                  <a:srgbClr val="B5473A"/>
                </a:solidFill>
                <a:latin typeface="Arial"/>
              </a:rPr>
              <a:t>+85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224028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Payables by business unit – this week and Δ WoW (MMAD)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65760" y="2514600"/>
          <a:ext cx="5943598" cy="33467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822960"/>
                <a:gridCol w="731520"/>
                <a:gridCol w="731520"/>
                <a:gridCol w="731520"/>
                <a:gridCol w="777239"/>
                <a:gridCol w="77723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BU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Down-payment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Parked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4411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LC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Δ WoW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1,639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+85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532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+24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Water &amp; Env.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2E7D4F"/>
                          </a:solidFill>
                          <a:latin typeface="Arial"/>
                        </a:rPr>
                        <a:t>−51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Fert. &amp; Chem.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2E7D4F"/>
                          </a:solidFill>
                          <a:latin typeface="Arial"/>
                        </a:rPr>
                        <a:t>−47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Energy Ops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JESA Tech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Global Mining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2E7D4F"/>
                          </a:solidFill>
                          <a:latin typeface="Arial"/>
                        </a:rPr>
                        <a:t>−7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B&amp;I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B5473A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Advisory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7A879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908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914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2,965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F2A37"/>
                          </a:solidFill>
                          <a:latin typeface="Arial"/>
                        </a:rPr>
                        <a:t>+8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365760" y="5952744"/>
            <a:ext cx="5943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7A8794"/>
                </a:solidFill>
                <a:latin typeface="Arial"/>
              </a:rPr>
              <a:t>LC = outstanding on opened LCs per the AR dashboard mapping; parked = invoices parked in SAP pending validation; 4411 = posted supplier open items; downpayments = advance invoices due to suppliers.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240280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Open supplier invoices by due date – AP file Oct W3 (MMAD)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514600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B8C"/>
                </a:solidFill>
                <a:latin typeface="Arial"/>
              </a:rPr>
              <a:t>2,144 MMAD of open lines, of which 1,415 MMAD (66%) past due at 21 Oct 2026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6492240" y="2743200"/>
          <a:ext cx="548640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6583680" y="4983480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B2F4B"/>
                </a:solidFill>
                <a:latin typeface="Arial"/>
              </a:rPr>
              <a:t>By supplier tier (MMAD)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6583680" y="5230368"/>
          <a:ext cx="5394958" cy="8412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90496"/>
                <a:gridCol w="1302231"/>
                <a:gridCol w="1302231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Tier group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MMAD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National (tiers 1–3)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1,363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International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694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Other / not tiered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6583680" y="6108192"/>
            <a:ext cx="5394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 i="1">
                <a:solidFill>
                  <a:srgbClr val="7A8794"/>
                </a:solidFill>
                <a:latin typeface="Arial"/>
              </a:rPr>
              <a:t>Note: the AP file (4411 + parked + downpayments) and the AR dashboard payables line differ by LC scope and extraction timing; the LC slide uses the bank LC situation.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Letters of Credit – outstanding &amp; maturities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1,583 MMAD of LC commitments at 19/10: 912 opened, 671 still to be opened; 156 MMAD maturing in October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143000"/>
            <a:ext cx="2240828" cy="960120"/>
          </a:xfrm>
          <a:prstGeom prst="roundRect">
            <a:avLst>
              <a:gd name="adj" fmla="val 12000"/>
            </a:avLst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TOTAL LC COMMITMENTS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2057948" cy="4089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1,583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28799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Encours in MMAD, bank LC situation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4876" y="1143000"/>
            <a:ext cx="2240828" cy="960120"/>
          </a:xfrm>
          <a:prstGeom prst="roundRect">
            <a:avLst>
              <a:gd name="adj" fmla="val 12000"/>
            </a:avLst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6316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OPENED LCS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6316" y="1417320"/>
            <a:ext cx="2057948" cy="4089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912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6316" y="1828799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LC reference and opening date exist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5433" y="1143000"/>
            <a:ext cx="2240828" cy="960120"/>
          </a:xfrm>
          <a:prstGeom prst="roundRect">
            <a:avLst>
              <a:gd name="adj" fmla="val 12000"/>
            </a:avLst>
          </a:prstGeom>
          <a:solidFill>
            <a:srgbClr val="6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6873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TO BE OPENED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6873" y="1417320"/>
            <a:ext cx="2057948" cy="4089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671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6873" y="1828799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Committed, LC not yet issued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5989" y="1143000"/>
            <a:ext cx="2240828" cy="960120"/>
          </a:xfrm>
          <a:prstGeom prst="roundRect">
            <a:avLst>
              <a:gd name="adj" fmla="val 12000"/>
            </a:avLst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7429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OCTOBER MATURITIES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7429" y="1417320"/>
            <a:ext cx="2057948" cy="4089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156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7429" y="1828799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Counted as approved payments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76546" y="1143000"/>
            <a:ext cx="2240828" cy="960120"/>
          </a:xfrm>
          <a:prstGeom prst="roundRect">
            <a:avLst>
              <a:gd name="adj" fmla="val 12000"/>
            </a:avLst>
          </a:prstGeom>
          <a:solidFill>
            <a:srgbClr val="3A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7986" y="1207008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2026 / 2027 SPLIT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7986" y="1417320"/>
            <a:ext cx="2057948" cy="37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675 / 908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7986" y="1828799"/>
            <a:ext cx="20579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Per maturity schedule (MMAD)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240280"/>
            <a:ext cx="6858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LC maturity schedule by month (MMAD)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274320" y="2514600"/>
          <a:ext cx="69494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65760" y="4846320"/>
            <a:ext cx="6858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B2F4B"/>
                </a:solidFill>
                <a:latin typeface="Arial"/>
              </a:rPr>
              <a:t>By business unit (MMAD)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65760" y="5102352"/>
          <a:ext cx="6857998" cy="13350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78904"/>
                <a:gridCol w="1127342"/>
                <a:gridCol w="1221287"/>
                <a:gridCol w="1127342"/>
                <a:gridCol w="1503123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Opened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To be opened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Oct-26 maturity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773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671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1,445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Energy Ops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Fert. &amp; Chem.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Water &amp; Env.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912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671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1,583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498079" y="2240280"/>
            <a:ext cx="4480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2F4B"/>
                </a:solidFill>
                <a:latin typeface="Arial"/>
              </a:rPr>
              <a:t>By action status (MMAD)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7406640" y="2514600"/>
          <a:ext cx="45720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Backup – Letters of Credit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Largest LC lines by outstanding amount (bank LC situation 19/10, MMAD)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43000"/>
          <a:ext cx="11567157" cy="47183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13854"/>
                <a:gridCol w="2488552"/>
                <a:gridCol w="1382529"/>
                <a:gridCol w="875601"/>
                <a:gridCol w="460843"/>
                <a:gridCol w="783433"/>
                <a:gridCol w="645180"/>
                <a:gridCol w="645180"/>
                <a:gridCol w="645180"/>
                <a:gridCol w="2626805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Project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Supplier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LC reference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Expiry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Ccy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Outstanding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Opened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SP2M-LBE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BGRIMM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not opened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USD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193.0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24-month rescheduling to finalise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SP2M-BBE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BGRIMM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not opened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USD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192.9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24-month rescheduling to finalise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SP2M-OSBL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TAKRAF INDIA PRIVATE LIMITED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ILC00155371/0200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30-Jan-27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USD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181.4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Amount to be split by delivery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SP2M-SAP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HOWDEN TURBO GMBH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ILC26A001942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14-Dec-26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EUR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163.9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Awaiting LC copy from buyer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SP2M-SAP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THERMAL SYSTEMS (HYDERABAD)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ILC00156200/0200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10-Oct-26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USD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110.7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Amount to be split by delivery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SP2M-PAP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ALFA LAVAL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not opened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EUR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100.5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 action recorded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SP2M-SAP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THERMAL SYSTEMS (HYDERABAD)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ILC00156199/0200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10-Sep-26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USD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99.7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Amount to be split by delivery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SP2M-PAP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BGRIMM TECHNOLOGY GROUP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ILC00156325/0200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30-Nov-26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EUR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76.5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Awaiting JESA response (suspension)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SP2M-PAP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MILTON ROY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ILC00155203/0200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EUR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60.1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 action recorded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SP2M-SAP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WEIR MINERALS US INC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not opened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USD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52.5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 action recorded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BGRIMM TECHNOLOGY GROUP (BBE)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ILC00156422/0200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20-Aug-26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USD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52.4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Amount to be split by delivery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BGRIMM TECHNOLOGY GROUP (Louta)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ILC00156423/0200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20-Aug-26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USD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45.6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Remaining payment pushed to 2027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ENE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XI'AN LONGI HYDROGEN TECHNOLOGY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ILC00154077/0200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USD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37.3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Remaining payment pushed to 2027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SP2M-PAP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GRAPHITE INDIA LIMITED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TF2602316335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20-Jul-26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EUR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25.5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Awaiting draft LC (procurement)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SP2M-PAP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HASLER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not opened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EUR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23.1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 action recorded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SP2M-PAP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MILTON ROY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not opened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EUR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19.9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 action recorded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SP2M-PAP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WEIR MINERALS US INC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TF2530996775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21-Feb-26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USD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17.8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 action recorded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SP2M-Corridor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PGP Energies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not opened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USD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10.9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F2A37"/>
                          </a:solidFill>
                          <a:latin typeface="Arial"/>
                        </a:rPr>
                        <a:t>Signed WO from client needed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Backup – Accounts Payable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Open supplier invoices by BU and origin, and top suppliers (AP file Oct W3, MMAD)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B2F4B"/>
                </a:solidFill>
                <a:latin typeface="Arial"/>
              </a:rPr>
              <a:t>By business unit and origin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417320"/>
          <a:ext cx="5486395" cy="26517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28996"/>
                <a:gridCol w="809468"/>
                <a:gridCol w="809468"/>
                <a:gridCol w="899409"/>
                <a:gridCol w="809468"/>
                <a:gridCol w="629586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4411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Parked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Downpayment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Lines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912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1,300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Water &amp; Env.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Fert. &amp; Chem.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Energy Ops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Global Mining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JESA Tech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B&amp;I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Advisory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810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1,036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2,144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1">
                          <a:solidFill>
                            <a:srgbClr val="1F2A37"/>
                          </a:solidFill>
                          <a:latin typeface="Arial"/>
                        </a:rPr>
                        <a:t>2,803</a:t>
                      </a:r>
                    </a:p>
                  </a:txBody>
                  <a:tcPr marL="45720" marR="45720" marT="13716" marB="13716" anchor="ctr">
                    <a:solidFill>
                      <a:srgbClr val="C9DDE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114300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B2F4B"/>
                </a:solidFill>
                <a:latin typeface="Arial"/>
              </a:rPr>
              <a:t>Top 15 suppliers by open payables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1417320"/>
          <a:ext cx="5669280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4330"/>
                <a:gridCol w="2657475"/>
                <a:gridCol w="1240155"/>
                <a:gridCol w="708660"/>
                <a:gridCol w="70866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Supplier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MMAD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of AP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SOGEA MAROC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Water &amp; Env.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132.4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6.2%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MMSE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128.3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6.0%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CEGELEC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Global Mining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114.3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5.3%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HAZEMAG Systems GmbH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89.2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4.2%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ATNER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Water &amp; Env.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81.3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3.8%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AUSTRUCT INDUSTRIES PTY L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79.6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3.7%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MMSA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Fert. &amp; Chem.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72.8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3.4%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Tianjin Cement Industry Design &amp;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71.9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3.4%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JIAOZUO CREATION HEAVY INDUSTRY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65.9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3.1%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BUTEC ENERGIES &amp; SERVICES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50.8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2.4%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SAFARELEC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Water &amp; Env.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49.0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2.3%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EM ENERGIE MAROC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Energy Ops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48.1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2.2%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GRAPHITE INDIA LIMITED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46.9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2.2%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MILTON ROY EUROPE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SP2M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46.1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2.1%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PROMINOX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Fert. &amp; Chem.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44.1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2.1%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74320" y="4288536"/>
          <a:ext cx="5669280" cy="2112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" cy="91440"/>
          </a:xfrm>
          <a:prstGeom prst="rect">
            <a:avLst/>
          </a:prstGeom>
          <a:solidFill>
            <a:srgbClr val="C8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54480" y="0"/>
            <a:ext cx="10637215" cy="91440"/>
          </a:xfrm>
          <a:prstGeom prst="rect">
            <a:avLst/>
          </a:prstGeom>
          <a:solidFill>
            <a:srgbClr val="0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16459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600" b="1" i="0">
                <a:solidFill>
                  <a:srgbClr val="1E3F8F"/>
                </a:solidFill>
                <a:latin typeface="Arial"/>
              </a:rPr>
              <a:t>JESA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961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F4B"/>
                </a:solidFill>
                <a:latin typeface="Arial"/>
              </a:rPr>
              <a:t>Data sources &amp; weekly input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713232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A9C8C"/>
                </a:solidFill>
                <a:latin typeface="Arial"/>
              </a:rPr>
              <a:t>What feeds each section of this deck, and the as-of date of each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83680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0" i="0">
                <a:solidFill>
                  <a:srgbClr val="7A8794"/>
                </a:solidFill>
                <a:latin typeface="Arial"/>
              </a:rPr>
              <a:t>JESA -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8368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7A8794"/>
                </a:solidFill>
                <a:latin typeface="Arial"/>
              </a:rPr>
              <a:t>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88720"/>
          <a:ext cx="11430000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3657600"/>
                <a:gridCol w="2194560"/>
                <a:gridCol w="246888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Deck section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Source file / sheet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As-of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Input tab (weekly_inputs.xlsx)</a:t>
                      </a:r>
                    </a:p>
                  </a:txBody>
                  <a:tcPr marL="45720" marR="45720" marT="13716" marB="13716" anchor="ctr">
                    <a:solidFill>
                      <a:srgbClr val="1B2F4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AR position, comparatives, aging, payables &amp; LC by BU, collections by BU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AR dashboard (AR_PRE.xlsx) – 'Executive Summary' + 'Comparatives'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Snapshot 14 Oct 2026; prev 07 Oct 2026; baseline 07 Oct 2026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AR_KPI, AR_BU, AR_UNBILLED_*, AR_UNPAID_STATUS, AR_AGING, UNRECOGNIZED, COLLECTIONS_BU, AP_BU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Cash position (group &amp; by BU), October paid / approved / pending, tracking-log status, priority list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Cash flow workbook (CASH_FLOW_ANALYSIS – BUs) – 'EXEC Summary', 'Approved vs Tracking log', 'Priority list', 'LC Ongoing'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Data as of 15 Oct 2026; collections to 19/10; payments to 15/10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CASH_MONTHLY, CASH_BU, CASH_BU_OCT, ONGOING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Month-start baseline (AR by component, BU, status, aging)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Beginning-of-month AR line list (AR_Beg_of_the_month.xlsx) aggregated with the dashboard rules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AR position 07 Oct 2026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AR_KPI / AR_BU / AR_* month_start columns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Unrecognized revenue by BU and status, previous BU update, PO book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UR Tracking Consolidation – 'Summary UR', 'Sheet1', 'Summary PO by BU'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21 Oct 2026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UNRECOGNIZED, UR_ATTACHMENT_STATUS, UR_PO_SUMMARY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LC commitments, opened vs to be opened, maturity schedule, action status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Bank LC situation (LCs SITUATION) – 'LC avec echéance'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LC situation 19/10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LC_LINES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Open supplier invoices by due date, tier, BU/origin, top suppliers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Supplier invoice extract (4411 – Parked – Downpayment)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AP file Oct W3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AP_BUCKETS, AP_BU_ORIGIN, AP_TIERS, AP_TOP_SUPPLIERS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Monthly collections series (labor / non-labor)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Seeded from the 2026 payments summary; current month refreshed from the AR dashboard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Jan–Sep seed + current month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COLLECTIONS_MONTHLY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Key messages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Auto-drafted from the figures, then edited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21 Oct 2026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F2A37"/>
                          </a:solidFill>
                          <a:latin typeface="Arial"/>
                        </a:rPr>
                        <a:t>KEY_MESSAGES</a:t>
                      </a:r>
                    </a:p>
                  </a:txBody>
                  <a:tcPr marL="45720" marR="45720" marT="13716" marB="13716" anchor="ctr">
                    <a:solidFill>
                      <a:srgbClr val="E9F0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074920"/>
            <a:ext cx="1143000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B2F4B"/>
                </a:solidFill>
                <a:latin typeface="Arial"/>
              </a:rPr>
              <a:t>Weekly run: </a:t>
            </a:r>
            <a:r>
              <a:rPr sz="950" b="0" i="0">
                <a:solidFill>
                  <a:srgbClr val="1F2A37"/>
                </a:solidFill>
                <a:latin typeface="Arial"/>
              </a:rPr>
              <a:t>1) drop the refreshed source files (AR dashboard, cash flow workbook, LC situation, supplier invoices, UR consolidation; month-start AR file once a month)  →  2) run extract_inputs.py (dates as parameters)  →  3) review / edit weekly_inputs.xlsx (key messages, monthly split)  →  4) run build_deck.py.</a:t>
            </a:r>
          </a:p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B2F4B"/>
                </a:solidFill>
                <a:latin typeface="Arial"/>
              </a:rPr>
              <a:t>Comparatives: </a:t>
            </a:r>
            <a:r>
              <a:rPr sz="950" b="0" i="0">
                <a:solidFill>
                  <a:srgbClr val="1F2A37"/>
                </a:solidFill>
                <a:latin typeface="Arial"/>
              </a:rPr>
              <a:t>week-on-week uses the AR dashboard 'Snapshot' tab (07 Oct 2026); 'vs month start' uses the beginning-of-month AR file (07 Oct 2026 position), aggregated with the dashboard rules (unearned-on-LS and negative advance lines excluded).</a:t>
            </a:r>
          </a:p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B2F4B"/>
                </a:solidFill>
                <a:latin typeface="Arial"/>
              </a:rPr>
              <a:t>Scope notes: </a:t>
            </a:r>
            <a:r>
              <a:rPr sz="950" b="0" i="0">
                <a:solidFill>
                  <a:srgbClr val="1F2A37"/>
                </a:solidFill>
                <a:latin typeface="Arial"/>
              </a:rPr>
              <a:t>cash position covers procurement (non-labor) flows for the JESA Group including AM; PSR (labor) collections are shown net of the AM ring-fence and the W&amp;E reserve provision. AR figures are in MMAD HT as per the AR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