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.xml" ContentType="application/vnd.openxmlformats-officedocument.drawingml.chart+xml"/>
  <Override PartName="/ppt/charts/chart50.xml" ContentType="application/vnd.openxmlformats-officedocument.drawingml.chart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.xml" ContentType="application/vnd.openxmlformats-officedocument.drawingml.chart+xml"/>
  <Override PartName="/ppt/charts/chart60.xml" ContentType="application/vnd.openxmlformats-officedocument.drawingml.chart+xml"/>
  <Override PartName="/ppt/charts/chart61.xml" ContentType="application/vnd.openxmlformats-officedocument.drawingml.chart+xml"/>
  <Override PartName="/ppt/charts/chart62.xml" ContentType="application/vnd.openxmlformats-officedocument.drawingml.chart+xml"/>
  <Override PartName="/ppt/charts/chart63.xml" ContentType="application/vnd.openxmlformats-officedocument.drawingml.chart+xml"/>
  <Override PartName="/ppt/charts/chart64.xml" ContentType="application/vnd.openxmlformats-officedocument.drawingml.chart+xml"/>
  <Override PartName="/ppt/charts/chart65.xml" ContentType="application/vnd.openxmlformats-officedocument.drawingml.chart+xml"/>
  <Override PartName="/ppt/charts/chart66.xml" ContentType="application/vnd.openxmlformats-officedocument.drawingml.chart+xml"/>
  <Override PartName="/ppt/charts/chart67.xml" ContentType="application/vnd.openxmlformats-officedocument.drawingml.chart+xml"/>
  <Override PartName="/ppt/charts/chart68.xml" ContentType="application/vnd.openxmlformats-officedocument.drawingml.chart+xml"/>
  <Override PartName="/ppt/charts/chart69.xml" ContentType="application/vnd.openxmlformats-officedocument.drawingml.chart+xml"/>
  <Override PartName="/ppt/charts/chart7.xml" ContentType="application/vnd.openxmlformats-officedocument.drawingml.chart+xml"/>
  <Override PartName="/ppt/charts/chart70.xml" ContentType="application/vnd.openxmlformats-officedocument.drawingml.chart+xml"/>
  <Override PartName="/ppt/charts/chart71.xml" ContentType="application/vnd.openxmlformats-officedocument.drawingml.chart+xml"/>
  <Override PartName="/ppt/charts/chart72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4" r:id="rId15"/>
    <p:sldId id="263" r:id="rId14"/>
    <p:sldId id="265" r:id="rId16"/>
    <p:sldId id="266" r:id="rId17"/>
    <p:sldId id="267" r:id="rId18"/>
    <p:sldId id="268" r:id="rId19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60" r:id="rId11"/>
    <p:sldId id="261" r:id="rId12"/>
    <p:sldId id="262" r:id="rId13"/>
    <p:sldId id="269" r:id="rId20"/>
    <p:sldId id="270" r:id="rId21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9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0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1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2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3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4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5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6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7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8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9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0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1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2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3.xlsx"/></Relationships>
</file>

<file path=ppt/charts/_rels/chart4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4.xlsx"/></Relationships>
</file>

<file path=ppt/charts/_rels/chart4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5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6.xlsx"/></Relationships>
</file>

<file path=ppt/charts/_rels/chart4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7.xlsx"/></Relationships>
</file>

<file path=ppt/charts/_rels/chart4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8.xlsx"/></Relationships>
</file>

<file path=ppt/charts/_rels/chart4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9.xlsx"/></Relationships>
</file>

<file path=ppt/charts/_rels/chart5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0.xlsx"/></Relationships>
</file>

<file path=ppt/charts/_rels/chart5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1.xlsx"/></Relationships>
</file>

<file path=ppt/charts/_rels/chart5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2.xlsx"/></Relationships>
</file>

<file path=ppt/charts/_rels/chart5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3.xlsx"/></Relationships>
</file>

<file path=ppt/charts/_rels/chart5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4.xlsx"/></Relationships>
</file>

<file path=ppt/charts/_rels/chart5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5.xlsx"/></Relationships>
</file>

<file path=ppt/charts/_rels/chart5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6.xlsx"/></Relationships>
</file>

<file path=ppt/charts/_rels/chart5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7.xlsx"/></Relationships>
</file>

<file path=ppt/charts/_rels/chart5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8.xlsx"/></Relationships>
</file>

<file path=ppt/charts/_rels/chart5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9.xlsx"/></Relationships>
</file>

<file path=ppt/charts/_rels/chart6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0.xlsx"/></Relationships>
</file>

<file path=ppt/charts/_rels/chart6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1.xlsx"/></Relationships>
</file>

<file path=ppt/charts/_rels/chart6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2.xlsx"/></Relationships>
</file>

<file path=ppt/charts/_rels/chart6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3.xlsx"/></Relationships>
</file>

<file path=ppt/charts/_rels/chart6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4.xlsx"/></Relationships>
</file>

<file path=ppt/charts/_rels/chart6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5.xlsx"/></Relationships>
</file>

<file path=ppt/charts/_rels/chart6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6.xlsx"/></Relationships>
</file>

<file path=ppt/charts/_rels/chart6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7.xlsx"/></Relationships>
</file>

<file path=ppt/charts/_rels/chart6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8.xlsx"/></Relationships>
</file>

<file path=ppt/charts/_rels/chart6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9.xlsx"/></Relationships>
</file>

<file path=ppt/charts/_rels/chart7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0.xlsx"/></Relationships>
</file>

<file path=ppt/charts/_rels/chart7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1.xlsx"/></Relationships>
</file>

<file path=ppt/charts/_rels/chart7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7A8794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Unbilled</c:v>
                </c:pt>
                <c:pt idx="1">
                  <c:v>Unpaid</c:v>
                </c:pt>
                <c:pt idx="2">
                  <c:v>Advance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9479.103423610219</c:v>
                </c:pt>
                <c:pt idx="1">
                  <c:v>2369.58692128103</c:v>
                </c:pt>
                <c:pt idx="2">
                  <c:v>548.0215817440002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5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Labor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9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Total AR</c:v>
                </c:pt>
                <c:pt idx="1">
                  <c:v>Unbilled</c:v>
                </c:pt>
                <c:pt idx="2">
                  <c:v>Unpaid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4288.0</c:v>
                </c:pt>
                <c:pt idx="1">
                  <c:v>3257.0</c:v>
                </c:pt>
                <c:pt idx="2">
                  <c:v>1030.0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Non-labor</c:v>
                </c:pt>
              </c:strCache>
            </c:strRef>
          </c:tx>
          <c:spPr>
            <a:solidFill>
              <a:srgbClr val="C9DDEE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9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Total AR</c:v>
                </c:pt>
                <c:pt idx="1">
                  <c:v>Unbilled</c:v>
                </c:pt>
                <c:pt idx="2">
                  <c:v>Unpaid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8109.0</c:v>
                </c:pt>
                <c:pt idx="1">
                  <c:v>6222.0</c:v>
                </c:pt>
                <c:pt idx="2">
                  <c:v>1340.0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9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Δ vs last week (14-Oct)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vs last week (14-Oct)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Pt>
            <c:idx val="0"/>
            <c:spPr>
              <a:solidFill>
                <a:srgbClr val="7A8794"/>
              </a:solidFill>
              <a:ln>
                <a:noFill/>
              </a:ln>
            </c:spPr>
          </c:dPt>
          <c:dPt>
            <c:idx val="1"/>
            <c:spPr>
              <a:solidFill>
                <a:srgbClr val="2E7D4F"/>
              </a:solidFill>
              <a:ln>
                <a:noFill/>
              </a:ln>
            </c:spPr>
          </c:dPt>
          <c:dPt>
            <c:idx val="2"/>
            <c:spPr>
              <a:solidFill>
                <a:srgbClr val="2E7D4F"/>
              </a:solidFill>
              <a:ln>
                <a:noFill/>
              </a:ln>
            </c:spPr>
          </c:dPt>
          <c:dPt>
            <c:idx val="3"/>
            <c:spPr>
              <a:solidFill>
                <a:srgbClr val="2E7D4F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Advance</c:v>
                </c:pt>
                <c:pt idx="1">
                  <c:v>Unbilled</c:v>
                </c:pt>
                <c:pt idx="2">
                  <c:v>Unpaid</c:v>
                </c:pt>
                <c:pt idx="3">
                  <c:v>Total AR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-35.0</c:v>
                </c:pt>
                <c:pt idx="2">
                  <c:v>-257.0</c:v>
                </c:pt>
                <c:pt idx="3">
                  <c:v>-292.0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Δ vs month start (07-Oct)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vs month start (07-Oct)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Pt>
            <c:idx val="0"/>
            <c:spPr>
              <a:solidFill>
                <a:srgbClr val="B5473A"/>
              </a:solidFill>
              <a:ln>
                <a:noFill/>
              </a:ln>
            </c:spPr>
          </c:dPt>
          <c:dPt>
            <c:idx val="1"/>
            <c:spPr>
              <a:solidFill>
                <a:srgbClr val="2E7D4F"/>
              </a:solidFill>
              <a:ln>
                <a:noFill/>
              </a:ln>
            </c:spPr>
          </c:dPt>
          <c:dPt>
            <c:idx val="2"/>
            <c:spPr>
              <a:solidFill>
                <a:srgbClr val="2E7D4F"/>
              </a:solidFill>
              <a:ln>
                <a:noFill/>
              </a:ln>
            </c:spPr>
          </c:dPt>
          <c:dPt>
            <c:idx val="3"/>
            <c:spPr>
              <a:solidFill>
                <a:srgbClr val="2E7D4F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Advance</c:v>
                </c:pt>
                <c:pt idx="1">
                  <c:v>Unbilled</c:v>
                </c:pt>
                <c:pt idx="2">
                  <c:v>Unpaid</c:v>
                </c:pt>
                <c:pt idx="3">
                  <c:v>Total AR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1.0</c:v>
                </c:pt>
                <c:pt idx="1">
                  <c:v>-205.0</c:v>
                </c:pt>
                <c:pt idx="2">
                  <c:v>-252.0</c:v>
                </c:pt>
                <c:pt idx="3">
                  <c:v>-456.0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Total AR – Δ week on week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WoW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Water &amp; Env.</c:v>
                </c:pt>
                <c:pt idx="1">
                  <c:v>Fert. &amp; Chem.</c:v>
                </c:pt>
                <c:pt idx="2">
                  <c:v>SP2M</c:v>
                </c:pt>
                <c:pt idx="3">
                  <c:v>AM</c:v>
                </c:pt>
                <c:pt idx="4">
                  <c:v>Energy Ops</c:v>
                </c:pt>
                <c:pt idx="5">
                  <c:v>Global Mining</c:v>
                </c:pt>
                <c:pt idx="6">
                  <c:v>B&amp;I</c:v>
                </c:pt>
                <c:pt idx="7">
                  <c:v>JESA Tech</c:v>
                </c:pt>
                <c:pt idx="8">
                  <c:v>Advisory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-179.0</c:v>
                </c:pt>
                <c:pt idx="1">
                  <c:v>-23.0</c:v>
                </c:pt>
                <c:pt idx="2">
                  <c:v>0.0</c:v>
                </c:pt>
                <c:pt idx="3">
                  <c:v>-83.0</c:v>
                </c:pt>
                <c:pt idx="4">
                  <c:v>2.0</c:v>
                </c:pt>
                <c:pt idx="5">
                  <c:v>0.0</c:v>
                </c:pt>
                <c:pt idx="6">
                  <c:v>3.0</c:v>
                </c:pt>
                <c:pt idx="7">
                  <c:v>-8.0</c:v>
                </c:pt>
                <c:pt idx="8">
                  <c:v>-3.0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Total AR – Δ vs month start (07-Oct)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vs 07-Oct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Water &amp; Env.</c:v>
                </c:pt>
                <c:pt idx="1">
                  <c:v>Fert. &amp; Chem.</c:v>
                </c:pt>
                <c:pt idx="2">
                  <c:v>SP2M</c:v>
                </c:pt>
                <c:pt idx="3">
                  <c:v>AM</c:v>
                </c:pt>
                <c:pt idx="4">
                  <c:v>Energy Ops</c:v>
                </c:pt>
                <c:pt idx="5">
                  <c:v>Global Mining</c:v>
                </c:pt>
                <c:pt idx="6">
                  <c:v>B&amp;I</c:v>
                </c:pt>
                <c:pt idx="7">
                  <c:v>JESA Tech</c:v>
                </c:pt>
                <c:pt idx="8">
                  <c:v>Advisory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-206.0</c:v>
                </c:pt>
                <c:pt idx="1">
                  <c:v>-15.0</c:v>
                </c:pt>
                <c:pt idx="2">
                  <c:v>-92.0</c:v>
                </c:pt>
                <c:pt idx="3">
                  <c:v>-127.0</c:v>
                </c:pt>
                <c:pt idx="4">
                  <c:v>0.0</c:v>
                </c:pt>
                <c:pt idx="5">
                  <c:v>-6.0</c:v>
                </c:pt>
                <c:pt idx="6">
                  <c:v>2.0</c:v>
                </c:pt>
                <c:pt idx="7">
                  <c:v>-8.0</c:v>
                </c:pt>
                <c:pt idx="8">
                  <c:v>-3.0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status – last week vs this week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14-Oct</c:v>
                </c:pt>
              </c:strCache>
            </c:strRef>
          </c:tx>
          <c:spPr>
            <a:solidFill>
              <a:srgbClr val="C9DDEE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Treasury</c:v>
                </c:pt>
                <c:pt idx="2">
                  <c:v>OCP subs</c:v>
                </c:pt>
                <c:pt idx="3">
                  <c:v>Ordonnancement</c:v>
                </c:pt>
                <c:pt idx="4">
                  <c:v>Missing reception</c:v>
                </c:pt>
                <c:pt idx="5">
                  <c:v>Other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784.0</c:v>
                </c:pt>
                <c:pt idx="1">
                  <c:v>471.0</c:v>
                </c:pt>
                <c:pt idx="2">
                  <c:v>353.0</c:v>
                </c:pt>
                <c:pt idx="3">
                  <c:v>290.0</c:v>
                </c:pt>
                <c:pt idx="4">
                  <c:v>147.0</c:v>
                </c:pt>
                <c:pt idx="5">
                  <c:v>581.0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20-Oct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Treasury</c:v>
                </c:pt>
                <c:pt idx="2">
                  <c:v>OCP subs</c:v>
                </c:pt>
                <c:pt idx="3">
                  <c:v>Ordonnancement</c:v>
                </c:pt>
                <c:pt idx="4">
                  <c:v>Missing reception</c:v>
                </c:pt>
                <c:pt idx="5">
                  <c:v>Other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610.0</c:v>
                </c:pt>
                <c:pt idx="1">
                  <c:v>457.0</c:v>
                </c:pt>
                <c:pt idx="2">
                  <c:v>356.0</c:v>
                </c:pt>
                <c:pt idx="3">
                  <c:v>262.0</c:v>
                </c:pt>
                <c:pt idx="4">
                  <c:v>130.0</c:v>
                </c:pt>
                <c:pt idx="5">
                  <c:v>555.0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Unrecognized revenue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Pt>
            <c:idx val="0"/>
            <c:spPr>
              <a:solidFill>
                <a:srgbClr val="C8972B"/>
              </a:solidFill>
              <a:ln>
                <a:noFill/>
              </a:ln>
            </c:spPr>
          </c:dPt>
          <c:dPt>
            <c:idx val="1"/>
            <c:spPr>
              <a:solidFill>
                <a:srgbClr val="0F3B63"/>
              </a:solidFill>
              <a:ln>
                <a:noFill/>
              </a:ln>
            </c:spPr>
          </c:dPt>
          <c:dPt>
            <c:idx val="2"/>
            <c:spPr>
              <a:solidFill>
                <a:srgbClr val="3A9C8C"/>
              </a:solidFill>
              <a:ln>
                <a:noFill/>
              </a:ln>
            </c:spPr>
          </c:dPt>
          <c:dPt>
            <c:idx val="3"/>
            <c:spPr>
              <a:solidFill>
                <a:srgbClr val="2E7D4F"/>
              </a:solidFill>
              <a:ln>
                <a:noFill/>
              </a:ln>
            </c:spPr>
          </c:dPt>
          <c:dPt>
            <c:idx val="4"/>
            <c:spPr>
              <a:solidFill>
                <a:srgbClr val="2E6DA4"/>
              </a:solidFill>
              <a:ln>
                <a:noFill/>
              </a:ln>
            </c:spPr>
          </c:dPt>
          <c:dPt>
            <c:idx val="5"/>
            <c:spPr>
              <a:solidFill>
                <a:srgbClr val="7A8794"/>
              </a:solidFill>
              <a:ln>
                <a:noFill/>
              </a:ln>
            </c:spPr>
          </c:dPt>
          <c:dPt>
            <c:idx val="6"/>
            <c:spPr>
              <a:solidFill>
                <a:srgbClr val="1B2F4B"/>
              </a:solidFill>
              <a:ln>
                <a:noFill/>
              </a:ln>
            </c:spPr>
          </c:dPt>
          <c:dPt>
            <c:idx val="7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Sheet1!$A$2:$A$9</c:f>
              <c:strCache>
                <c:ptCount val="8"/>
                <c:pt idx="0">
                  <c:v>SP2M  (+2)</c:v>
                </c:pt>
                <c:pt idx="1">
                  <c:v>Water &amp; Env.  (−2)</c:v>
                </c:pt>
                <c:pt idx="2">
                  <c:v>Fert. &amp; Chem.  (−2)</c:v>
                </c:pt>
                <c:pt idx="3">
                  <c:v>Energy Ops  (0)</c:v>
                </c:pt>
                <c:pt idx="4">
                  <c:v>JESA Tech  (0)</c:v>
                </c:pt>
                <c:pt idx="5">
                  <c:v>Global Mining  (−43)</c:v>
                </c:pt>
                <c:pt idx="6">
                  <c:v>AM  (+5)</c:v>
                </c:pt>
                <c:pt idx="7">
                  <c:v>B&amp;I  (0)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3271.0</c:v>
                </c:pt>
                <c:pt idx="1">
                  <c:v>1511.0</c:v>
                </c:pt>
                <c:pt idx="2">
                  <c:v>1382.0</c:v>
                </c:pt>
                <c:pt idx="3">
                  <c:v>362.0</c:v>
                </c:pt>
                <c:pt idx="4">
                  <c:v>252.0</c:v>
                </c:pt>
                <c:pt idx="5">
                  <c:v>160.0</c:v>
                </c:pt>
                <c:pt idx="6">
                  <c:v>132.0</c:v>
                </c:pt>
                <c:pt idx="7">
                  <c:v>58.0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Pend. Submission</c:v>
                </c:pt>
                <c:pt idx="1">
                  <c:v>Pend. Approval</c:v>
                </c:pt>
                <c:pt idx="2">
                  <c:v>Under CN</c:v>
                </c:pt>
                <c:pt idx="3">
                  <c:v>At-Risk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1438.0</c:v>
                </c:pt>
                <c:pt idx="1">
                  <c:v>267.0</c:v>
                </c:pt>
                <c:pt idx="2">
                  <c:v>470.0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Subcontractors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Lbls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Pend. Submission</c:v>
                </c:pt>
                <c:pt idx="1">
                  <c:v>Pend. Approval</c:v>
                </c:pt>
                <c:pt idx="2">
                  <c:v>Under CN</c:v>
                </c:pt>
                <c:pt idx="3">
                  <c:v>At-Risk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2110.0</c:v>
                </c:pt>
                <c:pt idx="1">
                  <c:v>1226.0</c:v>
                </c:pt>
                <c:pt idx="2">
                  <c:v>1183.0</c:v>
                </c:pt>
                <c:pt idx="3">
                  <c:v>5.0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Labor (PSR)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75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586.0</c:v>
                </c:pt>
                <c:pt idx="1">
                  <c:v>467.0</c:v>
                </c:pt>
                <c:pt idx="2">
                  <c:v>171.0</c:v>
                </c:pt>
                <c:pt idx="3">
                  <c:v>91.0</c:v>
                </c:pt>
                <c:pt idx="4">
                  <c:v>117.0</c:v>
                </c:pt>
                <c:pt idx="5">
                  <c:v>95.0</c:v>
                </c:pt>
                <c:pt idx="6">
                  <c:v>133.0</c:v>
                </c:pt>
                <c:pt idx="7">
                  <c:v>152.0</c:v>
                </c:pt>
                <c:pt idx="8">
                  <c:v>214.0</c:v>
                </c:pt>
                <c:pt idx="9">
                  <c:v>91.0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Non-labor (procurement)</c:v>
                </c:pt>
              </c:strCache>
            </c:strRef>
          </c:tx>
          <c:spPr>
            <a:solidFill>
              <a:srgbClr val="E08A2E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75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1662.0</c:v>
                </c:pt>
                <c:pt idx="1">
                  <c:v>1251.0</c:v>
                </c:pt>
                <c:pt idx="2">
                  <c:v>355.0</c:v>
                </c:pt>
                <c:pt idx="3">
                  <c:v>126.0</c:v>
                </c:pt>
                <c:pt idx="4">
                  <c:v>360.0</c:v>
                </c:pt>
                <c:pt idx="5">
                  <c:v>106.0</c:v>
                </c:pt>
                <c:pt idx="6">
                  <c:v>657.0</c:v>
                </c:pt>
                <c:pt idx="7">
                  <c:v>775.0</c:v>
                </c:pt>
                <c:pt idx="8">
                  <c:v>523.0</c:v>
                </c:pt>
                <c:pt idx="9">
                  <c:v>151.0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Cash IN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712.0</c:v>
                </c:pt>
                <c:pt idx="1">
                  <c:v>715.0</c:v>
                </c:pt>
                <c:pt idx="2">
                  <c:v>526.0</c:v>
                </c:pt>
                <c:pt idx="3">
                  <c:v>151.0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OUT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548.0</c:v>
                </c:pt>
                <c:pt idx="1">
                  <c:v>296.0</c:v>
                </c:pt>
                <c:pt idx="2">
                  <c:v>889.0</c:v>
                </c:pt>
                <c:pt idx="3">
                  <c:v>220.0</c:v>
                </c:pt>
                <c:pt idx="4">
                  <c:v>321.0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164.0</c:v>
                </c:pt>
                <c:pt idx="1">
                  <c:v>419.0</c:v>
                </c:pt>
                <c:pt idx="2">
                  <c:v>-363.0</c:v>
                </c:pt>
                <c:pt idx="3">
                  <c:v>-69.0</c:v>
                </c:pt>
                <c:pt idx="4">
                  <c:v>-321.0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Cash IN vs cash OUT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Cash IN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632.0</c:v>
                </c:pt>
                <c:pt idx="1">
                  <c:v>527.0</c:v>
                </c:pt>
                <c:pt idx="2">
                  <c:v>402.0</c:v>
                </c:pt>
                <c:pt idx="3">
                  <c:v>307.0</c:v>
                </c:pt>
                <c:pt idx="4">
                  <c:v>111.0</c:v>
                </c:pt>
                <c:pt idx="5">
                  <c:v>65.0</c:v>
                </c:pt>
                <c:pt idx="6">
                  <c:v>51.0</c:v>
                </c:pt>
                <c:pt idx="7">
                  <c:v>10.0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OUT (incl. commitments)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619.0</c:v>
                </c:pt>
                <c:pt idx="1">
                  <c:v>452.0</c:v>
                </c:pt>
                <c:pt idx="2">
                  <c:v>358.0</c:v>
                </c:pt>
                <c:pt idx="3">
                  <c:v>640.0</c:v>
                </c:pt>
                <c:pt idx="4">
                  <c:v>106.0</c:v>
                </c:pt>
                <c:pt idx="5">
                  <c:v>16.0</c:v>
                </c:pt>
                <c:pt idx="6">
                  <c:v>58.0</c:v>
                </c:pt>
                <c:pt idx="7">
                  <c:v>11.0</c:v>
                </c:pt>
                <c:pt idx="8">
                  <c:v>15.0</c:v>
                </c:pt>
                <c:pt idx="9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Net balance after all ongoing commitments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after all ongoing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Pt>
            <c:idx val="0"/>
            <c:spPr>
              <a:solidFill>
                <a:srgbClr val="2E7D4F"/>
              </a:solidFill>
              <a:ln>
                <a:noFill/>
              </a:ln>
            </c:spPr>
          </c:dPt>
          <c:dPt>
            <c:idx val="1"/>
            <c:spPr>
              <a:solidFill>
                <a:srgbClr val="2E7D4F"/>
              </a:solidFill>
              <a:ln>
                <a:noFill/>
              </a:ln>
            </c:spPr>
          </c:dPt>
          <c:dPt>
            <c:idx val="2"/>
            <c:spPr>
              <a:solidFill>
                <a:srgbClr val="2E7D4F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dPt>
            <c:idx val="4"/>
            <c:spPr>
              <a:solidFill>
                <a:srgbClr val="2E7D4F"/>
              </a:solidFill>
              <a:ln>
                <a:noFill/>
              </a:ln>
            </c:spPr>
          </c:dPt>
          <c:dPt>
            <c:idx val="5"/>
            <c:spPr>
              <a:solidFill>
                <a:srgbClr val="2E7D4F"/>
              </a:solidFill>
              <a:ln>
                <a:noFill/>
              </a:ln>
            </c:spPr>
          </c:dPt>
          <c:dPt>
            <c:idx val="6"/>
            <c:spPr>
              <a:solidFill>
                <a:srgbClr val="B5473A"/>
              </a:solidFill>
              <a:ln>
                <a:noFill/>
              </a:ln>
            </c:spPr>
          </c:dPt>
          <c:dPt>
            <c:idx val="7"/>
            <c:spPr>
              <a:solidFill>
                <a:srgbClr val="B5473A"/>
              </a:solidFill>
              <a:ln>
                <a:noFill/>
              </a:ln>
            </c:spPr>
          </c:dPt>
          <c:dPt>
            <c:idx val="8"/>
            <c:spPr>
              <a:solidFill>
                <a:srgbClr val="B5473A"/>
              </a:solidFill>
              <a:ln>
                <a:noFill/>
              </a:ln>
            </c:spPr>
          </c:dPt>
          <c:dPt>
            <c:idx val="9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13.0</c:v>
                </c:pt>
                <c:pt idx="1">
                  <c:v>75.0</c:v>
                </c:pt>
                <c:pt idx="2">
                  <c:v>44.0</c:v>
                </c:pt>
                <c:pt idx="3">
                  <c:v>-333.0</c:v>
                </c:pt>
                <c:pt idx="4">
                  <c:v>5.0</c:v>
                </c:pt>
                <c:pt idx="5">
                  <c:v>49.0</c:v>
                </c:pt>
                <c:pt idx="6">
                  <c:v>-7.0</c:v>
                </c:pt>
                <c:pt idx="7">
                  <c:v>-2.0</c:v>
                </c:pt>
                <c:pt idx="8">
                  <c:v>-15.0</c:v>
                </c:pt>
                <c:pt idx="9">
                  <c:v>-0.0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dPt>
            <c:idx val="0"/>
            <c:spPr>
              <a:solidFill>
                <a:srgbClr val="C8972B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3A9C8C"/>
              </a:solidFill>
              <a:ln>
                <a:noFill/>
              </a:ln>
            </c:spPr>
          </c:dPt>
          <c:dPt>
            <c:idx val="3"/>
            <c:spPr>
              <a:solidFill>
                <a:srgbClr val="3A9C8C"/>
              </a:solidFill>
              <a:ln>
                <a:noFill/>
              </a:ln>
            </c:spPr>
          </c:dPt>
          <c:dPt>
            <c:idx val="4"/>
            <c:spPr>
              <a:solidFill>
                <a:srgbClr val="3A9C8C"/>
              </a:solidFill>
              <a:ln>
                <a:noFill/>
              </a:ln>
            </c:spPr>
          </c:dPt>
          <c:dPt>
            <c:idx val="5"/>
            <c:spPr>
              <a:solidFill>
                <a:srgbClr val="3A9C8C"/>
              </a:solidFill>
              <a:ln>
                <a:noFill/>
              </a:ln>
            </c:spPr>
          </c:dPt>
          <c:dPt>
            <c:idx val="6"/>
            <c:spPr>
              <a:solidFill>
                <a:srgbClr val="3A9C8C"/>
              </a:solidFill>
              <a:ln>
                <a:noFill/>
              </a:ln>
            </c:spPr>
          </c:dPt>
          <c:dPt>
            <c:idx val="7"/>
            <c:spPr>
              <a:solidFill>
                <a:srgbClr val="3A9C8C"/>
              </a:solidFill>
              <a:ln>
                <a:noFill/>
              </a:ln>
            </c:spPr>
          </c:dPt>
          <c:cat>
            <c:strRef>
              <c:f>Sheet1!$A$2:$A$9</c:f>
              <c:strCache>
                <c:ptCount val="8"/>
                <c:pt idx="0">
                  <c:v>AM</c:v>
                </c:pt>
                <c:pt idx="1">
                  <c:v>Water &amp; Env.</c:v>
                </c:pt>
                <c:pt idx="2">
                  <c:v>Advisory</c:v>
                </c:pt>
                <c:pt idx="3">
                  <c:v>Fert. &amp; Chem.</c:v>
                </c:pt>
                <c:pt idx="4">
                  <c:v>Energy Ops</c:v>
                </c:pt>
                <c:pt idx="5">
                  <c:v>Global Mining</c:v>
                </c:pt>
                <c:pt idx="6">
                  <c:v>B&amp;I</c:v>
                </c:pt>
                <c:pt idx="7">
                  <c:v>SP2M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199.0</c:v>
                </c:pt>
                <c:pt idx="1">
                  <c:v>102.0</c:v>
                </c:pt>
                <c:pt idx="2">
                  <c:v>25.0</c:v>
                </c:pt>
                <c:pt idx="3">
                  <c:v>18.0</c:v>
                </c:pt>
                <c:pt idx="4">
                  <c:v>10.0</c:v>
                </c:pt>
                <c:pt idx="5">
                  <c:v>9.0</c:v>
                </c:pt>
                <c:pt idx="6">
                  <c:v>5.0</c:v>
                </c:pt>
                <c:pt idx="7">
                  <c:v>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9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Paid to 15/10</c:v>
                </c:pt>
                <c:pt idx="1">
                  <c:v>Approved – LC maturities</c:v>
                </c:pt>
                <c:pt idx="2">
                  <c:v>Approved – supplier invoices</c:v>
                </c:pt>
                <c:pt idx="3">
                  <c:v>Pending approval</c:v>
                </c:pt>
                <c:pt idx="4">
                  <c:v>Total October outflow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220.27320822</c:v>
                </c:pt>
                <c:pt idx="2">
                  <c:v>376.7167884441774</c:v>
                </c:pt>
                <c:pt idx="3">
                  <c:v>477.7994740509534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spPr>
            <a:ln>
              <a:noFill/>
            </a:ln>
          </c:spPr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8972B"/>
              </a:solidFill>
              <a:ln>
                <a:noFill/>
              </a:ln>
            </c:spPr>
          </c:dPt>
          <c:dPt>
            <c:idx val="2"/>
            <c:spPr>
              <a:solidFill>
                <a:srgbClr val="C8972B"/>
              </a:solidFill>
              <a:ln>
                <a:noFill/>
              </a:ln>
            </c:spPr>
          </c:dPt>
          <c:dPt>
            <c:idx val="3"/>
            <c:spPr>
              <a:solidFill>
                <a:srgbClr val="E08A2E"/>
              </a:solidFill>
              <a:ln>
                <a:noFill/>
              </a:ln>
            </c:spPr>
          </c:dPt>
          <c:dPt>
            <c:idx val="4"/>
            <c:spPr>
              <a:solidFill>
                <a:srgbClr val="0F3B63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220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+156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+101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+64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541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Paid to 15/10</c:v>
                </c:pt>
                <c:pt idx="1">
                  <c:v>Approved – LC maturities</c:v>
                </c:pt>
                <c:pt idx="2">
                  <c:v>Approved – supplier invoices</c:v>
                </c:pt>
                <c:pt idx="3">
                  <c:v>Pending approval</c:v>
                </c:pt>
                <c:pt idx="4">
                  <c:v>Total October outflow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220.27320822</c:v>
                </c:pt>
                <c:pt idx="1">
                  <c:v>156.4435802241774</c:v>
                </c:pt>
                <c:pt idx="2">
                  <c:v>101.082685606776</c:v>
                </c:pt>
                <c:pt idx="3">
                  <c:v>63.92444617999999</c:v>
                </c:pt>
                <c:pt idx="4">
                  <c:v>541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Approved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Pending AP (unpaid)</c:v>
                </c:pt>
                <c:pt idx="1">
                  <c:v>Paid after cut-off, awaiting SAP</c:v>
                </c:pt>
                <c:pt idx="2">
                  <c:v>Pending Treasury (unpaid)</c:v>
                </c:pt>
                <c:pt idx="3">
                  <c:v>Paid per log, not yet in SAP</c:v>
                </c:pt>
                <c:pt idx="4">
                  <c:v>Paid, SAP clearing reversed</c:v>
                </c:pt>
                <c:pt idx="5">
                  <c:v>Paid per log, no date</c:v>
                </c:pt>
                <c:pt idx="6">
                  <c:v>Cancelled – to review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44.0</c:v>
                </c:pt>
                <c:pt idx="1">
                  <c:v>23.8</c:v>
                </c:pt>
                <c:pt idx="2">
                  <c:v>13.2</c:v>
                </c:pt>
                <c:pt idx="3">
                  <c:v>11.3</c:v>
                </c:pt>
                <c:pt idx="4">
                  <c:v>2.3</c:v>
                </c:pt>
                <c:pt idx="5">
                  <c:v>0.8</c:v>
                </c:pt>
                <c:pt idx="6">
                  <c:v>0.2</c:v>
                </c:pt>
              </c:numCache>
            </c:numRef>
          </c:val>
        </c:ser>
        <c:dLbls>
          <c:numFmt formatCode="#,##0.0;−#,##0.0;&quot;&quot;" sourceLinked="0"/>
          <c:txPr>
            <a:bodyPr/>
            <a:lstStyle/>
            <a:p>
              <a:pPr>
                <a:defRPr sz="8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4411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721.0</c:v>
                </c:pt>
                <c:pt idx="1">
                  <c:v>71.0</c:v>
                </c:pt>
                <c:pt idx="2">
                  <c:v>16.0</c:v>
                </c:pt>
                <c:pt idx="3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Parked Invoice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431.0</c:v>
                </c:pt>
                <c:pt idx="1">
                  <c:v>184.0</c:v>
                </c:pt>
                <c:pt idx="2">
                  <c:v>303.0</c:v>
                </c:pt>
                <c:pt idx="3">
                  <c:v>118.0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Downpayment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262.0</c:v>
                </c:pt>
                <c:pt idx="1">
                  <c:v>8.0</c:v>
                </c:pt>
                <c:pt idx="2">
                  <c:v>27.0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Maturities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Sheet1!$A$2:$A$15</c:f>
              <c:strCache>
                <c:ptCount val="14"/>
                <c:pt idx="0">
                  <c:v>Oct-26</c:v>
                </c:pt>
                <c:pt idx="1">
                  <c:v>Nov-26</c:v>
                </c:pt>
                <c:pt idx="2">
                  <c:v>Dec-26</c:v>
                </c:pt>
                <c:pt idx="3">
                  <c:v>Jan-27</c:v>
                </c:pt>
                <c:pt idx="4">
                  <c:v>Feb-27</c:v>
                </c:pt>
                <c:pt idx="5">
                  <c:v>Mar-27</c:v>
                </c:pt>
                <c:pt idx="6">
                  <c:v>Apr-27</c:v>
                </c:pt>
                <c:pt idx="7">
                  <c:v>May-27</c:v>
                </c:pt>
                <c:pt idx="8">
                  <c:v>Jun-27</c:v>
                </c:pt>
                <c:pt idx="9">
                  <c:v>Jul-27</c:v>
                </c:pt>
                <c:pt idx="10">
                  <c:v>Aug-27</c:v>
                </c:pt>
                <c:pt idx="11">
                  <c:v>Sep-27</c:v>
                </c:pt>
                <c:pt idx="12">
                  <c:v>Oct-27</c:v>
                </c:pt>
                <c:pt idx="13">
                  <c:v>Nov-27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156.0</c:v>
                </c:pt>
                <c:pt idx="1">
                  <c:v>344.0</c:v>
                </c:pt>
                <c:pt idx="2">
                  <c:v>130.0</c:v>
                </c:pt>
                <c:pt idx="3">
                  <c:v>358.0</c:v>
                </c:pt>
                <c:pt idx="4">
                  <c:v>22.0</c:v>
                </c:pt>
                <c:pt idx="5">
                  <c:v>122.0</c:v>
                </c:pt>
                <c:pt idx="6">
                  <c:v>0.0</c:v>
                </c:pt>
                <c:pt idx="7">
                  <c:v>0.0</c:v>
                </c:pt>
                <c:pt idx="8">
                  <c:v>70.0</c:v>
                </c:pt>
                <c:pt idx="9">
                  <c:v>334.0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47.0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Encours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Amount to be split by delivery</c:v>
                </c:pt>
                <c:pt idx="1">
                  <c:v>24-month rescheduling to finalise</c:v>
                </c:pt>
                <c:pt idx="2">
                  <c:v>No action recorded</c:v>
                </c:pt>
                <c:pt idx="3">
                  <c:v>Awaiting LC copy from buyer</c:v>
                </c:pt>
                <c:pt idx="4">
                  <c:v>Remaining payment pushed to 2027</c:v>
                </c:pt>
                <c:pt idx="5">
                  <c:v>Awaiting JESA response (suspension)</c:v>
                </c:pt>
                <c:pt idx="6">
                  <c:v>Finance to check with bank</c:v>
                </c:pt>
                <c:pt idx="7">
                  <c:v>LC to close</c:v>
                </c:pt>
                <c:pt idx="8">
                  <c:v>Other actions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449.0</c:v>
                </c:pt>
                <c:pt idx="1">
                  <c:v>386.0</c:v>
                </c:pt>
                <c:pt idx="2">
                  <c:v>286.0</c:v>
                </c:pt>
                <c:pt idx="3">
                  <c:v>164.0</c:v>
                </c:pt>
                <c:pt idx="4">
                  <c:v>102.0</c:v>
                </c:pt>
                <c:pt idx="5">
                  <c:v>76.0</c:v>
                </c:pt>
                <c:pt idx="6">
                  <c:v>30.0</c:v>
                </c:pt>
                <c:pt idx="7">
                  <c:v>27.0</c:v>
                </c:pt>
                <c:pt idx="8">
                  <c:v>64.0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1514.833461418898</c:v>
                </c:pt>
                <c:pt idx="1">
                  <c:v>879.821554311496</c:v>
                </c:pt>
                <c:pt idx="2">
                  <c:v>172.2599169032063</c:v>
                </c:pt>
                <c:pt idx="3">
                  <c:v>16.01562512455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275.4748179027065</c:v>
                </c:pt>
                <c:pt idx="1">
                  <c:v>24.18765480946</c:v>
                </c:pt>
                <c:pt idx="2">
                  <c:v>32.2346680608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Ordonnancement</c:v>
                </c:pt>
                <c:pt idx="1">
                  <c:v>Missing reception</c:v>
                </c:pt>
                <c:pt idx="2">
                  <c:v>Treasury</c:v>
                </c:pt>
                <c:pt idx="3">
                  <c:v>Other</c:v>
                </c:pt>
                <c:pt idx="4">
                  <c:v>Rejected</c:v>
                </c:pt>
                <c:pt idx="5">
                  <c:v>OCP subs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177.0</c:v>
                </c:pt>
                <c:pt idx="1">
                  <c:v>52.0</c:v>
                </c:pt>
                <c:pt idx="2">
                  <c:v>52.0</c:v>
                </c:pt>
                <c:pt idx="3">
                  <c:v>27.0</c:v>
                </c:pt>
                <c:pt idx="4">
                  <c:v>24.0</c:v>
                </c:pt>
                <c:pt idx="5">
                  <c:v>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110.0</c:v>
                </c:pt>
                <c:pt idx="1">
                  <c:v>139.0</c:v>
                </c:pt>
                <c:pt idx="2">
                  <c:v>83.0</c:v>
                </c:pt>
                <c:pt idx="3">
                  <c:v>109.0</c:v>
                </c:pt>
                <c:pt idx="4">
                  <c:v>2142.0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33.0</c:v>
                </c:pt>
                <c:pt idx="1">
                  <c:v>53.0</c:v>
                </c:pt>
                <c:pt idx="2">
                  <c:v>1.0</c:v>
                </c:pt>
                <c:pt idx="3">
                  <c:v>30.0</c:v>
                </c:pt>
                <c:pt idx="4">
                  <c:v>214.0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50.0</c:v>
                </c:pt>
                <c:pt idx="1">
                  <c:v>0.0</c:v>
                </c:pt>
                <c:pt idx="2">
                  <c:v>96.0</c:v>
                </c:pt>
                <c:pt idx="3">
                  <c:v>22.0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334.0</c:v>
                </c:pt>
                <c:pt idx="1">
                  <c:v>0.0</c:v>
                </c:pt>
                <c:pt idx="2">
                  <c:v>150.0</c:v>
                </c:pt>
                <c:pt idx="3">
                  <c:v>859.0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332.0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1758.133196524791</c:v>
                </c:pt>
                <c:pt idx="1">
                  <c:v>513.7128624382163</c:v>
                </c:pt>
                <c:pt idx="2">
                  <c:v>218.7233831843153</c:v>
                </c:pt>
                <c:pt idx="3">
                  <c:v>65.43014347000002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398.8785848512981</c:v>
                </c:pt>
                <c:pt idx="1">
                  <c:v>183.563917609</c:v>
                </c:pt>
                <c:pt idx="2">
                  <c:v>53.25067778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Non-OCP / OCP sub (…</c:v>
                </c:pt>
                <c:pt idx="2">
                  <c:v>Treasury</c:v>
                </c:pt>
                <c:pt idx="3">
                  <c:v>Other</c:v>
                </c:pt>
                <c:pt idx="4">
                  <c:v>Missing reception</c:v>
                </c:pt>
                <c:pt idx="5">
                  <c:v>Ordonnancement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184.0</c:v>
                </c:pt>
                <c:pt idx="1">
                  <c:v>163.0</c:v>
                </c:pt>
                <c:pt idx="2">
                  <c:v>141.0</c:v>
                </c:pt>
                <c:pt idx="3">
                  <c:v>105.0</c:v>
                </c:pt>
                <c:pt idx="4">
                  <c:v>32.0</c:v>
                </c:pt>
                <c:pt idx="5">
                  <c:v>9.0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114.0</c:v>
                </c:pt>
                <c:pt idx="1">
                  <c:v>68.0</c:v>
                </c:pt>
                <c:pt idx="2">
                  <c:v>125.0</c:v>
                </c:pt>
                <c:pt idx="3">
                  <c:v>52.0</c:v>
                </c:pt>
                <c:pt idx="4">
                  <c:v>2195.0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63.0</c:v>
                </c:pt>
                <c:pt idx="1">
                  <c:v>53.0</c:v>
                </c:pt>
                <c:pt idx="2">
                  <c:v>64.0</c:v>
                </c:pt>
                <c:pt idx="3">
                  <c:v>79.0</c:v>
                </c:pt>
                <c:pt idx="4">
                  <c:v>377.0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73.0</c:v>
                </c:pt>
                <c:pt idx="1">
                  <c:v>20.0</c:v>
                </c:pt>
                <c:pt idx="2">
                  <c:v>112.0</c:v>
                </c:pt>
                <c:pt idx="3">
                  <c:v>173.0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296.0</c:v>
                </c:pt>
                <c:pt idx="1">
                  <c:v>0.0</c:v>
                </c:pt>
                <c:pt idx="2">
                  <c:v>371.0</c:v>
                </c:pt>
                <c:pt idx="3">
                  <c:v>310.0</c:v>
                </c:pt>
                <c:pt idx="4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20.0</c:v>
                </c:pt>
                <c:pt idx="1">
                  <c:v>41.0</c:v>
                </c:pt>
                <c:pt idx="2">
                  <c:v>12.0</c:v>
                </c:pt>
                <c:pt idx="3">
                  <c:v>20.0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296.0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2395.844985099107</c:v>
                </c:pt>
                <c:pt idx="1">
                  <c:v>0.68943248</c:v>
                </c:pt>
                <c:pt idx="2">
                  <c:v>303.1807808399995</c:v>
                </c:pt>
                <c:pt idx="3">
                  <c:v>20.55986176999998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56.08578092</c:v>
                </c:pt>
                <c:pt idx="1">
                  <c:v>387.73355299</c:v>
                </c:pt>
                <c:pt idx="2">
                  <c:v>1.649866900000006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Rejected</c:v>
                </c:pt>
                <c:pt idx="1">
                  <c:v>Treasury</c:v>
                </c:pt>
                <c:pt idx="2">
                  <c:v>Other</c:v>
                </c:pt>
                <c:pt idx="3">
                  <c:v>Being processed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388.0</c:v>
                </c:pt>
                <c:pt idx="1">
                  <c:v>53.0</c:v>
                </c:pt>
                <c:pt idx="2">
                  <c:v>3.0</c:v>
                </c:pt>
                <c:pt idx="3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115.0</c:v>
                </c:pt>
                <c:pt idx="1">
                  <c:v>160.0</c:v>
                </c:pt>
                <c:pt idx="2">
                  <c:v>266.0</c:v>
                </c:pt>
                <c:pt idx="3">
                  <c:v>239.0</c:v>
                </c:pt>
                <c:pt idx="4">
                  <c:v>1941.0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2.0</c:v>
                </c:pt>
                <c:pt idx="1">
                  <c:v>53.0</c:v>
                </c:pt>
                <c:pt idx="2">
                  <c:v>0.0</c:v>
                </c:pt>
                <c:pt idx="3">
                  <c:v>12.0</c:v>
                </c:pt>
                <c:pt idx="4">
                  <c:v>379.0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48.0</c:v>
                </c:pt>
                <c:pt idx="1">
                  <c:v>0.0</c:v>
                </c:pt>
                <c:pt idx="2">
                  <c:v>1061.0</c:v>
                </c:pt>
                <c:pt idx="3">
                  <c:v>291.0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175.0</c:v>
                </c:pt>
                <c:pt idx="1">
                  <c:v>0.0</c:v>
                </c:pt>
                <c:pt idx="2">
                  <c:v>1696.0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36.0</c:v>
                </c:pt>
                <c:pt idx="2">
                  <c:v>12.0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175.0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698.8850559242986</c:v>
                </c:pt>
                <c:pt idx="1">
                  <c:v>0.0</c:v>
                </c:pt>
                <c:pt idx="2">
                  <c:v>0.0</c:v>
                </c:pt>
                <c:pt idx="3">
                  <c:v>1.41922638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103.1182487199999</c:v>
                </c:pt>
                <c:pt idx="1">
                  <c:v>0.0</c:v>
                </c:pt>
                <c:pt idx="2">
                  <c:v>158.391421685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Treasury</c:v>
                </c:pt>
                <c:pt idx="1">
                  <c:v>Ordonnancement</c:v>
                </c:pt>
                <c:pt idx="2">
                  <c:v>Missing reception</c:v>
                </c:pt>
                <c:pt idx="3">
                  <c:v>Other</c:v>
                </c:pt>
                <c:pt idx="4">
                  <c:v>Being processed</c:v>
                </c:pt>
                <c:pt idx="5">
                  <c:v>OCP subs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183.0</c:v>
                </c:pt>
                <c:pt idx="1">
                  <c:v>25.0</c:v>
                </c:pt>
                <c:pt idx="2">
                  <c:v>22.0</c:v>
                </c:pt>
                <c:pt idx="3">
                  <c:v>13.0</c:v>
                </c:pt>
                <c:pt idx="4">
                  <c:v>12.0</c:v>
                </c:pt>
                <c:pt idx="5">
                  <c:v>6.0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37.0</c:v>
                </c:pt>
                <c:pt idx="1">
                  <c:v>104.0</c:v>
                </c:pt>
                <c:pt idx="2">
                  <c:v>9.0</c:v>
                </c:pt>
                <c:pt idx="3">
                  <c:v>52.0</c:v>
                </c:pt>
                <c:pt idx="4">
                  <c:v>90.0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160.0</c:v>
                </c:pt>
                <c:pt idx="1">
                  <c:v>57.0</c:v>
                </c:pt>
                <c:pt idx="2">
                  <c:v>0.0</c:v>
                </c:pt>
                <c:pt idx="3">
                  <c:v>2.0</c:v>
                </c:pt>
                <c:pt idx="4">
                  <c:v>41.0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80.0</c:v>
                </c:pt>
                <c:pt idx="1">
                  <c:v>4.0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37.0</c:v>
                </c:pt>
                <c:pt idx="1">
                  <c:v>5.0</c:v>
                </c:pt>
                <c:pt idx="2">
                  <c:v>4.0</c:v>
                </c:pt>
                <c:pt idx="3">
                  <c:v>3.0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73.0</c:v>
                </c:pt>
                <c:pt idx="1">
                  <c:v>0.0</c:v>
                </c:pt>
                <c:pt idx="2">
                  <c:v>7.0</c:v>
                </c:pt>
                <c:pt idx="3">
                  <c:v>4.0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33.0</c:v>
                </c:pt>
                <c:pt idx="1">
                  <c:v>1.0</c:v>
                </c:pt>
                <c:pt idx="2">
                  <c:v>3.0</c:v>
                </c:pt>
                <c:pt idx="3">
                  <c:v>5.0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320.7558998199998</c:v>
                </c:pt>
                <c:pt idx="1">
                  <c:v>36.60798698999999</c:v>
                </c:pt>
                <c:pt idx="2">
                  <c:v>7.9419595653064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84.02500996</c:v>
                </c:pt>
                <c:pt idx="1">
                  <c:v>0.2207168</c:v>
                </c:pt>
                <c:pt idx="2">
                  <c:v>9.609769380442563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OCP subs</c:v>
                </c:pt>
                <c:pt idx="1">
                  <c:v>Ordonnancement</c:v>
                </c:pt>
                <c:pt idx="2">
                  <c:v>Missing reception</c:v>
                </c:pt>
                <c:pt idx="3">
                  <c:v>Other</c:v>
                </c:pt>
                <c:pt idx="4">
                  <c:v>Treasury</c:v>
                </c:pt>
                <c:pt idx="5">
                  <c:v>Rejected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45.0</c:v>
                </c:pt>
                <c:pt idx="1">
                  <c:v>25.0</c:v>
                </c:pt>
                <c:pt idx="2">
                  <c:v>11.0</c:v>
                </c:pt>
                <c:pt idx="3">
                  <c:v>10.0</c:v>
                </c:pt>
                <c:pt idx="4">
                  <c:v>3.0</c:v>
                </c:pt>
                <c:pt idx="5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17.0</c:v>
                </c:pt>
                <c:pt idx="1">
                  <c:v>11.0</c:v>
                </c:pt>
                <c:pt idx="2">
                  <c:v>52.0</c:v>
                </c:pt>
                <c:pt idx="3">
                  <c:v>0.0</c:v>
                </c:pt>
                <c:pt idx="4">
                  <c:v>283.0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10.0</c:v>
                </c:pt>
                <c:pt idx="1">
                  <c:v>27.0</c:v>
                </c:pt>
                <c:pt idx="2">
                  <c:v>10.0</c:v>
                </c:pt>
                <c:pt idx="3">
                  <c:v>4.0</c:v>
                </c:pt>
                <c:pt idx="4">
                  <c:v>43.0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30.0</c:v>
                </c:pt>
                <c:pt idx="1">
                  <c:v>331.0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4.0</c:v>
                </c:pt>
                <c:pt idx="1">
                  <c:v>0.0</c:v>
                </c:pt>
                <c:pt idx="2">
                  <c:v>26.0</c:v>
                </c:pt>
                <c:pt idx="3">
                  <c:v>331.0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273.3557867714</c:v>
                </c:pt>
                <c:pt idx="1">
                  <c:v>0.0</c:v>
                </c:pt>
                <c:pt idx="2">
                  <c:v>32.18865181340009</c:v>
                </c:pt>
                <c:pt idx="3">
                  <c:v>115.5879811200001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105.91895148941</c:v>
                </c:pt>
                <c:pt idx="1">
                  <c:v>6.598109278571422</c:v>
                </c:pt>
                <c:pt idx="2">
                  <c:v>17.619626319692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Non-OCP / OCP sub (…</c:v>
                </c:pt>
                <c:pt idx="1">
                  <c:v>Treasury</c:v>
                </c:pt>
                <c:pt idx="2">
                  <c:v>Ordonnancement</c:v>
                </c:pt>
                <c:pt idx="3">
                  <c:v>Other</c:v>
                </c:pt>
                <c:pt idx="4">
                  <c:v>Rejected</c:v>
                </c:pt>
                <c:pt idx="5">
                  <c:v>Missing reception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81.0</c:v>
                </c:pt>
                <c:pt idx="1">
                  <c:v>17.0</c:v>
                </c:pt>
                <c:pt idx="2">
                  <c:v>12.0</c:v>
                </c:pt>
                <c:pt idx="3">
                  <c:v>11.0</c:v>
                </c:pt>
                <c:pt idx="4">
                  <c:v>7.0</c:v>
                </c:pt>
                <c:pt idx="5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47.0</c:v>
                </c:pt>
                <c:pt idx="1">
                  <c:v>10.0</c:v>
                </c:pt>
                <c:pt idx="2">
                  <c:v>11.0</c:v>
                </c:pt>
                <c:pt idx="3">
                  <c:v>25.0</c:v>
                </c:pt>
                <c:pt idx="4">
                  <c:v>328.0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18.0</c:v>
                </c:pt>
                <c:pt idx="1">
                  <c:v>53.0</c:v>
                </c:pt>
                <c:pt idx="2">
                  <c:v>3.0</c:v>
                </c:pt>
                <c:pt idx="3">
                  <c:v>2.0</c:v>
                </c:pt>
                <c:pt idx="4">
                  <c:v>56.0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5.0</c:v>
                </c:pt>
                <c:pt idx="3">
                  <c:v>11.0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42.0</c:v>
                </c:pt>
                <c:pt idx="1">
                  <c:v>0.0</c:v>
                </c:pt>
                <c:pt idx="2">
                  <c:v>15.0</c:v>
                </c:pt>
                <c:pt idx="3">
                  <c:v>76.0</c:v>
                </c:pt>
                <c:pt idx="4">
                  <c:v>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24.0</c:v>
                </c:pt>
                <c:pt idx="1">
                  <c:v>18.0</c:v>
                </c:pt>
                <c:pt idx="2">
                  <c:v>0.0</c:v>
                </c:pt>
                <c:pt idx="3">
                  <c:v>3.0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110.03816402</c:v>
                </c:pt>
                <c:pt idx="1">
                  <c:v>0.0</c:v>
                </c:pt>
                <c:pt idx="2">
                  <c:v>36.25880292000014</c:v>
                </c:pt>
                <c:pt idx="3">
                  <c:v>0.425162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330.868192730476</c:v>
                </c:pt>
                <c:pt idx="1">
                  <c:v>0.0</c:v>
                </c:pt>
                <c:pt idx="2">
                  <c:v>11.12884361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OCP subs</c:v>
                </c:pt>
                <c:pt idx="1">
                  <c:v>Other</c:v>
                </c:pt>
                <c:pt idx="2">
                  <c:v>Ordonnancement</c:v>
                </c:pt>
                <c:pt idx="3">
                  <c:v>Missing reception</c:v>
                </c:pt>
                <c:pt idx="4">
                  <c:v>Rejected</c:v>
                </c:pt>
                <c:pt idx="5">
                  <c:v>Treasury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302.0</c:v>
                </c:pt>
                <c:pt idx="1">
                  <c:v>22.0</c:v>
                </c:pt>
                <c:pt idx="2">
                  <c:v>14.0</c:v>
                </c:pt>
                <c:pt idx="3">
                  <c:v>3.0</c:v>
                </c:pt>
                <c:pt idx="4">
                  <c:v>1.0</c:v>
                </c:pt>
                <c:pt idx="5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16.0</c:v>
                </c:pt>
                <c:pt idx="1">
                  <c:v>8.0</c:v>
                </c:pt>
                <c:pt idx="2">
                  <c:v>20.0</c:v>
                </c:pt>
                <c:pt idx="3">
                  <c:v>15.0</c:v>
                </c:pt>
                <c:pt idx="4">
                  <c:v>89.0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11.0</c:v>
                </c:pt>
                <c:pt idx="1">
                  <c:v>3.0</c:v>
                </c:pt>
                <c:pt idx="2">
                  <c:v>2.0</c:v>
                </c:pt>
                <c:pt idx="3">
                  <c:v>12.0</c:v>
                </c:pt>
                <c:pt idx="4">
                  <c:v>313.0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48.0</c:v>
                </c:pt>
                <c:pt idx="1">
                  <c:v>2.0</c:v>
                </c:pt>
                <c:pt idx="2">
                  <c:v>1.0</c:v>
                </c:pt>
                <c:pt idx="3">
                  <c:v>6.0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43.0</c:v>
                </c:pt>
                <c:pt idx="1">
                  <c:v>0.0</c:v>
                </c:pt>
                <c:pt idx="2">
                  <c:v>5.0</c:v>
                </c:pt>
                <c:pt idx="3">
                  <c:v>2.0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4.892148413371475</c:v>
                </c:pt>
                <c:pt idx="1">
                  <c:v>0.0</c:v>
                </c:pt>
                <c:pt idx="2">
                  <c:v>2.386849003392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93.72287720217099</c:v>
                </c:pt>
                <c:pt idx="1">
                  <c:v>1.27293828302</c:v>
                </c:pt>
                <c:pt idx="2">
                  <c:v>4.357662997185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Other</c:v>
                </c:pt>
                <c:pt idx="1">
                  <c:v>Treasury</c:v>
                </c:pt>
                <c:pt idx="2">
                  <c:v>Missing reception</c:v>
                </c:pt>
                <c:pt idx="3">
                  <c:v>Rejected</c:v>
                </c:pt>
                <c:pt idx="4">
                  <c:v>Being processed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84.0</c:v>
                </c:pt>
                <c:pt idx="1">
                  <c:v>9.0</c:v>
                </c:pt>
                <c:pt idx="2">
                  <c:v>5.0</c:v>
                </c:pt>
                <c:pt idx="3">
                  <c:v>1.0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-0.0</c:v>
                </c:pt>
                <c:pt idx="1">
                  <c:v>3.0</c:v>
                </c:pt>
                <c:pt idx="2">
                  <c:v>1.0</c:v>
                </c:pt>
                <c:pt idx="3">
                  <c:v>-3.0</c:v>
                </c:pt>
                <c:pt idx="4">
                  <c:v>7.0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4.0</c:v>
                </c:pt>
                <c:pt idx="1">
                  <c:v>0.0</c:v>
                </c:pt>
                <c:pt idx="2">
                  <c:v>42.0</c:v>
                </c:pt>
                <c:pt idx="3">
                  <c:v>34.0</c:v>
                </c:pt>
                <c:pt idx="4">
                  <c:v>18.0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3.0</c:v>
                </c:pt>
                <c:pt idx="1">
                  <c:v>0.0</c:v>
                </c:pt>
                <c:pt idx="2">
                  <c:v>249.0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3.0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27.89248495</c:v>
                </c:pt>
                <c:pt idx="1">
                  <c:v>0.0</c:v>
                </c:pt>
                <c:pt idx="2">
                  <c:v>13.6966085955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20.0097067618</c:v>
                </c:pt>
                <c:pt idx="1">
                  <c:v>0.0</c:v>
                </c:pt>
                <c:pt idx="2">
                  <c:v>8.241983000000001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Other</c:v>
                </c:pt>
                <c:pt idx="1">
                  <c:v>Rejected</c:v>
                </c:pt>
                <c:pt idx="2">
                  <c:v>Missing reception</c:v>
                </c:pt>
                <c:pt idx="3">
                  <c:v>Treasury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19.0</c:v>
                </c:pt>
                <c:pt idx="1">
                  <c:v>6.0</c:v>
                </c:pt>
                <c:pt idx="2">
                  <c:v>3.0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7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8.0</c:v>
                </c:pt>
                <c:pt idx="1">
                  <c:v>3.0</c:v>
                </c:pt>
                <c:pt idx="2">
                  <c:v>5.0</c:v>
                </c:pt>
                <c:pt idx="3">
                  <c:v>2.0</c:v>
                </c:pt>
                <c:pt idx="4">
                  <c:v>24.0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3.0</c:v>
                </c:pt>
                <c:pt idx="3">
                  <c:v>10.0</c:v>
                </c:pt>
                <c:pt idx="4">
                  <c:v>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7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Due-date buckets by origin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4411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721.0</c:v>
                </c:pt>
                <c:pt idx="1">
                  <c:v>71.0</c:v>
                </c:pt>
                <c:pt idx="2">
                  <c:v>16.0</c:v>
                </c:pt>
                <c:pt idx="3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Parked Invoice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431.0</c:v>
                </c:pt>
                <c:pt idx="1">
                  <c:v>184.0</c:v>
                </c:pt>
                <c:pt idx="2">
                  <c:v>303.0</c:v>
                </c:pt>
                <c:pt idx="3">
                  <c:v>118.0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Downpayment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262.0</c:v>
                </c:pt>
                <c:pt idx="1">
                  <c:v>8.0</c:v>
                </c:pt>
                <c:pt idx="2">
                  <c:v>27.0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Relationship Id="rId3" Type="http://schemas.openxmlformats.org/officeDocument/2006/relationships/chart" Target="../charts/char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Relationship Id="rId3" Type="http://schemas.openxmlformats.org/officeDocument/2006/relationships/chart" Target="../charts/chart21.xml"/><Relationship Id="rId4" Type="http://schemas.openxmlformats.org/officeDocument/2006/relationships/chart" Target="../charts/chart22.xml"/><Relationship Id="rId5" Type="http://schemas.openxmlformats.org/officeDocument/2006/relationships/chart" Target="../charts/chart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Relationship Id="rId3" Type="http://schemas.openxmlformats.org/officeDocument/2006/relationships/chart" Target="../charts/chart2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Relationship Id="rId5" Type="http://schemas.openxmlformats.org/officeDocument/2006/relationships/chart" Target="../charts/chart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0.xml"/><Relationship Id="rId3" Type="http://schemas.openxmlformats.org/officeDocument/2006/relationships/chart" Target="../charts/chart3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2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Relationship Id="rId5" Type="http://schemas.openxmlformats.org/officeDocument/2006/relationships/chart" Target="../charts/chart3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6.xml"/><Relationship Id="rId3" Type="http://schemas.openxmlformats.org/officeDocument/2006/relationships/chart" Target="../charts/chart3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8.xml"/><Relationship Id="rId3" Type="http://schemas.openxmlformats.org/officeDocument/2006/relationships/chart" Target="../charts/chart39.xml"/><Relationship Id="rId4" Type="http://schemas.openxmlformats.org/officeDocument/2006/relationships/chart" Target="../charts/chart40.xml"/><Relationship Id="rId5" Type="http://schemas.openxmlformats.org/officeDocument/2006/relationships/chart" Target="../charts/chart4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2.xml"/><Relationship Id="rId3" Type="http://schemas.openxmlformats.org/officeDocument/2006/relationships/chart" Target="../charts/chart4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4.xml"/><Relationship Id="rId3" Type="http://schemas.openxmlformats.org/officeDocument/2006/relationships/chart" Target="../charts/chart45.xml"/><Relationship Id="rId4" Type="http://schemas.openxmlformats.org/officeDocument/2006/relationships/chart" Target="../charts/chart46.xml"/><Relationship Id="rId5" Type="http://schemas.openxmlformats.org/officeDocument/2006/relationships/chart" Target="../charts/chart4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8.xml"/><Relationship Id="rId3" Type="http://schemas.openxmlformats.org/officeDocument/2006/relationships/chart" Target="../charts/chart4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0.xml"/><Relationship Id="rId3" Type="http://schemas.openxmlformats.org/officeDocument/2006/relationships/chart" Target="../charts/chart51.xml"/><Relationship Id="rId4" Type="http://schemas.openxmlformats.org/officeDocument/2006/relationships/chart" Target="../charts/chart52.xml"/><Relationship Id="rId5" Type="http://schemas.openxmlformats.org/officeDocument/2006/relationships/chart" Target="../charts/chart5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4.xml"/><Relationship Id="rId3" Type="http://schemas.openxmlformats.org/officeDocument/2006/relationships/chart" Target="../charts/chart5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6.xml"/><Relationship Id="rId3" Type="http://schemas.openxmlformats.org/officeDocument/2006/relationships/chart" Target="../charts/chart57.xml"/><Relationship Id="rId4" Type="http://schemas.openxmlformats.org/officeDocument/2006/relationships/chart" Target="../charts/chart58.xml"/><Relationship Id="rId5" Type="http://schemas.openxmlformats.org/officeDocument/2006/relationships/chart" Target="../charts/chart5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0.xml"/><Relationship Id="rId3" Type="http://schemas.openxmlformats.org/officeDocument/2006/relationships/chart" Target="../charts/chart6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2.xml"/><Relationship Id="rId3" Type="http://schemas.openxmlformats.org/officeDocument/2006/relationships/chart" Target="../charts/chart63.xml"/><Relationship Id="rId4" Type="http://schemas.openxmlformats.org/officeDocument/2006/relationships/chart" Target="../charts/chart64.xml"/><Relationship Id="rId5" Type="http://schemas.openxmlformats.org/officeDocument/2006/relationships/chart" Target="../charts/chart6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6.xml"/><Relationship Id="rId3" Type="http://schemas.openxmlformats.org/officeDocument/2006/relationships/chart" Target="../charts/chart6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8.xml"/><Relationship Id="rId3" Type="http://schemas.openxmlformats.org/officeDocument/2006/relationships/chart" Target="../charts/chart69.xml"/><Relationship Id="rId4" Type="http://schemas.openxmlformats.org/officeDocument/2006/relationships/chart" Target="../charts/chart70.xml"/><Relationship Id="rId5" Type="http://schemas.openxmlformats.org/officeDocument/2006/relationships/chart" Target="../charts/chart7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8229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8972B"/>
                </a:solidFill>
                <a:latin typeface="Arial"/>
              </a:rPr>
              <a:t>JESA  ·  ACCOUNTS RECEIVABLE, CASH &amp; PAYABLES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10515600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1B2F4B"/>
                </a:solidFill>
                <a:latin typeface="Arial"/>
              </a:rPr>
              <a:t>AR, Cash &amp; Payables Position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971800"/>
            <a:ext cx="1737360" cy="36576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8229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B2F4B"/>
                </a:solidFill>
                <a:latin typeface="Arial"/>
              </a:rPr>
              <a:t>Weekly Executive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1188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6B7B8C"/>
                </a:solidFill>
                <a:latin typeface="Arial"/>
              </a:rPr>
              <a:t>Deck as of 21 Oct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GROSS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19,525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5897880"/>
            <a:ext cx="1666189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897880"/>
            <a:ext cx="1666189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6B7B8C"/>
                </a:solidFill>
                <a:latin typeface="Arial"/>
              </a:rPr>
              <a:t>vs 14-Oct  </a:t>
            </a:r>
            <a:r>
              <a:rPr sz="1100" b="1" i="0">
                <a:solidFill>
                  <a:srgbClr val="2E7D4F"/>
                </a:solidFill>
                <a:latin typeface="Arial"/>
              </a:rPr>
              <a:t>−332 MDH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33117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24557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UNRECOGNIZED REVENUE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557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7,128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24557" y="5897880"/>
            <a:ext cx="1666189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24557" y="5897880"/>
            <a:ext cx="1666189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6B7B8C"/>
                </a:solidFill>
                <a:latin typeface="Arial"/>
              </a:rPr>
              <a:t>vs 14-Oct  </a:t>
            </a:r>
            <a:r>
              <a:rPr sz="1100" b="1" i="0">
                <a:solidFill>
                  <a:srgbClr val="2E7D4F"/>
                </a:solidFill>
                <a:latin typeface="Arial"/>
              </a:rPr>
              <a:t>−40 MDH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91914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83354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TOTAL 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83354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12,397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3354" y="5897880"/>
            <a:ext cx="1666189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83354" y="5897880"/>
            <a:ext cx="1666189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6B7B8C"/>
                </a:solidFill>
                <a:latin typeface="Arial"/>
              </a:rPr>
              <a:t>vs 14-Oct  </a:t>
            </a:r>
            <a:r>
              <a:rPr sz="1100" b="1" i="0">
                <a:solidFill>
                  <a:srgbClr val="2E7D4F"/>
                </a:solidFill>
                <a:latin typeface="Arial"/>
              </a:rPr>
              <a:t>−292 MDH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50711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2151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2151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9,479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42151" y="5897880"/>
            <a:ext cx="1666189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2151" y="5897880"/>
            <a:ext cx="1666189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6B7B8C"/>
                </a:solidFill>
                <a:latin typeface="Arial"/>
              </a:rPr>
              <a:t>vs 14-Oct  </a:t>
            </a:r>
            <a:r>
              <a:rPr sz="1100" b="1" i="0">
                <a:solidFill>
                  <a:srgbClr val="2E7D4F"/>
                </a:solidFill>
                <a:latin typeface="Arial"/>
              </a:rPr>
              <a:t>−35 MDH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00948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0948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2,370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00948" y="5897880"/>
            <a:ext cx="1666189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00948" y="5897880"/>
            <a:ext cx="1666189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6B7B8C"/>
                </a:solidFill>
                <a:latin typeface="Arial"/>
              </a:rPr>
              <a:t>vs 14-Oct  </a:t>
            </a:r>
            <a:r>
              <a:rPr sz="1100" b="1" i="0">
                <a:solidFill>
                  <a:srgbClr val="2E7D4F"/>
                </a:solidFill>
                <a:latin typeface="Arial"/>
              </a:rPr>
              <a:t>−257 MDH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59746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ADVANCE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59746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548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159746" y="5897880"/>
            <a:ext cx="1666189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59746" y="5897880"/>
            <a:ext cx="1666189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6B7B8C"/>
                </a:solidFill>
                <a:latin typeface="Arial"/>
              </a:rPr>
              <a:t>vs 14-Oct  </a:t>
            </a:r>
            <a:r>
              <a:rPr sz="1100" b="1" i="0">
                <a:solidFill>
                  <a:srgbClr val="7A8794"/>
                </a:solidFill>
                <a:latin typeface="Arial"/>
              </a:rPr>
              <a:t>0 MDH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Weekly review –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23444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17043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Key messages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20700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Headline position: AR, unrecognized revenue, collections, cash, payables and letters of credit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173736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48640" y="1874519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81051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Accounts receivable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184708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Executive summary with week-on-week and month-start comparatives, unbilled under JESA responsibility, non-OCP clients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237744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8640" y="251460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45059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Unrecognized revenue &amp; suppliers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48716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Executed scope not yet booked as AR, by business unit and status; supplier PO book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301752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48640" y="315468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09067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Payments received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312724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Invoices paid in the month and year to date, by business unit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365760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8640" y="379476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73075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Cash position – procurement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376732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Cash in versus cash out by month and by business unit, before and after October commitments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88720" y="429768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48640" y="443484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37083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Payables &amp; letters of credit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440740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Supplier payables by business unit and due date; LC commitments and maturity schedule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88720" y="493776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48640" y="507492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501091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Business unit breakdown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504748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Two pages per business unit: position and movement; projects and unrecognized revenue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88720" y="557784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48640" y="571500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565099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Backup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4880" y="568756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AR movement and position by business unit, unbilled &amp; unpaid status view, PSR collections, October payments, LC and AP detail, sources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Key Messages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The AR, cash and payables position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130759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3444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Total AR 12,397 MMAD: −292 vs 14 Oct, −456 vs 07 Oct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56362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Unbilled 9,479 (−35 WoW), unpaid 2,370 (−257 WoW), advance 548 (0 WoW). Unbilled under JESA responsibility 720 MMAD (PSR 228 / Procurement 492); non-OCP receivables 252 MMAD.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2007108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02920" y="215341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08026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Unrecognized revenue 7,128 MMAD (−40 WoW, −424 vs 07 Oct); gross exposure 19,525 MMAD (−332 WoW)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40944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Executed supplier and equipment scope not yet booked as AR, including the 6% JESA cost + fee.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2852928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2920" y="299923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92608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Invoices paid in October to 20 Oct: 241 MMAD (+24 vs 14 Oct); 8,082 MMAD year to 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5526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Invoices deposited in October: 144 MMAD.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3698748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02920" y="384505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7190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Procurement cash Jul–Oct: +150 MMAD on actuals, −107 after approved payments, −171 after pending payments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10108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Cash IN 2,104 MMAD vs cash OUT 1,954 MMAD paid to 15/10 gives +150 MMAD. Approved payments of 258 MMAD (incl. 156 of October LC maturities) bring the position to −107 MMAD; pending payments of 64 MMAD bring it to −171 MMAD.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4544568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02920" y="469087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61772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Supplier payables 2,144 MMAD, of which 1,415 MMAD past due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94690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Parked invoices 1,036, 4411 open items 810, downpayments 297 MMAD (2,803 open lines).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88720" y="5390388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02920" y="553669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46354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Letters of credit 1,583 MMAD: 912 on opened LCs, 671 still to be opened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79272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156 MMAD matures in October; 630 MMAD in 2026 and 953 MMAD in 2027.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Unbilled is 76% of total AR; AR −292 MMAD week on week and −456 vs the month-start baseline (07-Oct)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19,525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−880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33117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3117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0277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7,128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0277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−424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91914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91914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29074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12,397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9074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−456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50711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50711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7871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9,479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7871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09508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09508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46668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6668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068306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68306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05466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548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05466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2468880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AR by component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2761488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Unbilled dominates the receivable book (MMAD)</a:t>
            </a:r>
          </a:p>
        </p:txBody>
      </p:sp>
      <p:graphicFrame>
        <p:nvGraphicFramePr>
          <p:cNvPr id="47" name="Chart 46"/>
          <p:cNvGraphicFramePr>
            <a:graphicFrameLocks noGrp="1"/>
          </p:cNvGraphicFramePr>
          <p:nvPr/>
        </p:nvGraphicFramePr>
        <p:xfrm>
          <a:off x="182880" y="3017520"/>
          <a:ext cx="27432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8" name="Rectangle 47"/>
          <p:cNvSpPr/>
          <p:nvPr/>
        </p:nvSpPr>
        <p:spPr>
          <a:xfrm>
            <a:off x="3063240" y="3639312"/>
            <a:ext cx="201168" cy="201168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37560" y="356616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Unbilled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37560" y="384048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9,479  ·  76% of 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63240" y="4416552"/>
            <a:ext cx="201168" cy="201168"/>
          </a:xfrm>
          <a:prstGeom prst="rect">
            <a:avLst/>
          </a:prstGeom>
          <a:solidFill>
            <a:srgbClr val="7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37560" y="434340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Unpaid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37560" y="461772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2,370  ·  19% of AR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63240" y="5193792"/>
            <a:ext cx="201168" cy="201168"/>
          </a:xfrm>
          <a:prstGeom prst="rect">
            <a:avLst/>
          </a:prstGeom>
          <a:solidFill>
            <a:srgbClr val="C9D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37560" y="512064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Advance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37560" y="5394959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548  ·  4% of AR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46320" y="2514600"/>
            <a:ext cx="227380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846320" y="2514600"/>
            <a:ext cx="64008" cy="96012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83480" y="2560320"/>
            <a:ext cx="204520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6B7B8C"/>
                </a:solidFill>
                <a:latin typeface="Arial"/>
              </a:rPr>
              <a:t>OCP SHARE OF AR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83480" y="2761488"/>
            <a:ext cx="2045208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2E6DA4"/>
                </a:solidFill>
                <a:latin typeface="Arial"/>
              </a:rPr>
              <a:t>98%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983480" y="3182112"/>
            <a:ext cx="204520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OCP 12,145  ·  non-OCP 252 (2.0%)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229856" y="2514600"/>
            <a:ext cx="227380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229856" y="2514600"/>
            <a:ext cx="64008" cy="960120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67016" y="2560320"/>
            <a:ext cx="204520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6B7B8C"/>
                </a:solidFill>
                <a:latin typeface="Arial"/>
              </a:rPr>
              <a:t>DSO JESA GROUP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67016" y="2761488"/>
            <a:ext cx="2045208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285 days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67016" y="3182112"/>
            <a:ext cx="204520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excl. advances, BU meeting report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613392" y="2514600"/>
            <a:ext cx="227380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613392" y="2514600"/>
            <a:ext cx="64008" cy="960120"/>
          </a:xfrm>
          <a:prstGeom prst="rect">
            <a:avLst/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50552" y="2560320"/>
            <a:ext cx="204520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6B7B8C"/>
                </a:solidFill>
                <a:latin typeface="Arial"/>
              </a:rPr>
              <a:t>PAID IN OCT TO 20-OCT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750552" y="2761488"/>
            <a:ext cx="2045208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3A9C8C"/>
                </a:solidFill>
                <a:latin typeface="Arial"/>
              </a:rPr>
              <a:t>241 MDH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750552" y="3182112"/>
            <a:ext cx="204520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deposited in Oct 144  ·  YTD paid 8,082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937760" y="3657600"/>
            <a:ext cx="6400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Labor vs non-labor split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37760" y="3950208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65% of the book is non-labor (procurement scope)</a:t>
            </a:r>
          </a:p>
        </p:txBody>
      </p:sp>
      <p:graphicFrame>
        <p:nvGraphicFramePr>
          <p:cNvPr id="74" name="Chart 73"/>
          <p:cNvGraphicFramePr>
            <a:graphicFrameLocks noGrp="1"/>
          </p:cNvGraphicFramePr>
          <p:nvPr/>
        </p:nvGraphicFramePr>
        <p:xfrm>
          <a:off x="4846320" y="4160520"/>
          <a:ext cx="7040880" cy="2331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Movement – week on week and vs 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This week 20-Oct vs last week 14-Oct and vs the month-start baseline (07-Oct AR position)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88720"/>
          <a:ext cx="6949437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72387"/>
                <a:gridCol w="792164"/>
                <a:gridCol w="792164"/>
                <a:gridCol w="792164"/>
                <a:gridCol w="648134"/>
                <a:gridCol w="648134"/>
                <a:gridCol w="720149"/>
                <a:gridCol w="684141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Month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Last week
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This week
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Δ%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Δ%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+0.1%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+0.1%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9,684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9,514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9,479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−0.4%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−2.1%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2,622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2,627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−9.8%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−9.6%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12,853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−2.3%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−3.5%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Unrecognized revenue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7,552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−0.6%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−424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−5.6%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Gross exposure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20,405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19,857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19,525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−332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−1.7%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−880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−4.3%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246120"/>
            <a:ext cx="6949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What moved by business unit (MMAD) – green = AR down, red = AR up, darker = larger move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520440"/>
          <a:ext cx="6949435" cy="25146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24393"/>
                <a:gridCol w="851866"/>
                <a:gridCol w="762196"/>
                <a:gridCol w="762196"/>
                <a:gridCol w="762196"/>
                <a:gridCol w="762196"/>
                <a:gridCol w="762196"/>
                <a:gridCol w="762196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Business Unit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 AR
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Unbilled
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Unpaid
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 AR
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Unbilled
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Unpaid
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 AR
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3,325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8CCFA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−179</a:t>
                      </a:r>
                    </a:p>
                  </a:txBody>
                  <a:tcPr marL="45720" marR="45720" marT="13716" marB="13716" anchor="ctr">
                    <a:solidFill>
                      <a:srgbClr val="8CCFA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−28</a:t>
                      </a:r>
                    </a:p>
                  </a:txBody>
                  <a:tcPr marL="45720" marR="45720" marT="13716" marB="13716" anchor="ctr">
                    <a:solidFill>
                      <a:srgbClr val="B9E2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8CCFA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−206</a:t>
                      </a:r>
                    </a:p>
                  </a:txBody>
                  <a:tcPr marL="45720" marR="45720" marT="13716" marB="13716" anchor="ctr">
                    <a:solidFill>
                      <a:srgbClr val="8CCFA3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B9E2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−62</a:t>
                      </a:r>
                    </a:p>
                  </a:txBody>
                  <a:tcPr marL="45720" marR="45720" marT="13716" marB="13716" anchor="ctr">
                    <a:solidFill>
                      <a:srgbClr val="B9E2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−83</a:t>
                      </a:r>
                    </a:p>
                  </a:txBody>
                  <a:tcPr marL="45720" marR="45720" marT="13716" marB="13716" anchor="ctr">
                    <a:solidFill>
                      <a:srgbClr val="B9E2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−54</a:t>
                      </a:r>
                    </a:p>
                  </a:txBody>
                  <a:tcPr marL="45720" marR="45720" marT="13716" marB="13716" anchor="ctr">
                    <a:solidFill>
                      <a:srgbClr val="B9E2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B9E2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−127</a:t>
                      </a:r>
                    </a:p>
                  </a:txBody>
                  <a:tcPr marL="45720" marR="45720" marT="13716" marB="13716" anchor="ctr">
                    <a:solidFill>
                      <a:srgbClr val="8CCFA3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3,219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−23</a:t>
                      </a:r>
                    </a:p>
                  </a:txBody>
                  <a:tcPr marL="45720" marR="45720" marT="13716" marB="13716" anchor="ctr">
                    <a:solidFill>
                      <a:srgbClr val="B9E2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−24</a:t>
                      </a:r>
                    </a:p>
                  </a:txBody>
                  <a:tcPr marL="45720" marR="45720" marT="13716" marB="13716" anchor="ctr">
                    <a:solidFill>
                      <a:srgbClr val="B9E2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 marL="45720" marR="45720" marT="13716" marB="13716" anchor="ctr">
                    <a:solidFill>
                      <a:srgbClr val="FBE6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BE6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BE6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BE6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BE6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BE6E2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BE6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BE6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BE6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BE6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B9E2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B9E2C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−257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−205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−252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589520" y="1143000"/>
            <a:ext cx="4297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AR aging by year of origin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589520" y="1463040"/>
          <a:ext cx="4297678" cy="18470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37371"/>
                <a:gridCol w="666881"/>
                <a:gridCol w="666881"/>
                <a:gridCol w="666881"/>
                <a:gridCol w="592783"/>
                <a:gridCol w="666881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Year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2022 &amp; before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4,212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4,204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4,014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−191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8,277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8,121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8,019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12,853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7498079" y="3429000"/>
          <a:ext cx="219456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9784080" y="3429000"/>
          <a:ext cx="2194560" cy="2834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98079" y="6263640"/>
            <a:ext cx="4480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00" b="0" i="1">
                <a:solidFill>
                  <a:srgbClr val="6B7B8C"/>
                </a:solidFill>
                <a:latin typeface="Arial"/>
              </a:rPr>
              <a:t>Movement by component (MMAD): green = AR decreased, red = AR increased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Position by Business Unit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This week vs last week and vs the month-start baseline (07-Oct), MMAD; DSO excl. advances in days (BU meeting report)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4" cy="31226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95260"/>
                <a:gridCol w="810151"/>
                <a:gridCol w="810151"/>
                <a:gridCol w="810151"/>
                <a:gridCol w="675126"/>
                <a:gridCol w="765142"/>
                <a:gridCol w="765142"/>
                <a:gridCol w="675126"/>
                <a:gridCol w="720134"/>
                <a:gridCol w="675126"/>
                <a:gridCol w="675126"/>
                <a:gridCol w="765142"/>
                <a:gridCol w="810151"/>
                <a:gridCol w="630117"/>
                <a:gridCol w="585109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Business Unit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Month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Last week
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This week
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Δ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Unrecog.
revenue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Gross
exposure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Paid
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DSO
(days)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3,531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3,504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3,325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1,511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4,836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3,234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3,242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2,556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4,601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3,328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3,271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6,507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1,020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1,026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12,853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9,479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7,128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19,525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4448556"/>
          <a:ext cx="5760720" cy="199796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172200" y="4448556"/>
          <a:ext cx="5760720" cy="199796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Unbilled &amp; Unpaid – status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Where the receivable book sits in the process, with week-on-week movement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Unbilled by ownership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463040"/>
          <a:ext cx="5669275" cy="16824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49289"/>
                <a:gridCol w="724644"/>
                <a:gridCol w="724644"/>
                <a:gridCol w="724644"/>
                <a:gridCol w="596766"/>
                <a:gridCol w="682018"/>
                <a:gridCol w="76727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 AR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Under 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7,099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7,109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SS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1,431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Under 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At risk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Unbilled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9,684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9,514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9,479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−205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34290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749039"/>
          <a:ext cx="5669280" cy="24963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2926080"/>
                <a:gridCol w="731520"/>
                <a:gridCol w="73152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3,924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3,796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1,628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1,701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+72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1,431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1,177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1,178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sub…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At Risk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5508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Unpaid by OCP processing status (MMAD)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355080" y="1463040"/>
          <a:ext cx="5532117" cy="22311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58078"/>
                <a:gridCol w="686154"/>
                <a:gridCol w="686154"/>
                <a:gridCol w="686154"/>
                <a:gridCol w="643269"/>
                <a:gridCol w="643269"/>
                <a:gridCol w="729039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 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Rejected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784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−174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Treasury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OCP subs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Ordonnancement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Missing reception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Unpaid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2,622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2,627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−257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−252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309360" y="3703320"/>
          <a:ext cx="5623560" cy="2788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Non-OCP Clients – unbilled &amp; unpaid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Non-OCP receivables of 252 MMAD (2.0% of AR): unbilled 131, unpaid 120; −13 vs month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76546" y="1097280"/>
            <a:ext cx="224082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76546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13706" y="116128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NON-OCP PAID IN OCT TO 20-OCT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13706" y="137160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13706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+5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3706" y="1810511"/>
            <a:ext cx="196650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 i="0">
                <a:solidFill>
                  <a:srgbClr val="6B7B8C"/>
                </a:solidFill>
                <a:latin typeface="Arial"/>
              </a:rPr>
              <a:t>Sep 51  ·  YTD 233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1097280"/>
            <a:ext cx="224082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79" y="116128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NON-OCP AR (UNBILLED + UNPAID)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79" y="137160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252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79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24876" y="1097280"/>
            <a:ext cx="224082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24876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62036" y="116128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NON-OCP UNBILLED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62036" y="137160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62036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75433" y="1097280"/>
            <a:ext cx="224082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975433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12593" y="116128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NON-OCP UNPAID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12593" y="137160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12593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25989" y="1097280"/>
            <a:ext cx="224082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25989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63149" y="116128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SHARE OF TOTAL 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3149" y="137160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2240280"/>
            <a:ext cx="51206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65760" y="2514600"/>
          <a:ext cx="5120637" cy="24871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56750"/>
                <a:gridCol w="656492"/>
                <a:gridCol w="656492"/>
                <a:gridCol w="656492"/>
                <a:gridCol w="481427"/>
                <a:gridCol w="656492"/>
                <a:gridCol w="656492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non-OCP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65760" y="5138928"/>
            <a:ext cx="512064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1F2A37"/>
                </a:solidFill>
                <a:latin typeface="Arial"/>
              </a:rPr>
              <a:t>Non-OCP clients carry 252 MMAD, of which Global Mining (Ma'aden) accounts for 201 MMAD. Statuses: C-* pending with the client, J-* pending with JESA.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60720" y="2240280"/>
            <a:ext cx="6217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Projects driving non-OCP receivables (MMAD)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5760720" y="2514600"/>
          <a:ext cx="6217916" cy="37536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37875"/>
                <a:gridCol w="1322961"/>
                <a:gridCol w="1631652"/>
                <a:gridCol w="529184"/>
                <a:gridCol w="529184"/>
                <a:gridCol w="13670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Client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- Phase 1 of Phosphat…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46.6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Larsen &amp; Toubro Ltd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L&amp;T Proprietary Equipment &amp; L…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MCA - SENEGAL II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MCA SENEGAL II POWER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BNEDT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Université San Pedro AMO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 TO Wave 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Jordan Turkiye Fertiliz…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JTFC DH PAP TDP and PP Testin…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 MODERNISATION GUELB 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COBCO SA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AZUR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MAADEN CAPITAL GROWTH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Nutrien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Nutrien 2026 Core Washing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Ma’aden Phosphate 3 Project P…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Ministére interieur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Etude technique et suivi de l…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Top 14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124.7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104.5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91% of non-OCP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Unbilled under JESA responsibility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720 MMAD of unbilled sits with JESA (8% of unbilled): PSR 228 / Procurement 492; −208 vs month start, −94 WoW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 UNDER JESA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682495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1901952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12515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12515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49675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PSR (LABOR)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9675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49675" y="1901952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−53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0711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50711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7871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PROCUREMENT (NON-LABOR)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7871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7871" y="1901952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−155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8907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88907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26067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SHARE OF TOTAL 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067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3317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business unit – PSR vs Procurement (MMAD)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65760" y="2606040"/>
          <a:ext cx="5669279" cy="33284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87024"/>
                <a:gridCol w="743512"/>
                <a:gridCol w="929390"/>
                <a:gridCol w="743512"/>
                <a:gridCol w="1022329"/>
                <a:gridCol w="743512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PSR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Procurement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% of BU 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-11%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−208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65760" y="6025896"/>
            <a:ext cx="5669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7A8794"/>
                </a:solidFill>
                <a:latin typeface="Arial"/>
              </a:rPr>
              <a:t>PSR = labor scope; Procurement = non-labor scope. Negative procurement amounts are credit lines pending JESA PM approval (AM, Global Mining).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23317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status – what JESA still has to do (MMAD)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309360" y="2606040"/>
          <a:ext cx="5669280" cy="29992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34640"/>
                <a:gridCol w="685800"/>
                <a:gridCol w="868680"/>
                <a:gridCol w="685800"/>
                <a:gridCol w="5943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Procurement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subm…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J-1.d Under JESA finance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J-1.b Pending attachments JESA PA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J-1.f Pending LC by PC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−118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−95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-13%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under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309360" y="5696712"/>
            <a:ext cx="566928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1F2A37"/>
                </a:solidFill>
                <a:latin typeface="Arial"/>
              </a:rPr>
              <a:t>J-* statuses are the steps under JESA control (attachment creation, internal reviews, PM approval, service-sheet submission, invoicing); service sheets postponed and at-risk scope are excluded. Negative values are credit lines pending JESA PM approval.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Unrecognized Revenue &amp; Suppliers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Unrecognized revenue of 7,128 MMAD = supplier balance (6,725) plus a 6% markup; −40 vs 14-Oct, −424 vs month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88720"/>
            <a:ext cx="5577840" cy="1051560"/>
          </a:xfrm>
          <a:prstGeom prst="roundRect">
            <a:avLst>
              <a:gd name="adj" fmla="val 12000"/>
            </a:avLst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52728"/>
            <a:ext cx="539495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UNRECOGNIZED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63040"/>
            <a:ext cx="539495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7,128 MMAD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539495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= unrecognized supplier cost × 1.06 cost-and-fee markup  ·  14-Oct: 7,168  ·  month start: 7,552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188720"/>
            <a:ext cx="5623560" cy="105156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79" y="1252728"/>
            <a:ext cx="54406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UNRECOGNIZED SUPPLIERS — COST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79" y="1463040"/>
            <a:ext cx="5440680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6,725 MMAD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79" y="1965960"/>
            <a:ext cx="54406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Executed but unbooked supplier &amp; equipment scope (HT, excl. DP)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3774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Unrecognized Revenue by Business Unit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633472"/>
            <a:ext cx="54864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B7B8C"/>
                </a:solidFill>
                <a:latin typeface="Arial"/>
              </a:rPr>
              <a:t>6% JESA cost + fee markup included (MMAD)  ·  Δ vs 14-Oct in brackets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274320" y="2880360"/>
          <a:ext cx="576072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365760" y="6199632"/>
            <a:ext cx="56692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B5473A"/>
                </a:solidFill>
                <a:latin typeface="Arial"/>
              </a:rPr>
              <a:t>No revenue recognition has been booked on these balances to 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37744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Table 7 — Unrecognized Suppliers by Status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633472"/>
            <a:ext cx="566928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B7B8C"/>
                </a:solidFill>
                <a:latin typeface="Arial"/>
              </a:rPr>
              <a:t>Executed but unbooked scope, at cost (MMAD)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6172200" y="2834640"/>
          <a:ext cx="580644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263640" y="4754880"/>
          <a:ext cx="5669280" cy="148132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42976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Status (Table 7)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Definition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2E6DA4"/>
                          </a:solidFill>
                          <a:latin typeface="Arial"/>
                        </a:rPr>
                        <a:t>Pending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Attachments submitted (PROCORE etc.), under the approval workflow; includes attachments already signed by the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2E6DA4"/>
                          </a:solidFill>
                          <a:latin typeface="Arial"/>
                        </a:rPr>
                        <a:t>Pending Submission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Executed scope not yet submitted for approval; may include potential / impending scope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2E6DA4"/>
                          </a:solidFill>
                          <a:latin typeface="Arial"/>
                        </a:rPr>
                        <a:t>Under CN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Executed scope via a Change Notice (or a potential CN)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2E6DA4"/>
                          </a:solidFill>
                          <a:latin typeface="Arial"/>
                        </a:rPr>
                        <a:t>At-Risk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Executed scope without any formal contract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263640" y="6199632"/>
            <a:ext cx="56692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6B7B8C"/>
                </a:solidFill>
                <a:latin typeface="Arial"/>
              </a:rPr>
              <a:t>*** Amounts in HT — executed progress, excluding DP amortization. Status split at cost (= revenue ÷ 1.06).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Payments Received (Collections)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241 MMAD of invoices paid in October to 20-Oct (+24 vs 14-Oct); 8.08 Bn MAD year to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68306" y="114300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68306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05466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NON-OCP PAID IN OCT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05466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05466" y="1901952"/>
            <a:ext cx="157474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</a:t>
            </a:r>
            <a:r>
              <a:rPr sz="950" b="1" i="0">
                <a:solidFill>
                  <a:srgbClr val="2E7D4F"/>
                </a:solidFill>
                <a:latin typeface="Arial"/>
              </a:rPr>
              <a:t>+5</a:t>
            </a:r>
            <a:r>
              <a:rPr sz="850" b="0" i="0">
                <a:solidFill>
                  <a:srgbClr val="6B7B8C"/>
                </a:solidFill>
                <a:latin typeface="Arial"/>
              </a:rPr>
              <a:t>  ·  YTD 233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114300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OCTOBER TO 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241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79" y="190195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+24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33117" y="114300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3117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70277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SEPTEMBER (FULL MONTH)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0277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737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91914" y="114300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91914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29074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YTD RECEIVED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9074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8,082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9074" y="190195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+24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0711" y="114300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0711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87871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LABOR / NON-LABOR YTD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417320"/>
            <a:ext cx="1666189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2E6DA4"/>
                </a:solidFill>
                <a:latin typeface="Arial"/>
              </a:rPr>
              <a:t>2,117 </a:t>
            </a:r>
            <a:r>
              <a:rPr sz="900" b="0" i="0">
                <a:solidFill>
                  <a:srgbClr val="6B7B8C"/>
                </a:solidFill>
                <a:latin typeface="Arial"/>
              </a:rPr>
              <a:t>· 26% labor</a:t>
            </a:r>
          </a:p>
          <a:p>
            <a:pPr algn="l"/>
            <a:r>
              <a:rPr sz="1600" b="1" i="0">
                <a:solidFill>
                  <a:srgbClr val="E08A2E"/>
                </a:solidFill>
                <a:latin typeface="Arial"/>
              </a:rPr>
              <a:t>5,964 </a:t>
            </a:r>
            <a:r>
              <a:rPr sz="900" b="0" i="0">
                <a:solidFill>
                  <a:srgbClr val="6B7B8C"/>
                </a:solidFill>
                <a:latin typeface="Arial"/>
              </a:rPr>
              <a:t>· 74% non-labor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14300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DEPOSITED IN OCT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144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90195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4,125 invoices paid YTD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2377440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1B2F4B"/>
                </a:solidFill>
                <a:latin typeface="Arial"/>
              </a:rPr>
              <a:t>Monthly payments received 2026 (MMAD, by payment date) – October in progress</a:t>
            </a:r>
          </a:p>
        </p:txBody>
      </p:sp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274320" y="2651760"/>
          <a:ext cx="667512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7178040" y="2377440"/>
            <a:ext cx="47548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7178040" y="2651760"/>
          <a:ext cx="4754879" cy="29992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30224"/>
                <a:gridCol w="594360"/>
                <a:gridCol w="594360"/>
                <a:gridCol w="475488"/>
                <a:gridCol w="594360"/>
                <a:gridCol w="475488"/>
                <a:gridCol w="554735"/>
                <a:gridCol w="435864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Oct to 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Oct to 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o/w non-
OCP 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Sep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YTD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YTD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2,118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+6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1,918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1,205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+24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737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8,082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Cash Position – Procurement (JESA Group incl. AM)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Jul–Oct 2026: cash IN 2,104 vs cash OUT 2,276 MMAD incl. October commitments → net −171 MMAD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CASH IN JUL–OCT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2,104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OCP payments 1,919 + dividends 185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24876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631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CASH OUT ACTUALS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631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1,954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6316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Jul–Sep 1,734 + Oct to 15/10 220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5433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6687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OCTOBER COMMITMENTS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6873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321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73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Approved 258 (LC 156) + pending 64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742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NET POSITION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429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−171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7429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Cash IN + cash OUT incl. commitments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76546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798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PSR (LABOR) 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798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+73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7986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Collections 372 less provisions 299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377440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Monthly cash IN vs cash OUT – procurement (MMAD)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274320" y="2651760"/>
          <a:ext cx="630936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6812280" y="2377440"/>
            <a:ext cx="51206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Cash position by month (MMAD)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812280" y="2651760"/>
          <a:ext cx="5120634" cy="30449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80210"/>
                <a:gridCol w="520064"/>
                <a:gridCol w="520064"/>
                <a:gridCol w="520064"/>
                <a:gridCol w="640079"/>
                <a:gridCol w="640079"/>
                <a:gridCol w="600074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Jul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Aug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15/10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ongoing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Cumul.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 procurement collections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1,919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Dividends / PROC compensable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cash IN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2,104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Suppliers (by tier)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−797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−1,829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LC payments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Customs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cash OUT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−889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−321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−2,276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NET position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+164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+419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−69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−171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PSR collections (labor)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PSR provisions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−299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NET PSR after provisions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812280" y="5989320"/>
            <a:ext cx="5120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 i="1">
                <a:solidFill>
                  <a:srgbClr val="7A8794"/>
                </a:solidFill>
                <a:latin typeface="Arial"/>
              </a:rPr>
              <a:t>Basis: Jul–Aug–Sep actuals + Oct actuals (collections to 19/10, payments to 15/10) + October LC maturities per bank LC situation 19/10 v003 (156.4M, counted as approved) + open October commitments (approved + pending)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Cash Position by Business Unit – Procurement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Cumulative Jul–Oct 2026 cash IN, cash OUT and net balance by BU, before and after October commitments (MMAD)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6" cy="3099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63602"/>
                <a:gridCol w="1037413"/>
                <a:gridCol w="1141154"/>
                <a:gridCol w="933672"/>
                <a:gridCol w="1037413"/>
                <a:gridCol w="1089284"/>
                <a:gridCol w="1089284"/>
                <a:gridCol w="1244896"/>
                <a:gridCol w="1037413"/>
                <a:gridCol w="1193025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Business Unit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Cash IN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suppliers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customs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actuals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Oct approved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after approved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Oct pending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all ongoing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+108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−288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−333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BUs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2,104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1,644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+150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−107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−171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4425696"/>
          <a:ext cx="5760720" cy="202082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172200" y="4425696"/>
          <a:ext cx="5760720" cy="202082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PSR (Labor) Collections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Jul–Oct 2026: PSR collections 372 MMAD, provisions 299 (AM ring-fence 199, W&amp;E reserve 100) → +73 MMAD available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PSR COLLECTIONS JUL–OCT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372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Labor collections per OCP payment report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24876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631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OCTOBER TO 19/10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631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6316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Sep 67  ·  Aug 141  ·  Jul 99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5433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6687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AM RING-FENCE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6873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73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AM PSR collections cover AM PSR costs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742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W&amp;E RESERVE PROVISION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429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7429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100 MDH provision, 33.3 per month Jul–Sep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76546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798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AVAILABLE AFTER PROVISIONS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798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+73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7986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Overheads paid 47 MMAD (FYI, not deducted)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377440"/>
            <a:ext cx="6035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PSR collections by business unit (MMAD)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65760" y="2651760"/>
          <a:ext cx="6035037" cy="35753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49782"/>
                <a:gridCol w="649927"/>
                <a:gridCol w="649927"/>
                <a:gridCol w="649927"/>
                <a:gridCol w="835620"/>
                <a:gridCol w="742774"/>
                <a:gridCol w="55708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Jul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Aug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19/10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Cumul.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PSR collections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AM ring-fence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−65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−199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W&amp;E reserve provision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Available after provisions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6675120" y="2377440"/>
            <a:ext cx="53035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Cumulative PSR collections by BU, Jul–Oct (MMAD)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6583680" y="2651760"/>
          <a:ext cx="53949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675120" y="6126480"/>
            <a:ext cx="53035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1">
                <a:solidFill>
                  <a:srgbClr val="6B7B8C"/>
                </a:solidFill>
                <a:latin typeface="Arial"/>
              </a:rPr>
              <a:t>AM (gold) is ring-fenced: its PSR collections cover AM PSR costs and are not available to the group.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October Payments – paid, approved and pending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220 MMAD paid to 15/10; 258 MMAD approved (incl. 156 LC maturities) and 64 MMAD pending approval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October cash OUT: actual and committed (MMAD)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1417320"/>
          <a:ext cx="576072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37033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October by business unit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977639"/>
          <a:ext cx="5669280" cy="24734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914400"/>
                <a:gridCol w="914400"/>
                <a:gridCol w="914400"/>
                <a:gridCol w="822960"/>
                <a:gridCol w="73152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Cash IN to date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Paid to 15/10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Ongoing suppliers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Ongoing 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Net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−190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−390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55080" y="114300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Approved supplier invoices – status vs payment tracking 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41732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96 MMAD / 211 approved supplier lines by payment status (approved position excl. LC: 101 MMAD)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263640" y="1691640"/>
          <a:ext cx="566928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355080" y="4069080"/>
          <a:ext cx="5577837" cy="18836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03427"/>
                <a:gridCol w="661777"/>
                <a:gridCol w="850856"/>
                <a:gridCol w="661777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Tracking-log 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Lines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Pending AP (unpaid)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after cut-off, awaiting 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Pending Treasury (unpaid)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per log, not yet in 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Paid, SAP clearing reversed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per log, no date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Cancelled – to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approved supplier payments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95.6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355080" y="6044183"/>
            <a:ext cx="5577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Priority list (02.10):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92 MMAD approved for payment — P1 6 · P2 45 · P3 41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Accounts Payable – supplier payables &amp; LC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Payables incl. LC of 3,055 MMAD (+91 WoW): parked 1,036, 4411 810, downpayments 297, LC 912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PAYABLES INCL. LC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3,055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+91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4876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24876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203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PARKED INVOICES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203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1,036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62036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+128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75433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75433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1259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INVOICES 4411 (OPEN ITEMS)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2593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810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12593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25989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25989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6314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DOWNPAYMENTS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314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63149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76546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76546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1370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LC OPENED (BANK SITUATION)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370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912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3706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2240280"/>
            <a:ext cx="5943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Payables by business unit – this week and Δ WoW (MMAD)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65760" y="2514600"/>
          <a:ext cx="5943598" cy="33467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822960"/>
                <a:gridCol w="731520"/>
                <a:gridCol w="731520"/>
                <a:gridCol w="731520"/>
                <a:gridCol w="777239"/>
                <a:gridCol w="77723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Down-payment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Parked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4411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1,685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+38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1,036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3,055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+91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65760" y="5952744"/>
            <a:ext cx="5943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7A8794"/>
                </a:solidFill>
                <a:latin typeface="Arial"/>
              </a:rPr>
              <a:t>LC = outstanding on opened LCs; parked = invoices parked in SAP pending validation; 4411 = posted supplier open items; downpayments = advance invoices due to suppliers.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224028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Open supplier invoices by due date – AP file Oct W3 (MMAD)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251460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2,144 MMAD of open lines, of which 1,415 MMAD (66%) past due at 21 Oct 2026</a:t>
            </a:r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6492240" y="2743200"/>
          <a:ext cx="548640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6583680" y="498348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By supplier tier (MMAD)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6583680" y="5230368"/>
          <a:ext cx="5394958" cy="8412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90496"/>
                <a:gridCol w="1302231"/>
                <a:gridCol w="1302231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Tier group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National (tiers 1–3)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1,363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International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Other / not tiered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TextBox 41"/>
          <p:cNvSpPr txBox="1"/>
          <p:nvPr/>
        </p:nvSpPr>
        <p:spPr>
          <a:xfrm>
            <a:off x="6583680" y="6108192"/>
            <a:ext cx="5394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 i="1">
                <a:solidFill>
                  <a:srgbClr val="7A8794"/>
                </a:solidFill>
                <a:latin typeface="Arial"/>
              </a:rPr>
              <a:t>Due-date buckets follow the invoice due date; lines without a due date are not bucketed.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Letters of Credit – outstanding &amp; maturities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1,583 MMAD of LC commitments at 19/10: 912 opened, 671 still to be opened; 156 MMAD maturing in October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TOTAL LC COMMITMENTS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1,583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Encours in MMAD, bank LC situation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24876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631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OPENED LCS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631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912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6316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LC reference and opening date exist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5433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6687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 BE OPENED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6873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671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73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Committed, LC not yet issued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742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OCTOBER MATURITIES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429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7429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Counted as approved payments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76546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798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2026 / 2027 MATURITIES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7986" y="1417320"/>
            <a:ext cx="2057948" cy="375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630 / 953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7986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Per monthly schedule; unscheduled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240280"/>
            <a:ext cx="6858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LC maturity schedule by month (MMAD)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274320" y="2514600"/>
          <a:ext cx="694944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65760" y="4846320"/>
            <a:ext cx="6858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65760" y="5102352"/>
          <a:ext cx="6857998" cy="13350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78904"/>
                <a:gridCol w="1127342"/>
                <a:gridCol w="1221287"/>
                <a:gridCol w="1127342"/>
                <a:gridCol w="1503123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 be 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Oct-26 maturity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1,583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7498079" y="2240280"/>
            <a:ext cx="44805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By action status (MMAD)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7406640" y="2514600"/>
          <a:ext cx="45720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F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47548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6000" b="1" i="0">
                <a:solidFill>
                  <a:srgbClr val="C8972B"/>
                </a:solidFill>
                <a:latin typeface="Arial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14600"/>
            <a:ext cx="493776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Business Unit Breakdown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657600"/>
            <a:ext cx="1737360" cy="4572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4937760" cy="1280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9DDEE"/>
                </a:solidFill>
                <a:latin typeface="Arial"/>
              </a:rPr>
              <a:t>Ordered by size of the receivable book; business units below 20 MMAD of AR are summarised on the group slides only.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371600"/>
            <a:ext cx="548640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8972B"/>
                </a:solidFill>
                <a:latin typeface="Arial"/>
              </a:rPr>
              <a:t>TWO PAGES PER BUSINESS UNIT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682496"/>
            <a:ext cx="5394960" cy="6766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•  Position: AR components with week-on-week and month-start comparatives, DSO, unbilled ownership and statuses, unpaid split and phases, aging, payments received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359152"/>
            <a:ext cx="5394960" cy="4754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•  Projects &amp; unrecognized: largest unbilled and unpaid projects, unrecognized supplier scope by status, JESA attachments to client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999232"/>
            <a:ext cx="548640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8972B"/>
                </a:solidFill>
                <a:latin typeface="Arial"/>
              </a:rPr>
              <a:t>BUSINESS UNITS COVERED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310128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•  Water &amp; Env., Fert. &amp; Chem., SP2M, AM, Energy Ops, Global Mining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584448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•  B&amp;I, JESA Tech, Advisory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Water &amp; 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3,325 MMAD (−179 WoW, −206 vs month start); unbilled 78% / unpaid 10% / advance 12% · DSO 331 days (prior 318)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4,836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1,511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3,325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−179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2,583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1,515 · 59%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−45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880 · 34%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+56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172 · 7%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16 · 1%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880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60" name="TextBox 59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2" name="Rectangle 61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275 · 83%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24 · 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32 · 10%</a:t>
            </a:r>
          </a:p>
        </p:txBody>
      </p:sp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65760" y="4590288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3" name="Table 72"/>
          <p:cNvGraphicFramePr>
            <a:graphicFrameLocks noGrp="1"/>
          </p:cNvGraphicFramePr>
          <p:nvPr/>
        </p:nvGraphicFramePr>
        <p:xfrm>
          <a:off x="365760" y="484632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2,611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3,531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3,504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3,325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−179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−206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4" name="TextBox 73"/>
          <p:cNvSpPr txBox="1"/>
          <p:nvPr/>
        </p:nvSpPr>
        <p:spPr>
          <a:xfrm>
            <a:off x="365760" y="621792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1B2F4B"/>
                </a:solidFill>
                <a:latin typeface="Arial"/>
              </a:rPr>
              <a:t>Paid: </a:t>
            </a:r>
            <a:r>
              <a:rPr sz="850" b="0" i="0">
                <a:solidFill>
                  <a:srgbClr val="1F2A37"/>
                </a:solidFill>
                <a:latin typeface="Arial"/>
              </a:rPr>
              <a:t>Oct to 20-Oct 46 MMAD (</a:t>
            </a:r>
            <a:r>
              <a:rPr sz="850" b="1" i="0">
                <a:solidFill>
                  <a:srgbClr val="7A8794"/>
                </a:solidFill>
                <a:latin typeface="Arial"/>
              </a:rPr>
              <a:t>0</a:t>
            </a:r>
            <a:r>
              <a:rPr sz="850" b="0" i="0">
                <a:solidFill>
                  <a:srgbClr val="1F2A37"/>
                </a:solidFill>
                <a:latin typeface="Arial"/>
              </a:rPr>
              <a:t> vs 14-Oct) · Sep 7 · YTD 2,118</a:t>
            </a:r>
          </a:p>
        </p:txBody>
      </p:sp>
      <p:graphicFrame>
        <p:nvGraphicFramePr>
          <p:cNvPr id="75" name="Chart 74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Water &amp; Env.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Water &amp; Environment: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QC.01855.P71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W2E - Decanteurs Lamellaires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144.9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QC.00947.P08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FBS General contractor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104.6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Desalination Wave II Safi EPCM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S2GM_Pipes Safi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QC.01432.S05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Water Emergency Program SAFI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S2G_Pumps Packg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Reliability SAFI - 2 x 10MLD Trai…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56.6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QC.02145.P04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36.0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QC.01872.P41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WaveII Safi mechanical Packa…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QC.00947.P08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FBS General contractor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QC.01432.P25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Water Emergency Program - Pckg IS…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QC.01754.P05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Wave 2 Desalination Plant Jorf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S…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QC.00387.S07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TM - Jorf Gypsum Stacking EPCM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S2GM_Pipes MPH 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1,511 MMAD (−2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(384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Fertilizers &amp; Chemicals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3,219 MMAD (−23 WoW, −15 vs month start); unbilled 79% / unpaid 20% / advance 1% · DSO 376 days (prior 331)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4,601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1,382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2,556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636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1,758 · 69%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+51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514 · 20%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219 · 9%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−48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65 · 3%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595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60" name="TextBox 59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2" name="Rectangle 61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399 · 63%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184 · 29%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53 · 8%</a:t>
            </a:r>
          </a:p>
        </p:txBody>
      </p:sp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65760" y="4590288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3" name="Table 72"/>
          <p:cNvGraphicFramePr>
            <a:graphicFrameLocks noGrp="1"/>
          </p:cNvGraphicFramePr>
          <p:nvPr/>
        </p:nvGraphicFramePr>
        <p:xfrm>
          <a:off x="365760" y="484632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1,385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1,384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1,382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4" name="TextBox 73"/>
          <p:cNvSpPr txBox="1"/>
          <p:nvPr/>
        </p:nvSpPr>
        <p:spPr>
          <a:xfrm>
            <a:off x="365760" y="621792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1B2F4B"/>
                </a:solidFill>
                <a:latin typeface="Arial"/>
              </a:rPr>
              <a:t>Paid: </a:t>
            </a:r>
            <a:r>
              <a:rPr sz="850" b="0" i="0">
                <a:solidFill>
                  <a:srgbClr val="1F2A37"/>
                </a:solidFill>
                <a:latin typeface="Arial"/>
              </a:rPr>
              <a:t>Oct to 20-Oct 13 MMAD (</a:t>
            </a:r>
            <a:r>
              <a:rPr sz="850" b="1" i="0">
                <a:solidFill>
                  <a:srgbClr val="2E7D4F"/>
                </a:solidFill>
                <a:latin typeface="Arial"/>
              </a:rPr>
              <a:t>+13</a:t>
            </a:r>
            <a:r>
              <a:rPr sz="850" b="0" i="0">
                <a:solidFill>
                  <a:srgbClr val="1F2A37"/>
                </a:solidFill>
                <a:latin typeface="Arial"/>
              </a:rPr>
              <a:t> vs 14-Oct) · Sep 88 · YTD 1,502</a:t>
            </a:r>
          </a:p>
        </p:txBody>
      </p:sp>
      <p:graphicFrame>
        <p:nvGraphicFramePr>
          <p:cNvPr id="75" name="Chart 74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Fert. &amp; Chem.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Fertilizers &amp; Chemicals: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Fertilizer-North Axe, New TS…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262.8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QC.01746.P01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Hub Handling and Storage C+F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(JFC1)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91.8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(JFC4)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85.2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(JFC2)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TSP Hub (2 units)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74.3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QC.01683.S06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PPA DESIGN STUDIES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QC.01466.P54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TSP Hub (2 units)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58.4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QC.00029.S06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AHF Project ISBL &amp; OSBL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(JFC4)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QC.01747.P16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Hub OSBL and Piperack cost pl…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59.8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(JFC2)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50.6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QC.00186.S02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DAP 107 D,E,F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QC.01458.S06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Jorf(Define/Design…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QC.01683.P02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Cost + Fee for PAT//PPA/MA…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QC.01873.S05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CAP Lines (2 Units) JLS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1,382 MMAD (−2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(389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SP2M Ad Hoc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3,236 MMAD (0 WoW, −92 vs month start); unbilled 84% / unpaid 14% / advance 2% · DSO 294 days (prior 268)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6,507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−314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2,720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2,396 · 88%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 · 0%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303 · 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21 · 1%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1,576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submis…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SS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60" name="TextBox 59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2" name="Rectangle 61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56 · 13%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388 · 87%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 · 0%</a:t>
            </a:r>
          </a:p>
        </p:txBody>
      </p:sp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8503920" y="4251960"/>
          <a:ext cx="3520440" cy="193852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65760" y="4590288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3" name="Table 72"/>
          <p:cNvGraphicFramePr>
            <a:graphicFrameLocks noGrp="1"/>
          </p:cNvGraphicFramePr>
          <p:nvPr/>
        </p:nvGraphicFramePr>
        <p:xfrm>
          <a:off x="365760" y="484632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2,812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3,328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3,585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3,269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3,271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−314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4" name="TextBox 73"/>
          <p:cNvSpPr txBox="1"/>
          <p:nvPr/>
        </p:nvSpPr>
        <p:spPr>
          <a:xfrm>
            <a:off x="365760" y="621792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1B2F4B"/>
                </a:solidFill>
                <a:latin typeface="Arial"/>
              </a:rPr>
              <a:t>Paid: </a:t>
            </a:r>
            <a:r>
              <a:rPr sz="850" b="0" i="0">
                <a:solidFill>
                  <a:srgbClr val="1F2A37"/>
                </a:solidFill>
                <a:latin typeface="Arial"/>
              </a:rPr>
              <a:t>Oct to 20-Oct 0 MMAD (</a:t>
            </a:r>
            <a:r>
              <a:rPr sz="850" b="1" i="0">
                <a:solidFill>
                  <a:srgbClr val="7A8794"/>
                </a:solidFill>
                <a:latin typeface="Arial"/>
              </a:rPr>
              <a:t>0</a:t>
            </a:r>
            <a:r>
              <a:rPr sz="850" b="0" i="0">
                <a:solidFill>
                  <a:srgbClr val="1F2A37"/>
                </a:solidFill>
                <a:latin typeface="Arial"/>
              </a:rPr>
              <a:t> vs 14-Oct) · Sep 319 · YTD 1,205</a:t>
            </a:r>
          </a:p>
        </p:txBody>
      </p:sp>
      <p:graphicFrame>
        <p:nvGraphicFramePr>
          <p:cNvPr id="75" name="Chart 74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SP2M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SP2M Ad Hoc Program: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OSBL- Civil Works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177.1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QC.01717.S02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Safi Existing Site and ES-SPH Cor…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123.6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OSBL - Overseas Fabrication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QC.01725.P03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Louta Mine TSM package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118.3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Axis-PAP-Civil Works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109.5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PAP_Construction &amp; Commssion…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99.2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QC.01547.P35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SP2M_PAP_Cooling Tower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QC.01627.S03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PSA Platforms - Phases 5&amp;6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QC.01721.P03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EPC package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201.5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QC.01514.P01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GRANULATION (TSP)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79.7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piperack &amp; Infrast…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QC.01724.P06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BME TSM Package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-SP2M -P1 Vacuum Pump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QC.01544.P01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Benguerir extentio…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QC.01725.P06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Louta Mine  Storage &amp; Handling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QC.01627.P88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SPH PSA Platforming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3,271 MMAD (+2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(222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893 MMAD (−83 WoW, −127 vs month start); unbilled 71% / unpaid 29% / advance 0% · DSO 134 days (prior 135)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−78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132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893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−127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−54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−73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699 · 111%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−68 · -11%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 · 0%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-24%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PDR PDR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8" name="Chart 57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Rectangle 58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103 · 39%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158 · 61%</a:t>
            </a:r>
          </a:p>
        </p:txBody>
      </p:sp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590288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365760" y="484632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686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−54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1,020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976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8" name="TextBox 67"/>
          <p:cNvSpPr txBox="1"/>
          <p:nvPr/>
        </p:nvSpPr>
        <p:spPr>
          <a:xfrm>
            <a:off x="365760" y="621792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1B2F4B"/>
                </a:solidFill>
                <a:latin typeface="Arial"/>
              </a:rPr>
              <a:t>Paid: </a:t>
            </a:r>
            <a:r>
              <a:rPr sz="850" b="0" i="0">
                <a:solidFill>
                  <a:srgbClr val="1F2A37"/>
                </a:solidFill>
                <a:latin typeface="Arial"/>
              </a:rPr>
              <a:t>Oct to 20-Oct 149 MMAD (</a:t>
            </a:r>
            <a:r>
              <a:rPr sz="850" b="1" i="0">
                <a:solidFill>
                  <a:srgbClr val="2E7D4F"/>
                </a:solidFill>
                <a:latin typeface="Arial"/>
              </a:rPr>
              <a:t>+7</a:t>
            </a:r>
            <a:r>
              <a:rPr sz="850" b="0" i="0">
                <a:solidFill>
                  <a:srgbClr val="1F2A37"/>
                </a:solidFill>
                <a:latin typeface="Arial"/>
              </a:rPr>
              <a:t> vs 14-Oct) · Sep 176 · YTD 1,918</a:t>
            </a:r>
          </a:p>
        </p:txBody>
      </p:sp>
      <p:graphicFrame>
        <p:nvGraphicFramePr>
          <p:cNvPr id="69" name="Chart 68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AM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AM: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QC.00441.P08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JFC2 Maintenance Acclerate Projec…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Rehabilitation and shutdown activ…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QC.02045.P01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Portfolio Support C+F3 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QC.02091.P07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Réhabilitation du convoyeur UA et…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QC.01520.P01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Ammonia transfer from U155 to U07…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QC.01160.P17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JLN TSP2 : SUBS CFR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QC.02065.S01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Mining 5.0 - Fixed Asset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 1 MEE Y4 C+F CAPEX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QC.02091.P06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Inflatable hangars JPH Lot 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QC.02187.P02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Bloc 9 Plant CAPEX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JFC1 Maintenance Excellence Execu…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13.9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QC.02086.P05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Alimentation Repulpage Flexible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13.0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QC.01536.P11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107 DEF - Amelioratins Et Perform…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QC.01847.P06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CAPEX for Jorf lasfar water facil…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QC.01409.P02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Rénovation Bâtiment Travaux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QC.01847.P04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Lasfar Water Facilities MEE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132 MMAD (+5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(125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Energy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500 MMAD (+2 WoW, 0 vs month start); unbilled 73% / unpaid 19% / advance 8% · DSO 190 days (prior 174)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862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362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321 · 88%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37 · 10%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8 · 2%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SS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8" name="Chart 57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Rectangle 58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84 · 90%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 · 10%</a:t>
            </a:r>
          </a:p>
        </p:txBody>
      </p:sp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590288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365760" y="484632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8" name="TextBox 67"/>
          <p:cNvSpPr txBox="1"/>
          <p:nvPr/>
        </p:nvSpPr>
        <p:spPr>
          <a:xfrm>
            <a:off x="365760" y="621792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1B2F4B"/>
                </a:solidFill>
                <a:latin typeface="Arial"/>
              </a:rPr>
              <a:t>Paid: </a:t>
            </a:r>
            <a:r>
              <a:rPr sz="850" b="0" i="0">
                <a:solidFill>
                  <a:srgbClr val="1F2A37"/>
                </a:solidFill>
                <a:latin typeface="Arial"/>
              </a:rPr>
              <a:t>Oct to 20-Oct 4 MMAD (</a:t>
            </a:r>
            <a:r>
              <a:rPr sz="850" b="1" i="0">
                <a:solidFill>
                  <a:srgbClr val="7A8794"/>
                </a:solidFill>
                <a:latin typeface="Arial"/>
              </a:rPr>
              <a:t>0</a:t>
            </a:r>
            <a:r>
              <a:rPr sz="850" b="0" i="0">
                <a:solidFill>
                  <a:srgbClr val="1F2A37"/>
                </a:solidFill>
                <a:latin typeface="Arial"/>
              </a:rPr>
              <a:t> vs 14-Oct) · Sep 46 · YTD 472 · non-OCP Oct 3</a:t>
            </a:r>
          </a:p>
        </p:txBody>
      </p:sp>
      <p:graphicFrame>
        <p:nvGraphicFramePr>
          <p:cNvPr id="69" name="Chart 68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Energy Ops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Energy Operations: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Construction of a 60/10 kV substa…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QC.01694.P02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Electrical project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QC.01523.S03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platform Electrical 400/60KV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Construction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QC.01727.S01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MPH- Power Plant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QC.01694.S01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Electrical project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QC.00464.S04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Power Plant U220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HV/MV Substations (PSA/SPH PL…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QC.01788.S02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JH2P - Green Ammonia Plant 100KT/Y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PIPELINE SUBSTATIONS 60/10 KV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Transmission LINE 60KV BOUGU…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QC.00385.S05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GAPP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QC.01757.S03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Mines Solar PV Phase 2 constructi…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MCA SENEGAL II POWER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QC.00385.S06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Green Ammonia Pilot Plant 4T/D -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QC.00926.P03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Electrical Projects Phase 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362 MMAD (0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(362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Global Mining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551 MMAD (0 WoW, −6 vs month start); unbilled 76% / unpaid 24% / advance 0% · DSO 252 days (prior 216)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273 · 65%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32 · 8%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116 · 27%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SS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8" name="Chart 57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Rectangle 58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106 · 81%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7 · 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18 · 14%</a:t>
            </a:r>
          </a:p>
        </p:txBody>
      </p:sp>
      <p:graphicFrame>
        <p:nvGraphicFramePr>
          <p:cNvPr id="68" name="Chart 67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9" name="TextBox 68"/>
          <p:cNvSpPr txBox="1"/>
          <p:nvPr/>
        </p:nvSpPr>
        <p:spPr>
          <a:xfrm>
            <a:off x="365760" y="4590288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484632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−65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621792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1B2F4B"/>
                </a:solidFill>
                <a:latin typeface="Arial"/>
              </a:rPr>
              <a:t>Paid: </a:t>
            </a:r>
            <a:r>
              <a:rPr sz="850" b="0" i="0">
                <a:solidFill>
                  <a:srgbClr val="1F2A37"/>
                </a:solidFill>
                <a:latin typeface="Arial"/>
              </a:rPr>
              <a:t>Oct to 20-Oct 8 MMAD (</a:t>
            </a:r>
            <a:r>
              <a:rPr sz="850" b="1" i="0">
                <a:solidFill>
                  <a:srgbClr val="7A8794"/>
                </a:solidFill>
                <a:latin typeface="Arial"/>
              </a:rPr>
              <a:t>0</a:t>
            </a:r>
            <a:r>
              <a:rPr sz="850" b="0" i="0">
                <a:solidFill>
                  <a:srgbClr val="1F2A37"/>
                </a:solidFill>
                <a:latin typeface="Arial"/>
              </a:rPr>
              <a:t> vs 14-Oct) · Sep 56 · YTD 438 · non-OCP Oct 8</a:t>
            </a:r>
          </a:p>
        </p:txBody>
      </p:sp>
      <p:graphicFrame>
        <p:nvGraphicFramePr>
          <p:cNvPr id="72" name="Chart 71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Global Mining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Global Mining: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- Phase 1 of Phosphate 3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QC.00365.P01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system upgrade in 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QC.01921.S02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Comple…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 PLANT EPCM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QC.01429.P02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system upgrade_GANT…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QC.01764.S02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Construction Casern…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QC.01988.S01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Boucraa Mine Expansion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QC.01751.S04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PEZCN Washplant_Feasability &amp; Con…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QC.01921.S02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Comple…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46.6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- Phase 1 of Phosphate 3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QC.00475.P17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WASHPLANT CF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QC.01663.P01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Tailings dewatering by Centrifuga…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QC.00475.P12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WASHPLANT CF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QC.01764.P02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Construction 3 casernes Cost+Fee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QC.02036.S01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FDM Digital Plant - JESA / WORLEY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QC.02293.S02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MAADEN CAPITAL GROWTH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160 MMAD (−43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(51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Building &amp;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489 MMAD (+3 WoW, +2 vs month start); unbilled 30% / unpaid 70% / advance 0% · DSO 462 days (prior 415)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489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147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110 · 75%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36 · 25%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C-3.a Pending DP payment / clearing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J-1.b Pending attachments JESA PA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C-2.a Waiting OCP VAT exemption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5" name="Chart 54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6" name="Rectangle 55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331 · 97%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11 · 3%</a:t>
            </a:r>
          </a:p>
        </p:txBody>
      </p:sp>
      <p:graphicFrame>
        <p:nvGraphicFramePr>
          <p:cNvPr id="62" name="Chart 61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3" name="TextBox 62"/>
          <p:cNvSpPr txBox="1"/>
          <p:nvPr/>
        </p:nvSpPr>
        <p:spPr>
          <a:xfrm>
            <a:off x="365760" y="4590288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484632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621792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1B2F4B"/>
                </a:solidFill>
                <a:latin typeface="Arial"/>
              </a:rPr>
              <a:t>Paid: </a:t>
            </a:r>
            <a:r>
              <a:rPr sz="850" b="0" i="0">
                <a:solidFill>
                  <a:srgbClr val="1F2A37"/>
                </a:solidFill>
                <a:latin typeface="Arial"/>
              </a:rPr>
              <a:t>Oct to 20-Oct 1 MMAD (</a:t>
            </a:r>
            <a:r>
              <a:rPr sz="850" b="1" i="0">
                <a:solidFill>
                  <a:srgbClr val="7A8794"/>
                </a:solidFill>
                <a:latin typeface="Arial"/>
              </a:rPr>
              <a:t>0</a:t>
            </a:r>
            <a:r>
              <a:rPr sz="850" b="0" i="0">
                <a:solidFill>
                  <a:srgbClr val="1F2A37"/>
                </a:solidFill>
                <a:latin typeface="Arial"/>
              </a:rPr>
              <a:t> vs 14-Oct) · Sep 9 · YTD 123 · non-OCP Oct 1</a:t>
            </a:r>
          </a:p>
        </p:txBody>
      </p:sp>
      <p:graphicFrame>
        <p:nvGraphicFramePr>
          <p:cNvPr id="66" name="Chart 65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B&amp;I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Building &amp; Infrastructure: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QC.01726.S01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PORT SAFI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QC.00673.S04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V01 FOR LAAYOUNE PORT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QC.00706.S03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GANTOUR Benguerir Youssoufia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QC.01782.S02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Amenagement Mine Verte_Zone Nord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QC.00708.S02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KHOURIBGA REVISION 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QC.01951.S03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EXTESNION QUAI P1-TER PORT JO…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QC.01368.S01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PORT CASA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QC.00705.S02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Jorf REV 08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QC.01602.S01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UM6P RABAT PMC PHASE 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67.9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QC.02059.S01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PST 2 Benguerir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QC.01602.S03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Nouveaux  Bâtiments UM6P RABAT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39.4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Green City University Campus Beng…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QC.02103.S01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Campus UM6P Laayoune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QC.01860.S02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Hotel RITZ Carlton Phase II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QC.00673.S04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V01 FOR LAAYOUNE PORT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QC.01813.S02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Extension CFMDV Benguerir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58 MMAD (0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(50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JESA Technologies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107 MMAD (−8 WoW, −8 vs month start); unbilled 7% / unpaid 93% / advance 0% · DSO 95 days (prior 107)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5 · 67%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 · 33%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J-1.f Pending LC by PC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-43%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J-1.d Under JESA finance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-16%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5" name="Chart 54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6" name="Rectangle 55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94 · 94%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 · 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4 · 4%</a:t>
            </a:r>
          </a:p>
        </p:txBody>
      </p:sp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590288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365760" y="484632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8" name="TextBox 67"/>
          <p:cNvSpPr txBox="1"/>
          <p:nvPr/>
        </p:nvSpPr>
        <p:spPr>
          <a:xfrm>
            <a:off x="365760" y="621792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1B2F4B"/>
                </a:solidFill>
                <a:latin typeface="Arial"/>
              </a:rPr>
              <a:t>Paid: </a:t>
            </a:r>
            <a:r>
              <a:rPr sz="850" b="0" i="0">
                <a:solidFill>
                  <a:srgbClr val="1F2A37"/>
                </a:solidFill>
                <a:latin typeface="Arial"/>
              </a:rPr>
              <a:t>Oct to 20-Oct 11 MMAD (</a:t>
            </a:r>
            <a:r>
              <a:rPr sz="850" b="1" i="0">
                <a:solidFill>
                  <a:srgbClr val="2E7D4F"/>
                </a:solidFill>
                <a:latin typeface="Arial"/>
              </a:rPr>
              <a:t>+5</a:t>
            </a:r>
            <a:r>
              <a:rPr sz="850" b="0" i="0">
                <a:solidFill>
                  <a:srgbClr val="1F2A37"/>
                </a:solidFill>
                <a:latin typeface="Arial"/>
              </a:rPr>
              <a:t> vs 14-Oct) · Sep 21 · YTD 236 · non-OCP Oct 8</a:t>
            </a:r>
          </a:p>
        </p:txBody>
      </p:sp>
      <p:graphicFrame>
        <p:nvGraphicFramePr>
          <p:cNvPr id="69" name="Chart 68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JESA Tech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JESA Technologies: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QC.01188.S05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Bench Scale Testing for Cadmium 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QC.01661.S03.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Ma’aden Phosphate 3 Project Phase…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J-1.f Pending LC by PC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QC.01969.S01.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OCP TSP+S Pilot Plant Testing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QC.00483.P02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Line F OSBL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QC.00923.S06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Fox River Variability Testing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QC.00186.P02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DAP 107 D,E,F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QC.02301.S02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Granulation Plant Ph3 Ph2…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QC.02232.S01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P2 Capacity Increase Audit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QC.01547.P17.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 M'zinda Central Axis-C5 Rea…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 M'zinda Central Axis-C5 Rea…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QC.02301.S01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Granulation Plant Ph3 Ph2…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QC.01188.S06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Cd Removal TDP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QC.01756.S02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L&amp;T Proprietary Equipment &amp; Licen…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QC.01970.S02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JTFC DH PAP TDP and PP Testing -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QC.01426.S07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North Complex 107 A/B/C Adap…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QC.01238.S07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Nutrien 2026 Core Washing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252 MMAD (0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Advisory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70 MMAD (−3 WoW, −3 vs month start); unbilled 60% / unpaid 40% / advance 0% · DSO 192 days (prior 203)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28 · 67%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14 · 33%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4572000" y="2560320"/>
          <a:ext cx="3840479" cy="15270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5" name="Chart 54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6" name="Rectangle 55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20 · 71%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8 · 29%</a:t>
            </a:r>
          </a:p>
        </p:txBody>
      </p:sp>
      <p:graphicFrame>
        <p:nvGraphicFramePr>
          <p:cNvPr id="62" name="Chart 61"/>
          <p:cNvGraphicFramePr>
            <a:graphicFrameLocks noGrp="1"/>
          </p:cNvGraphicFramePr>
          <p:nvPr/>
        </p:nvGraphicFramePr>
        <p:xfrm>
          <a:off x="8503920" y="4251960"/>
          <a:ext cx="3520440" cy="193852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3" name="TextBox 62"/>
          <p:cNvSpPr txBox="1"/>
          <p:nvPr/>
        </p:nvSpPr>
        <p:spPr>
          <a:xfrm>
            <a:off x="365760" y="4590288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484632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621792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1B2F4B"/>
                </a:solidFill>
                <a:latin typeface="Arial"/>
              </a:rPr>
              <a:t>Paid: </a:t>
            </a:r>
            <a:r>
              <a:rPr sz="850" b="0" i="0">
                <a:solidFill>
                  <a:srgbClr val="1F2A37"/>
                </a:solidFill>
                <a:latin typeface="Arial"/>
              </a:rPr>
              <a:t>Oct to 20-Oct 11 MMAD (</a:t>
            </a:r>
            <a:r>
              <a:rPr sz="850" b="1" i="0">
                <a:solidFill>
                  <a:srgbClr val="7A8794"/>
                </a:solidFill>
                <a:latin typeface="Arial"/>
              </a:rPr>
              <a:t>0</a:t>
            </a:r>
            <a:r>
              <a:rPr sz="850" b="0" i="0">
                <a:solidFill>
                  <a:srgbClr val="1F2A37"/>
                </a:solidFill>
                <a:latin typeface="Arial"/>
              </a:rPr>
              <a:t> vs 14-Oct) · Sep 15 · YTD 68</a:t>
            </a:r>
          </a:p>
        </p:txBody>
      </p:sp>
      <p:graphicFrame>
        <p:nvGraphicFramePr>
          <p:cNvPr id="66" name="Chart 65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Advisory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Advisory: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QC.02149.S01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Performance Management and Steeri…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QC.02267.S01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Entité Integrat Mines SBU…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QC.02254.S01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to Nutricrops' Strategy F…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QC.02347.S01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OCP Energy Task Force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QC.02242.S01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Structuration Entité Qual…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QC.02151.S01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S2PM Supply Chain and Strategic D…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QC.02225.S01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Execution strategy &amp; operating mo…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QC.02266.S01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Financing Strat of Integrated Ind…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QC.02155.S01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Operations Supply Chain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QC.02270.S02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 TO Wave 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QC.02177.S01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Nutricrops Operations Office Tran…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Nutricrops' Strat. Op - P…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QC.02250.S02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Sell-Side Advisory Assist. &amp; PMO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QC.02243.S01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Etude Opp. Dev Ingénierie Guinée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QC.01816.S03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Suite Accompagnement Management 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QC.02258.S01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Phosphate &amp; Fertilizers St…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931920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7B8C"/>
                </a:solidFill>
                <a:latin typeface="Arial"/>
              </a:rPr>
              <a:t>No unrecognized supplier scope reported for this business unit.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F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47548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6000" b="1" i="0">
                <a:solidFill>
                  <a:srgbClr val="C8972B"/>
                </a:solidFill>
                <a:latin typeface="Arial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14600"/>
            <a:ext cx="493776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Backup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657600"/>
            <a:ext cx="1737360" cy="4572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4937760" cy="1280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9DDEE"/>
                </a:solidFill>
                <a:latin typeface="Arial"/>
              </a:rPr>
              <a:t>Supporting detail for the main sections, in the same order as the agenda.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371600"/>
            <a:ext cx="548640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8972B"/>
                </a:solidFill>
                <a:latin typeface="Arial"/>
              </a:rPr>
              <a:t>ACCOUNTS RECEIVABLE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682496"/>
            <a:ext cx="5394960" cy="4754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•  AR movement – week on week and vs baseline (components, aging, by business unit)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57984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•  AR position by business unit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432304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•  Unbilled &amp; unpaid status 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871216"/>
            <a:ext cx="548640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8972B"/>
                </a:solidFill>
                <a:latin typeface="Arial"/>
              </a:rPr>
              <a:t>CASH POSITION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182112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•  PSR (labor) collections by business unit and provisions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456432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•  October payments – paid, approved and pending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895344"/>
            <a:ext cx="548640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8972B"/>
                </a:solidFill>
                <a:latin typeface="Arial"/>
              </a:rPr>
              <a:t>PAYABLES &amp; LETTERS OF CREDIT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20624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•  LC detail by letter of credit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480559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•  Supplier payables detail (tiers, top suppliers)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4919471"/>
            <a:ext cx="548640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8972B"/>
                </a:solidFill>
                <a:latin typeface="Arial"/>
              </a:rPr>
              <a:t>REFERENCE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5230367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•  Sources &amp; definitions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Backup – Letters of Credit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Largest LC lines by outstanding amount (bank LC situation 19/10, 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7" cy="47183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13854"/>
                <a:gridCol w="2488552"/>
                <a:gridCol w="1382529"/>
                <a:gridCol w="875601"/>
                <a:gridCol w="460843"/>
                <a:gridCol w="783433"/>
                <a:gridCol w="645180"/>
                <a:gridCol w="645180"/>
                <a:gridCol w="645180"/>
                <a:gridCol w="2626805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LC reference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Expiry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Ccy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Outstanding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Action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SP2M-LBE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24-month rescheduling to finalise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SP2M-BBE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24-month rescheduling to finalise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SP2M-OSBL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TAKRAF INDIA PRIVATE LIMITED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ILC00155371/0200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30-Jan-27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HOWDEN TURBO GMBH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ILC26A001942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14-Dec-26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163.9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LC copy from buyer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THERMAL SYSTEMS (HYDERABAD)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ILC00156200/0200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10-Oct-26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110.7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ALFA LAVAL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THERMAL SYSTEMS (HYDERABAD)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ILC00156199/0200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10-Sep-26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99.7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ILC00156325/0200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30-Nov-26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76.5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JESA response (suspension)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MILTON ROY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ILC00155203/0200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60.1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WEIR MINERALS US INC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52.5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 (BBE)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ILC00156422/0200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20-Aug-26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52.4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 (Louta)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ILC00156423/0200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20-Aug-26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45.6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Remaining payment pushed to 2027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XI'AN LONGI HYDROGEN TECHNOLOGY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ILC00154077/0200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Remaining payment pushed to 2027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GRAPHITE INDIA LIMITED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TF2602316335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20-Jul-26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draft LC (procurement)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HASLER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23.1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MILTON ROY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WEIR MINERALS US INC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TF2530996775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21-Feb-26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17.8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SP2M-Corridor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PGP Energies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Signed WO from client needed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Backup – Accounts Payable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Open supplier invoices by BU and origin, and top suppliers (AP file Oct W3, 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business unit and origin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417320"/>
          <a:ext cx="5486395" cy="2651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28996"/>
                <a:gridCol w="809468"/>
                <a:gridCol w="809468"/>
                <a:gridCol w="899409"/>
                <a:gridCol w="809468"/>
                <a:gridCol w="629586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4411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Parked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Downpayment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Lines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1,036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2,144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2,803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15 suppliers by open payables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1417320"/>
          <a:ext cx="5669280" cy="3840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330"/>
                <a:gridCol w="2657475"/>
                <a:gridCol w="1240155"/>
                <a:gridCol w="708660"/>
                <a:gridCol w="70866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of AP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SOGEA MAROC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132.4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6.2%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MMSE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128.3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6.0%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CEGELEC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114.3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5.3%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HAZEMAG Systems GmbH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89.2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4.2%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ATNER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81.3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AUSTRUCT INDUSTRIES PTY 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79.6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MMSA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72.8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Tianjin Cement Industry Design &amp;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JIAOZUO CREATION HEAVY INDUSTRY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65.9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BUTEC ENERGIES &amp; SERVICES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SAFARELEC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49.0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EM ENERGIE MAROC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48.1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GRAPHITE INDIA LIMITED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MILTON ROY EUROPE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PROMINOX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274320" y="4288536"/>
          <a:ext cx="5669280" cy="21122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Sources &amp; definitions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Where each figure comes from and how it is defined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40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43000"/>
          <a:ext cx="11430000" cy="25968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120640"/>
                <a:gridCol w="3291840"/>
                <a:gridCol w="301752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Figures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As of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Accounts receivable (advance, unbilled, unpaid), statuses, aging, non-OCP, JESA responsibility, collections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AR extract of the week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 Oct 2026; previous week 14 Oct 2026; month start 07 Oct 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Unrecognized revenue by business unit and status, supplier PO book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UR tracking consolidation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 Oct 2026; previous week and month start from the earlier reviews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DSO excluding advances, group and by business unit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BU meeting report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October 2026 (prior month: September)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Cash position, October paid / approved / pending payments, priority list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Cash flow analysis by business unit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15 Oct 2026; collections to 19/10, payments to 15/10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Supplier payables by business unit, due date, tier and supplier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Supplier invoice extract (4411, parked, downpayments)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AP extract Oct W3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Letters of credit: outstanding, maturity schedule, action status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Bank LC situation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LC situation 19/10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794760"/>
            <a:ext cx="11430000" cy="2651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Total AR: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advance payments + unbilled + unpaid, amounts HT in MMAD.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Unbilled: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delivered scope not yet invoiced, excluding unearned amounts on lump-sum contracts; split by ownership of the next action (client / OCP, JESA, service sheets postponed, at risk).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Unpaid: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invoiced, not yet collected; split current / past due / rejected and by OCP processing phase.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Unrecognized revenue: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supplier and equipment scope executed but not yet booked as AR, including the 6% JESA cost + fee.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Gross exposure: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total AR + unrecognized revenue.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Week on week / vs month start: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position at 20-Oct compared with 14-Oct and with the first AR position of the month (07-Oct).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Payments received: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invoices paid by payment date, on the amount-invoiced basis used in the BU meeting report.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Cash position: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procurement (non-labor) cash in and out for the JESA Group including AM; PSR (labor) collections shown net of the AM ring-fence and the Water &amp; Environment reserve.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DSO: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days sales outstanding excluding advances, as reported in the BU meeting report.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